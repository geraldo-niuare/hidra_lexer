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173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 o projecto: Analisador Léxico da linguagem Hidra, com jFlex.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Secção: Introdução ao projecto Hidra e ao que é um analisador léxico.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o que é um analisador léxico. Usa a analogia do supermercado para o público leigo.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Secção: O jFlex e o ficheiro hidra.flex.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o jFlex: compara manual vs automático e mostra o fluxo de 5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4 secções do hidra.flex. Secção 1: package. Secção 2: opções. Secção 3: padrões/macros. Secção 4: regras padrão→token.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Secção: Os tokens reconhecidos pela linguagem Hidra.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de palavras reservadas com mapeamento Hidra→Java. Implementada como HashMap na TabelaPalavrasReservadas.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Operadores (20 símbolos), delimitadores (11 símbolos), literais e identificadores com padrões regex.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Secção: as duas tabelas HashMap — TabelaPalavrasReservadas e TabelaSimbolos.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TabelaPalavrasReservadas como HashMap. Algoritmo de 4 passos. Extracto do mapeamento Hidra→Java.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TabelaSimbolos como HashMap. Cresce durante a análise. Cada nova variável é inserida com o nome e número de linha da primeira ocorrência.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Secção: Demonstração do projecto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comandos para compilar e correr o AnaLex no Windows. Explicar cada um ao público.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 o output ao vivo: código hidra à esquerda, tokens produzidos à direita. Aponta para as 3 colunas (Linha, Token, Atributo). Destaca 0 erros léxicos.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Secção de conclusão.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Conclusão do projecto. Resume os resultados e prepara para a fase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final. Agradecer a atenção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37160"/>
            <a:ext cx="640080" cy="89611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 rot="5400000">
            <a:off x="256032" y="1417320"/>
            <a:ext cx="204826" cy="292608"/>
          </a:xfrm>
          <a:prstGeom prst="rtTriangle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5" name="Text 22"/>
          <p:cNvSpPr/>
          <p:nvPr/>
        </p:nvSpPr>
        <p:spPr>
          <a:xfrm>
            <a:off x="640080" y="13258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8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ANALISADOR</a:t>
            </a:r>
            <a:endParaRPr lang="pt-PT" sz="2800" noProof="0" dirty="0"/>
          </a:p>
        </p:txBody>
      </p:sp>
      <p:sp>
        <p:nvSpPr>
          <p:cNvPr id="26" name="Text 23"/>
          <p:cNvSpPr/>
          <p:nvPr/>
        </p:nvSpPr>
        <p:spPr>
          <a:xfrm>
            <a:off x="640080" y="176479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8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LÉXICO — HIDRA</a:t>
            </a:r>
            <a:endParaRPr lang="pt-PT" sz="2800" noProof="0" dirty="0"/>
          </a:p>
        </p:txBody>
      </p:sp>
      <p:sp>
        <p:nvSpPr>
          <p:cNvPr id="27" name="Shape 24"/>
          <p:cNvSpPr/>
          <p:nvPr/>
        </p:nvSpPr>
        <p:spPr>
          <a:xfrm>
            <a:off x="256032" y="2331720"/>
            <a:ext cx="5303520" cy="0"/>
          </a:xfrm>
          <a:prstGeom prst="line">
            <a:avLst/>
          </a:prstGeom>
          <a:noFill/>
          <a:ln w="1905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8" name="Text 25"/>
          <p:cNvSpPr/>
          <p:nvPr/>
        </p:nvSpPr>
        <p:spPr>
          <a:xfrm>
            <a:off x="256032" y="2487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DISCENTES:</a:t>
            </a:r>
            <a:endParaRPr lang="pt-PT" sz="1000" noProof="0" dirty="0"/>
          </a:p>
        </p:txBody>
      </p:sp>
      <p:sp>
        <p:nvSpPr>
          <p:cNvPr id="29" name="Text 26"/>
          <p:cNvSpPr/>
          <p:nvPr/>
        </p:nvSpPr>
        <p:spPr>
          <a:xfrm>
            <a:off x="228600" y="2866644"/>
            <a:ext cx="3218688" cy="1216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Boa, </a:t>
            </a:r>
            <a:r>
              <a:rPr lang="pt-PT" sz="130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Valter</a:t>
            </a:r>
            <a:endParaRPr lang="pt-PT" sz="1300" noProof="0" dirty="0"/>
          </a:p>
          <a:p>
            <a:pPr marL="0" indent="0">
              <a:buNone/>
            </a:pPr>
            <a:r>
              <a:rPr lang="pt-PT" sz="1300" noProof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Buque, Nicolau</a:t>
            </a:r>
          </a:p>
          <a:p>
            <a:pPr marL="0" indent="0">
              <a:buNone/>
            </a:pPr>
            <a:r>
              <a:rPr lang="pt-PT" sz="1300" noProof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Da Fonseca, </a:t>
            </a:r>
            <a:r>
              <a:rPr lang="pt-PT" sz="1300" noProof="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Clifton</a:t>
            </a:r>
            <a:endParaRPr lang="pt-PT" sz="1300" noProof="0" dirty="0"/>
          </a:p>
          <a:p>
            <a:pPr marL="0" indent="0">
              <a:buNone/>
            </a:pPr>
            <a:r>
              <a:rPr lang="pt-PT" sz="1300" noProof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Firme, </a:t>
            </a:r>
            <a:r>
              <a:rPr lang="pt-PT" sz="1300" noProof="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Alfoi</a:t>
            </a:r>
            <a:endParaRPr lang="pt-PT" sz="1300" noProof="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pt-PT" sz="1300" noProof="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Macuacua</a:t>
            </a:r>
            <a:r>
              <a:rPr lang="pt-PT" sz="1300" noProof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pt-PT" sz="1300" noProof="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Le</a:t>
            </a:r>
            <a:r>
              <a:rPr lang="pt-PT" sz="130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onel</a:t>
            </a:r>
            <a:endParaRPr lang="pt-PT" sz="130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pt-PT" sz="130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Niuare</a:t>
            </a:r>
            <a:r>
              <a:rPr lang="pt-PT" sz="13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, Geraldo Lino</a:t>
            </a:r>
          </a:p>
          <a:p>
            <a:pPr marL="0" indent="0">
              <a:buNone/>
            </a:pPr>
            <a:endParaRPr lang="pt-PT" sz="95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pt-PT" sz="950" noProof="0" dirty="0"/>
          </a:p>
        </p:txBody>
      </p:sp>
      <p:sp>
        <p:nvSpPr>
          <p:cNvPr id="30" name="Text 27"/>
          <p:cNvSpPr/>
          <p:nvPr/>
        </p:nvSpPr>
        <p:spPr>
          <a:xfrm>
            <a:off x="3474720" y="2487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</a:t>
            </a:r>
            <a:endParaRPr lang="pt-PT" sz="1000" noProof="0" dirty="0"/>
          </a:p>
        </p:txBody>
      </p:sp>
      <p:sp>
        <p:nvSpPr>
          <p:cNvPr id="31" name="Text 28"/>
          <p:cNvSpPr/>
          <p:nvPr/>
        </p:nvSpPr>
        <p:spPr>
          <a:xfrm>
            <a:off x="347472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Maculuve</a:t>
            </a:r>
            <a:r>
              <a:rPr lang="pt-PT" sz="13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pt-PT" sz="130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Cristiliano</a:t>
            </a:r>
            <a:endParaRPr lang="pt-PT" sz="1300" noProof="0" dirty="0"/>
          </a:p>
        </p:txBody>
      </p:sp>
      <p:sp>
        <p:nvSpPr>
          <p:cNvPr id="32" name="Shape 29"/>
          <p:cNvSpPr/>
          <p:nvPr/>
        </p:nvSpPr>
        <p:spPr>
          <a:xfrm>
            <a:off x="6263640" y="731520"/>
            <a:ext cx="0" cy="3840480"/>
          </a:xfrm>
          <a:prstGeom prst="line">
            <a:avLst/>
          </a:prstGeom>
          <a:noFill/>
          <a:ln w="12700">
            <a:solidFill>
              <a:srgbClr val="00CAD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3" name="Text 30"/>
          <p:cNvSpPr/>
          <p:nvPr/>
        </p:nvSpPr>
        <p:spPr>
          <a:xfrm>
            <a:off x="640080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i="1" noProof="0" dirty="0">
                <a:solidFill>
                  <a:srgbClr val="AF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COMPILADORES</a:t>
            </a:r>
            <a:endParaRPr lang="pt-PT" sz="1300" noProof="0" dirty="0"/>
          </a:p>
        </p:txBody>
      </p:sp>
      <p:sp>
        <p:nvSpPr>
          <p:cNvPr id="34" name="Text 31"/>
          <p:cNvSpPr/>
          <p:nvPr/>
        </p:nvSpPr>
        <p:spPr>
          <a:xfrm>
            <a:off x="6400800" y="1627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2200" b="1" dirty="0">
                <a:solidFill>
                  <a:srgbClr val="00CADA"/>
                </a:solidFill>
                <a:latin typeface="Arial" pitchFamily="34" charset="0"/>
                <a:cs typeface="Arial" pitchFamily="34" charset="-120"/>
              </a:rPr>
              <a:t>Linguagem HIDRA</a:t>
            </a:r>
            <a:endParaRPr lang="pt-PT" sz="2200" noProof="0" dirty="0"/>
          </a:p>
        </p:txBody>
      </p:sp>
      <p:sp>
        <p:nvSpPr>
          <p:cNvPr id="35" name="Text 32"/>
          <p:cNvSpPr/>
          <p:nvPr/>
        </p:nvSpPr>
        <p:spPr>
          <a:xfrm>
            <a:off x="6400800" y="20848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em</a:t>
            </a:r>
            <a:endParaRPr lang="pt-PT" sz="1200" noProof="0" dirty="0"/>
          </a:p>
          <a:p>
            <a:pPr marL="0" indent="0">
              <a:buNone/>
            </a:pPr>
            <a:r>
              <a:rPr lang="pt-PT" sz="12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</a:t>
            </a:r>
            <a:endParaRPr lang="pt-PT" sz="1200" noProof="0" dirty="0"/>
          </a:p>
        </p:txBody>
      </p:sp>
      <p:sp>
        <p:nvSpPr>
          <p:cNvPr id="36" name="Text 33"/>
          <p:cNvSpPr/>
          <p:nvPr/>
        </p:nvSpPr>
        <p:spPr>
          <a:xfrm>
            <a:off x="256032" y="47091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i="1" noProof="0" dirty="0">
                <a:solidFill>
                  <a:srgbClr val="AF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 Eduardo Mondlane</a:t>
            </a:r>
            <a:endParaRPr lang="pt-PT" sz="9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Shape 21"/>
          <p:cNvSpPr/>
          <p:nvPr/>
        </p:nvSpPr>
        <p:spPr>
          <a:xfrm rot="5400000">
            <a:off x="3474720" y="2148840"/>
            <a:ext cx="268834" cy="384048"/>
          </a:xfrm>
          <a:prstGeom prst="rtTriangle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4" name="Text 22"/>
          <p:cNvSpPr/>
          <p:nvPr/>
        </p:nvSpPr>
        <p:spPr>
          <a:xfrm>
            <a:off x="4005072" y="2084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4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pt-PT" sz="34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5943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Hidra é uma linguagem de programação criada inteiramente em Português, concebida para eliminar a barreira linguística no ensino de programação. O projeto cobre a fase de Análise Léxica.</a:t>
            </a:r>
            <a:endParaRPr lang="pt-PT" sz="1300" noProof="0" dirty="0"/>
          </a:p>
        </p:txBody>
      </p:sp>
      <p:sp>
        <p:nvSpPr>
          <p:cNvPr id="24" name="Text 22"/>
          <p:cNvSpPr/>
          <p:nvPr/>
        </p:nvSpPr>
        <p:spPr>
          <a:xfrm>
            <a:off x="502920" y="18745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Analisador Léxico (</a:t>
            </a:r>
            <a:r>
              <a:rPr lang="pt-PT" sz="130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AnaLex</a:t>
            </a:r>
            <a:r>
              <a:rPr lang="pt-PT" sz="13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é a 1ª fase de um compilador. Recebe o código-fonte como texto e devolve uma sequência de </a:t>
            </a:r>
            <a:r>
              <a:rPr lang="pt-PT" sz="130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pt-PT" sz="1300" noProof="0" dirty="0"/>
          </a:p>
        </p:txBody>
      </p:sp>
      <p:sp>
        <p:nvSpPr>
          <p:cNvPr id="25" name="Text 23"/>
          <p:cNvSpPr/>
          <p:nvPr/>
        </p:nvSpPr>
        <p:spPr>
          <a:xfrm>
            <a:off x="502919" y="2514600"/>
            <a:ext cx="852834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PT" sz="1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Responsabilidades: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Ler o programa fonte caractere a caractere;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Agrupar caracteres em unidades léxicas (lexemas);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Classificar cada lexema num </a:t>
            </a:r>
            <a:r>
              <a:rPr lang="pt-PT" sz="14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</a:t>
            </a:r>
            <a:r>
              <a:rPr lang="pt-PT" sz="1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Registar atributos relevantes (nome, valor, linha);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Ignorar espaços e comentários;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4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Detectar</a:t>
            </a:r>
            <a:r>
              <a:rPr lang="pt-PT" sz="14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símbolos inválidos</a:t>
            </a:r>
          </a:p>
        </p:txBody>
      </p:sp>
      <p:sp>
        <p:nvSpPr>
          <p:cNvPr id="26" name="Text 24"/>
          <p:cNvSpPr/>
          <p:nvPr/>
        </p:nvSpPr>
        <p:spPr>
          <a:xfrm>
            <a:off x="4663440" y="251460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pt-PT" sz="1200" noProof="0" dirty="0"/>
          </a:p>
        </p:txBody>
      </p:sp>
      <p:sp>
        <p:nvSpPr>
          <p:cNvPr id="27" name="Shape 25"/>
          <p:cNvSpPr/>
          <p:nvPr/>
        </p:nvSpPr>
        <p:spPr>
          <a:xfrm>
            <a:off x="502920" y="429768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46406B">
              <a:alpha val="7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8" name="Text 26"/>
          <p:cNvSpPr/>
          <p:nvPr/>
        </p:nvSpPr>
        <p:spPr>
          <a:xfrm>
            <a:off x="594360" y="4315968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2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Código-fonte  →  </a:t>
            </a:r>
            <a:r>
              <a:rPr lang="pt-PT" sz="125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AnaLex</a:t>
            </a:r>
            <a:r>
              <a:rPr lang="pt-PT" sz="12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pt-PT" sz="125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r>
              <a:rPr lang="pt-PT" sz="12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Analisador Sintático (Fase 3)</a:t>
            </a:r>
            <a:endParaRPr lang="pt-PT" sz="12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Shape 21"/>
          <p:cNvSpPr/>
          <p:nvPr/>
        </p:nvSpPr>
        <p:spPr>
          <a:xfrm rot="5400000">
            <a:off x="2926080" y="2148840"/>
            <a:ext cx="268834" cy="384048"/>
          </a:xfrm>
          <a:prstGeom prst="rtTriangle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4" name="Text 22"/>
          <p:cNvSpPr/>
          <p:nvPr/>
        </p:nvSpPr>
        <p:spPr>
          <a:xfrm>
            <a:off x="3456432" y="202996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4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JFLEX E</a:t>
            </a:r>
            <a:endParaRPr lang="pt-PT" sz="3400" noProof="0" dirty="0"/>
          </a:p>
        </p:txBody>
      </p:sp>
      <p:sp>
        <p:nvSpPr>
          <p:cNvPr id="25" name="Text 23"/>
          <p:cNvSpPr/>
          <p:nvPr/>
        </p:nvSpPr>
        <p:spPr>
          <a:xfrm>
            <a:off x="3456432" y="248716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4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pt-PT" sz="34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hidra.flex</a:t>
            </a:r>
            <a:endParaRPr lang="pt-PT" sz="34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jFlex</a:t>
            </a:r>
            <a:endParaRPr lang="pt-PT" sz="1600" noProof="0" dirty="0"/>
          </a:p>
        </p:txBody>
      </p:sp>
      <p:sp>
        <p:nvSpPr>
          <p:cNvPr id="24" name="Shape 22"/>
          <p:cNvSpPr/>
          <p:nvPr/>
        </p:nvSpPr>
        <p:spPr>
          <a:xfrm>
            <a:off x="502920" y="594360"/>
            <a:ext cx="813816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5" name="Text 23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pt-PT" sz="130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jFlex</a:t>
            </a:r>
            <a:r>
              <a:rPr lang="pt-PT" sz="13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uma ferramenta que lê um ficheiro de regras (.</a:t>
            </a:r>
            <a:r>
              <a:rPr lang="pt-PT" sz="130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</a:t>
            </a:r>
            <a:r>
              <a:rPr lang="pt-PT" sz="13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e gera automaticamente o código Java do analisador léxico.</a:t>
            </a:r>
            <a:endParaRPr lang="pt-PT" sz="1300" noProof="0" dirty="0"/>
          </a:p>
        </p:txBody>
      </p:sp>
      <p:sp>
        <p:nvSpPr>
          <p:cNvPr id="31" name="Text 29"/>
          <p:cNvSpPr/>
          <p:nvPr/>
        </p:nvSpPr>
        <p:spPr>
          <a:xfrm>
            <a:off x="457199" y="1463039"/>
            <a:ext cx="7818115" cy="1389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400" noProof="0" dirty="0">
                <a:solidFill>
                  <a:schemeClr val="bg1"/>
                </a:solidFill>
              </a:rPr>
              <a:t>O processo de geração consiste em: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400" noProof="0" dirty="0">
                <a:solidFill>
                  <a:schemeClr val="bg1"/>
                </a:solidFill>
              </a:rPr>
              <a:t>Definição dos padrões léxicos;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400" noProof="0" dirty="0">
                <a:solidFill>
                  <a:schemeClr val="bg1"/>
                </a:solidFill>
              </a:rPr>
              <a:t>Conversão para autómatos finitos;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400" noProof="0" dirty="0">
                <a:solidFill>
                  <a:schemeClr val="bg1"/>
                </a:solidFill>
              </a:rPr>
              <a:t>Minimização dos estados;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400" noProof="0" dirty="0">
                <a:solidFill>
                  <a:schemeClr val="bg1"/>
                </a:solidFill>
              </a:rPr>
              <a:t>Geração automática de código Java eficiente</a:t>
            </a:r>
            <a:r>
              <a:rPr lang="pt-PT" sz="1400" noProof="0" dirty="0"/>
              <a:t>.</a:t>
            </a:r>
          </a:p>
        </p:txBody>
      </p:sp>
      <p:sp>
        <p:nvSpPr>
          <p:cNvPr id="32" name="Text 30"/>
          <p:cNvSpPr/>
          <p:nvPr/>
        </p:nvSpPr>
        <p:spPr>
          <a:xfrm>
            <a:off x="50292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Trabalho</a:t>
            </a:r>
            <a:endParaRPr lang="pt-PT" sz="1100" noProof="0" dirty="0"/>
          </a:p>
        </p:txBody>
      </p:sp>
      <p:sp>
        <p:nvSpPr>
          <p:cNvPr id="33" name="Shape 31"/>
          <p:cNvSpPr/>
          <p:nvPr/>
        </p:nvSpPr>
        <p:spPr>
          <a:xfrm>
            <a:off x="502920" y="3310128"/>
            <a:ext cx="813816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4" name="Shape 32"/>
          <p:cNvSpPr/>
          <p:nvPr/>
        </p:nvSpPr>
        <p:spPr>
          <a:xfrm>
            <a:off x="502920" y="3401568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46406B">
              <a:alpha val="4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5" name="Text 33"/>
          <p:cNvSpPr/>
          <p:nvPr/>
        </p:nvSpPr>
        <p:spPr>
          <a:xfrm>
            <a:off x="557784" y="3456432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</a:t>
            </a:r>
            <a:r>
              <a:rPr lang="pt-PT" sz="100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hidra.flex</a:t>
            </a:r>
            <a:endParaRPr lang="pt-PT" sz="1000" noProof="0" dirty="0"/>
          </a:p>
        </p:txBody>
      </p:sp>
      <p:sp>
        <p:nvSpPr>
          <p:cNvPr id="36" name="Text 34"/>
          <p:cNvSpPr/>
          <p:nvPr/>
        </p:nvSpPr>
        <p:spPr>
          <a:xfrm>
            <a:off x="2075688" y="395020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100" noProof="0" dirty="0">
                <a:solidFill>
                  <a:srgbClr val="00CADA"/>
                </a:solidFill>
              </a:rPr>
              <a:t>→</a:t>
            </a:r>
            <a:endParaRPr lang="pt-PT" sz="1100" noProof="0" dirty="0"/>
          </a:p>
        </p:txBody>
      </p:sp>
      <p:sp>
        <p:nvSpPr>
          <p:cNvPr id="37" name="Shape 35"/>
          <p:cNvSpPr/>
          <p:nvPr/>
        </p:nvSpPr>
        <p:spPr>
          <a:xfrm>
            <a:off x="2221992" y="3401568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46406B">
              <a:alpha val="4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8" name="Text 36"/>
          <p:cNvSpPr/>
          <p:nvPr/>
        </p:nvSpPr>
        <p:spPr>
          <a:xfrm>
            <a:off x="2276856" y="3456432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</a:t>
            </a:r>
            <a:r>
              <a:rPr lang="pt-PT" sz="100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jFlex</a:t>
            </a:r>
            <a:endParaRPr lang="pt-PT" sz="1000" noProof="0" dirty="0"/>
          </a:p>
          <a:p>
            <a:pPr marL="0" indent="0" algn="ctr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(Gera código)</a:t>
            </a:r>
            <a:endParaRPr lang="pt-PT" sz="1000" noProof="0" dirty="0"/>
          </a:p>
        </p:txBody>
      </p:sp>
      <p:sp>
        <p:nvSpPr>
          <p:cNvPr id="39" name="Text 37"/>
          <p:cNvSpPr/>
          <p:nvPr/>
        </p:nvSpPr>
        <p:spPr>
          <a:xfrm>
            <a:off x="3794760" y="395020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100" noProof="0" dirty="0">
                <a:solidFill>
                  <a:srgbClr val="00CADA"/>
                </a:solidFill>
              </a:rPr>
              <a:t>→</a:t>
            </a:r>
            <a:endParaRPr lang="pt-PT" sz="1100" noProof="0" dirty="0"/>
          </a:p>
        </p:txBody>
      </p:sp>
      <p:sp>
        <p:nvSpPr>
          <p:cNvPr id="40" name="Shape 38"/>
          <p:cNvSpPr/>
          <p:nvPr/>
        </p:nvSpPr>
        <p:spPr>
          <a:xfrm>
            <a:off x="3941064" y="3401568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46406B">
              <a:alpha val="4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1" name="Text 39"/>
          <p:cNvSpPr/>
          <p:nvPr/>
        </p:nvSpPr>
        <p:spPr>
          <a:xfrm>
            <a:off x="3995928" y="3456432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AnaLex.java</a:t>
            </a:r>
            <a:endParaRPr lang="pt-PT" sz="1000" noProof="0" dirty="0"/>
          </a:p>
          <a:p>
            <a:pPr marL="0" indent="0" algn="ctr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(Gerado auto)</a:t>
            </a:r>
            <a:endParaRPr lang="pt-PT" sz="1000" noProof="0" dirty="0"/>
          </a:p>
        </p:txBody>
      </p:sp>
      <p:sp>
        <p:nvSpPr>
          <p:cNvPr id="42" name="Text 40"/>
          <p:cNvSpPr/>
          <p:nvPr/>
        </p:nvSpPr>
        <p:spPr>
          <a:xfrm>
            <a:off x="5513832" y="395020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100" noProof="0" dirty="0">
                <a:solidFill>
                  <a:srgbClr val="00CADA"/>
                </a:solidFill>
              </a:rPr>
              <a:t>→</a:t>
            </a:r>
            <a:endParaRPr lang="pt-PT" sz="1100" noProof="0" dirty="0"/>
          </a:p>
        </p:txBody>
      </p:sp>
      <p:sp>
        <p:nvSpPr>
          <p:cNvPr id="43" name="Shape 41"/>
          <p:cNvSpPr/>
          <p:nvPr/>
        </p:nvSpPr>
        <p:spPr>
          <a:xfrm>
            <a:off x="5660136" y="3401568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46406B">
              <a:alpha val="4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4" name="Text 42"/>
          <p:cNvSpPr/>
          <p:nvPr/>
        </p:nvSpPr>
        <p:spPr>
          <a:xfrm>
            <a:off x="5715000" y="3456432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</a:t>
            </a:r>
            <a:r>
              <a:rPr lang="pt-PT" sz="100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</a:t>
            </a:r>
            <a:endParaRPr lang="pt-PT" sz="1000" noProof="0" dirty="0"/>
          </a:p>
          <a:p>
            <a:pPr marL="0" indent="0" algn="ctr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(Compila)</a:t>
            </a:r>
            <a:endParaRPr lang="pt-PT" sz="1000" noProof="0" dirty="0"/>
          </a:p>
        </p:txBody>
      </p:sp>
      <p:sp>
        <p:nvSpPr>
          <p:cNvPr id="45" name="Text 43"/>
          <p:cNvSpPr/>
          <p:nvPr/>
        </p:nvSpPr>
        <p:spPr>
          <a:xfrm>
            <a:off x="7232904" y="3950208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100" noProof="0" dirty="0">
                <a:solidFill>
                  <a:srgbClr val="00CADA"/>
                </a:solidFill>
              </a:rPr>
              <a:t>→</a:t>
            </a:r>
            <a:endParaRPr lang="pt-PT" sz="1100" noProof="0" dirty="0"/>
          </a:p>
        </p:txBody>
      </p:sp>
      <p:sp>
        <p:nvSpPr>
          <p:cNvPr id="46" name="Shape 44"/>
          <p:cNvSpPr/>
          <p:nvPr/>
        </p:nvSpPr>
        <p:spPr>
          <a:xfrm>
            <a:off x="7379208" y="3401568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46406B">
              <a:alpha val="4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7" name="Text 45"/>
          <p:cNvSpPr/>
          <p:nvPr/>
        </p:nvSpPr>
        <p:spPr>
          <a:xfrm>
            <a:off x="7434072" y="3456432"/>
            <a:ext cx="1463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</a:t>
            </a:r>
            <a:r>
              <a:rPr lang="pt-PT" sz="100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hidra.Main</a:t>
            </a:r>
            <a:endParaRPr lang="pt-PT" sz="1000" noProof="0" dirty="0"/>
          </a:p>
          <a:p>
            <a:pPr marL="0" indent="0" algn="ctr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(Corre)</a:t>
            </a:r>
            <a:endParaRPr lang="pt-PT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6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hidra.flex</a:t>
            </a:r>
            <a:endParaRPr lang="pt-PT" sz="1600" noProof="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"/>
            <a:ext cx="813816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5" name="Text 23"/>
          <p:cNvSpPr/>
          <p:nvPr/>
        </p:nvSpPr>
        <p:spPr>
          <a:xfrm>
            <a:off x="502920" y="5303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ficheiro </a:t>
            </a:r>
            <a:r>
              <a:rPr lang="pt-PT" sz="11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hidra.flex</a:t>
            </a: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 4 secções obrigatórias que o </a:t>
            </a:r>
            <a:r>
              <a:rPr lang="pt-PT" sz="11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jFlex</a:t>
            </a: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interpreta para gerar o AnaLex.java:</a:t>
            </a:r>
            <a:endParaRPr lang="pt-PT" sz="1150" noProof="0" dirty="0"/>
          </a:p>
        </p:txBody>
      </p:sp>
      <p:sp>
        <p:nvSpPr>
          <p:cNvPr id="26" name="Text 24"/>
          <p:cNvSpPr/>
          <p:nvPr/>
        </p:nvSpPr>
        <p:spPr>
          <a:xfrm>
            <a:off x="274320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Package</a:t>
            </a:r>
            <a:endParaRPr lang="pt-PT" sz="1100" noProof="0" dirty="0"/>
          </a:p>
        </p:txBody>
      </p:sp>
      <p:sp>
        <p:nvSpPr>
          <p:cNvPr id="27" name="Shape 25"/>
          <p:cNvSpPr/>
          <p:nvPr/>
        </p:nvSpPr>
        <p:spPr>
          <a:xfrm>
            <a:off x="274320" y="1298448"/>
            <a:ext cx="406908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8" name="Shape 26"/>
          <p:cNvSpPr/>
          <p:nvPr/>
        </p:nvSpPr>
        <p:spPr>
          <a:xfrm>
            <a:off x="274320" y="1353312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08061A"/>
          </a:solidFill>
          <a:ln w="12700">
            <a:solidFill>
              <a:srgbClr val="46406B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9" name="Text 27"/>
          <p:cNvSpPr/>
          <p:nvPr/>
        </p:nvSpPr>
        <p:spPr>
          <a:xfrm>
            <a:off x="384048" y="14081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hidra;</a:t>
            </a:r>
            <a:endParaRPr lang="pt-PT" sz="850" noProof="0" dirty="0"/>
          </a:p>
        </p:txBody>
      </p:sp>
      <p:sp>
        <p:nvSpPr>
          <p:cNvPr id="30" name="Text 28"/>
          <p:cNvSpPr/>
          <p:nvPr/>
        </p:nvSpPr>
        <p:spPr>
          <a:xfrm>
            <a:off x="274320" y="230428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 o package Java. Garante que o </a:t>
            </a:r>
            <a:r>
              <a:rPr lang="pt-PT" sz="9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AnaLex</a:t>
            </a: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gerado pertence ao mesmo espaço de nomes que as tabelas.</a:t>
            </a:r>
            <a:endParaRPr lang="pt-PT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4754880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Opções </a:t>
            </a:r>
            <a:r>
              <a:rPr lang="pt-PT" sz="11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jFlex</a:t>
            </a:r>
            <a:endParaRPr lang="pt-PT" sz="1100" noProof="0" dirty="0"/>
          </a:p>
        </p:txBody>
      </p:sp>
      <p:sp>
        <p:nvSpPr>
          <p:cNvPr id="32" name="Shape 30"/>
          <p:cNvSpPr/>
          <p:nvPr/>
        </p:nvSpPr>
        <p:spPr>
          <a:xfrm>
            <a:off x="4754880" y="1298448"/>
            <a:ext cx="406908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3" name="Shape 31"/>
          <p:cNvSpPr/>
          <p:nvPr/>
        </p:nvSpPr>
        <p:spPr>
          <a:xfrm>
            <a:off x="4754880" y="1353312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08061A"/>
          </a:solidFill>
          <a:ln w="12700">
            <a:solidFill>
              <a:srgbClr val="46406B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4" name="Text 32"/>
          <p:cNvSpPr/>
          <p:nvPr/>
        </p:nvSpPr>
        <p:spPr>
          <a:xfrm>
            <a:off x="4864608" y="14081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</a:t>
            </a:r>
            <a:endParaRPr lang="pt-PT" sz="850" noProof="0" dirty="0"/>
          </a:p>
        </p:txBody>
      </p:sp>
      <p:sp>
        <p:nvSpPr>
          <p:cNvPr id="35" name="Text 33"/>
          <p:cNvSpPr/>
          <p:nvPr/>
        </p:nvSpPr>
        <p:spPr>
          <a:xfrm>
            <a:off x="4864608" y="15910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pt-PT" sz="85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pt-PT" sz="8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PT" sz="85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AnaLex</a:t>
            </a:r>
            <a:endParaRPr lang="pt-PT" sz="850" noProof="0" dirty="0"/>
          </a:p>
        </p:txBody>
      </p:sp>
      <p:sp>
        <p:nvSpPr>
          <p:cNvPr id="36" name="Text 34"/>
          <p:cNvSpPr/>
          <p:nvPr/>
        </p:nvSpPr>
        <p:spPr>
          <a:xfrm>
            <a:off x="4864608" y="177393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pt-PT" sz="85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unicode</a:t>
            </a:r>
            <a:endParaRPr lang="pt-PT" sz="850" noProof="0" dirty="0"/>
          </a:p>
        </p:txBody>
      </p:sp>
      <p:sp>
        <p:nvSpPr>
          <p:cNvPr id="37" name="Text 35"/>
          <p:cNvSpPr/>
          <p:nvPr/>
        </p:nvSpPr>
        <p:spPr>
          <a:xfrm>
            <a:off x="4864608" y="1956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pt-PT" sz="85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endParaRPr lang="pt-PT" sz="850" noProof="0" dirty="0"/>
          </a:p>
        </p:txBody>
      </p:sp>
      <p:sp>
        <p:nvSpPr>
          <p:cNvPr id="38" name="Text 36"/>
          <p:cNvSpPr/>
          <p:nvPr/>
        </p:nvSpPr>
        <p:spPr>
          <a:xfrm>
            <a:off x="4864608" y="21396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pt-PT" sz="85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pt-PT" sz="8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PT" sz="85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TokenInfo</a:t>
            </a:r>
            <a:endParaRPr lang="pt-PT" sz="850" noProof="0" dirty="0"/>
          </a:p>
        </p:txBody>
      </p:sp>
      <p:sp>
        <p:nvSpPr>
          <p:cNvPr id="39" name="Text 37"/>
          <p:cNvSpPr/>
          <p:nvPr/>
        </p:nvSpPr>
        <p:spPr>
          <a:xfrm>
            <a:off x="4864608" y="23225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%{ ... tabelas ... %}</a:t>
            </a:r>
            <a:endParaRPr lang="pt-PT" sz="850" noProof="0" dirty="0"/>
          </a:p>
        </p:txBody>
      </p:sp>
      <p:sp>
        <p:nvSpPr>
          <p:cNvPr id="40" name="Text 38"/>
          <p:cNvSpPr/>
          <p:nvPr/>
        </p:nvSpPr>
        <p:spPr>
          <a:xfrm>
            <a:off x="4754880" y="230428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o </a:t>
            </a:r>
            <a:r>
              <a:rPr lang="pt-PT" sz="9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jFlex</a:t>
            </a: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nome da classe, suporte UTF-8, contador de linhas e injeta o código das tabelas.</a:t>
            </a:r>
            <a:endParaRPr lang="pt-PT" sz="950" noProof="0" dirty="0"/>
          </a:p>
        </p:txBody>
      </p:sp>
      <p:sp>
        <p:nvSpPr>
          <p:cNvPr id="41" name="Text 39"/>
          <p:cNvSpPr/>
          <p:nvPr/>
        </p:nvSpPr>
        <p:spPr>
          <a:xfrm>
            <a:off x="27432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Padrões</a:t>
            </a:r>
            <a:endParaRPr lang="pt-PT" sz="1100" noProof="0" dirty="0"/>
          </a:p>
        </p:txBody>
      </p:sp>
      <p:sp>
        <p:nvSpPr>
          <p:cNvPr id="42" name="Shape 40"/>
          <p:cNvSpPr/>
          <p:nvPr/>
        </p:nvSpPr>
        <p:spPr>
          <a:xfrm>
            <a:off x="274320" y="3383280"/>
            <a:ext cx="406908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3" name="Shape 41"/>
          <p:cNvSpPr/>
          <p:nvPr/>
        </p:nvSpPr>
        <p:spPr>
          <a:xfrm>
            <a:off x="274320" y="3438144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08061A"/>
          </a:solidFill>
          <a:ln w="12700">
            <a:solidFill>
              <a:srgbClr val="46406B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4" name="Text 42"/>
          <p:cNvSpPr/>
          <p:nvPr/>
        </p:nvSpPr>
        <p:spPr>
          <a:xfrm>
            <a:off x="384048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Digito  = [0-9]</a:t>
            </a:r>
            <a:endParaRPr lang="pt-PT" sz="850" noProof="0" dirty="0"/>
          </a:p>
        </p:txBody>
      </p:sp>
      <p:sp>
        <p:nvSpPr>
          <p:cNvPr id="45" name="Text 43"/>
          <p:cNvSpPr/>
          <p:nvPr/>
        </p:nvSpPr>
        <p:spPr>
          <a:xfrm>
            <a:off x="384048" y="36758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Letra   = [a-</a:t>
            </a:r>
            <a:r>
              <a:rPr lang="pt-PT" sz="85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</a:t>
            </a: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-Z_]</a:t>
            </a:r>
            <a:endParaRPr lang="pt-PT" sz="850" noProof="0" dirty="0"/>
          </a:p>
        </p:txBody>
      </p:sp>
      <p:sp>
        <p:nvSpPr>
          <p:cNvPr id="46" name="Text 44"/>
          <p:cNvSpPr/>
          <p:nvPr/>
        </p:nvSpPr>
        <p:spPr>
          <a:xfrm>
            <a:off x="384048" y="38587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</a:t>
            </a: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{Letra}({Letra}|{Digito})*</a:t>
            </a:r>
            <a:endParaRPr lang="pt-PT" sz="850" noProof="0" dirty="0"/>
          </a:p>
        </p:txBody>
      </p:sp>
      <p:sp>
        <p:nvSpPr>
          <p:cNvPr id="47" name="Text 45"/>
          <p:cNvSpPr/>
          <p:nvPr/>
        </p:nvSpPr>
        <p:spPr>
          <a:xfrm>
            <a:off x="384048" y="40416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LitReal</a:t>
            </a: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{Digito}+\.{Digito}+</a:t>
            </a:r>
            <a:endParaRPr lang="pt-PT" sz="850" noProof="0" dirty="0"/>
          </a:p>
        </p:txBody>
      </p:sp>
      <p:sp>
        <p:nvSpPr>
          <p:cNvPr id="48" name="Text 46"/>
          <p:cNvSpPr/>
          <p:nvPr/>
        </p:nvSpPr>
        <p:spPr>
          <a:xfrm>
            <a:off x="274320" y="4389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macros reutilizáveis com nomes descritivos — como variáveis para expressões regulares.</a:t>
            </a:r>
            <a:endParaRPr lang="pt-PT" sz="950" noProof="0" dirty="0"/>
          </a:p>
        </p:txBody>
      </p:sp>
      <p:sp>
        <p:nvSpPr>
          <p:cNvPr id="49" name="Text 47"/>
          <p:cNvSpPr/>
          <p:nvPr/>
        </p:nvSpPr>
        <p:spPr>
          <a:xfrm>
            <a:off x="475488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Regras</a:t>
            </a:r>
            <a:endParaRPr lang="pt-PT" sz="1100" noProof="0" dirty="0"/>
          </a:p>
        </p:txBody>
      </p:sp>
      <p:sp>
        <p:nvSpPr>
          <p:cNvPr id="50" name="Shape 48"/>
          <p:cNvSpPr/>
          <p:nvPr/>
        </p:nvSpPr>
        <p:spPr>
          <a:xfrm>
            <a:off x="4754880" y="3383280"/>
            <a:ext cx="406908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1" name="Shape 49"/>
          <p:cNvSpPr/>
          <p:nvPr/>
        </p:nvSpPr>
        <p:spPr>
          <a:xfrm>
            <a:off x="4754880" y="3438144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08061A"/>
          </a:solidFill>
          <a:ln w="12700">
            <a:solidFill>
              <a:srgbClr val="46406B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2" name="Text 50"/>
          <p:cNvSpPr/>
          <p:nvPr/>
        </p:nvSpPr>
        <p:spPr>
          <a:xfrm>
            <a:off x="4864608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{Branco}  { /* ignora */ }</a:t>
            </a:r>
            <a:endParaRPr lang="pt-PT" sz="850" noProof="0" dirty="0"/>
          </a:p>
        </p:txBody>
      </p:sp>
      <p:sp>
        <p:nvSpPr>
          <p:cNvPr id="53" name="Text 51"/>
          <p:cNvSpPr/>
          <p:nvPr/>
        </p:nvSpPr>
        <p:spPr>
          <a:xfrm>
            <a:off x="4864608" y="36758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pt-PT" sz="85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</a:t>
            </a: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{ </a:t>
            </a:r>
            <a:r>
              <a:rPr lang="pt-PT" sz="85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PT" sz="85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processarIdent</a:t>
            </a: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}</a:t>
            </a:r>
            <a:endParaRPr lang="pt-PT" sz="850" noProof="0" dirty="0"/>
          </a:p>
        </p:txBody>
      </p:sp>
      <p:sp>
        <p:nvSpPr>
          <p:cNvPr id="54" name="Text 52"/>
          <p:cNvSpPr/>
          <p:nvPr/>
        </p:nvSpPr>
        <p:spPr>
          <a:xfrm>
            <a:off x="4864608" y="38587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"**"   { </a:t>
            </a:r>
            <a:r>
              <a:rPr lang="pt-PT" sz="85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PT" sz="85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</a:t>
            </a: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(POTENCIA); }</a:t>
            </a:r>
            <a:endParaRPr lang="pt-PT" sz="850" noProof="0" dirty="0"/>
          </a:p>
        </p:txBody>
      </p:sp>
      <p:sp>
        <p:nvSpPr>
          <p:cNvPr id="55" name="Text 53"/>
          <p:cNvSpPr/>
          <p:nvPr/>
        </p:nvSpPr>
        <p:spPr>
          <a:xfrm>
            <a:off x="4864608" y="40416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[^]     { </a:t>
            </a:r>
            <a:r>
              <a:rPr lang="pt-PT" sz="85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PT" sz="85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</a:t>
            </a:r>
            <a:r>
              <a:rPr lang="pt-PT" sz="8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(DESCONHECIDO); }</a:t>
            </a:r>
            <a:endParaRPr lang="pt-PT" sz="850" noProof="0" dirty="0"/>
          </a:p>
        </p:txBody>
      </p:sp>
      <p:sp>
        <p:nvSpPr>
          <p:cNvPr id="56" name="Text 54"/>
          <p:cNvSpPr/>
          <p:nvPr/>
        </p:nvSpPr>
        <p:spPr>
          <a:xfrm>
            <a:off x="4754880" y="4389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parte central: cada regra associa um padrão a um </a:t>
            </a:r>
            <a:r>
              <a:rPr lang="pt-PT" sz="9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devolvido. O mais específico tem prioridade.</a:t>
            </a:r>
            <a:endParaRPr lang="pt-PT" sz="9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Shape 21"/>
          <p:cNvSpPr/>
          <p:nvPr/>
        </p:nvSpPr>
        <p:spPr>
          <a:xfrm rot="5400000">
            <a:off x="2560320" y="2148840"/>
            <a:ext cx="268834" cy="384048"/>
          </a:xfrm>
          <a:prstGeom prst="rtTriangle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4" name="Text 22"/>
          <p:cNvSpPr/>
          <p:nvPr/>
        </p:nvSpPr>
        <p:spPr>
          <a:xfrm>
            <a:off x="3090672" y="202996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4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DA</a:t>
            </a:r>
            <a:endParaRPr lang="pt-PT" sz="3400" noProof="0" dirty="0"/>
          </a:p>
        </p:txBody>
      </p:sp>
      <p:sp>
        <p:nvSpPr>
          <p:cNvPr id="25" name="Text 23"/>
          <p:cNvSpPr/>
          <p:nvPr/>
        </p:nvSpPr>
        <p:spPr>
          <a:xfrm>
            <a:off x="3090672" y="248716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4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HIDRA</a:t>
            </a:r>
            <a:endParaRPr lang="pt-PT" sz="34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Palavras Reservadas:</a:t>
            </a:r>
            <a:endParaRPr lang="pt-PT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"/>
            <a:ext cx="813816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5" name="Text 23"/>
          <p:cNvSpPr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palavras com significado especial na linguagem Hidra. Não podem ser usadas como nomes de variáveis. A linguagem é insensível a maiúsculas/minúsculas — 'Para' equivale a 'para'.</a:t>
            </a:r>
            <a:endParaRPr lang="pt-PT" sz="1150" noProof="0" dirty="0"/>
          </a:p>
        </p:txBody>
      </p:sp>
      <p:sp>
        <p:nvSpPr>
          <p:cNvPr id="26" name="Text 24"/>
          <p:cNvSpPr/>
          <p:nvPr/>
        </p:nvSpPr>
        <p:spPr>
          <a:xfrm>
            <a:off x="27432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Lexema</a:t>
            </a:r>
            <a:endParaRPr lang="pt-PT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196596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pt-PT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402336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pt-PT" sz="1000" noProof="0" dirty="0"/>
          </a:p>
        </p:txBody>
      </p:sp>
      <p:sp>
        <p:nvSpPr>
          <p:cNvPr id="29" name="Text 27"/>
          <p:cNvSpPr/>
          <p:nvPr/>
        </p:nvSpPr>
        <p:spPr>
          <a:xfrm>
            <a:off x="589788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</a:t>
            </a:r>
            <a:endParaRPr lang="pt-PT" sz="1000" noProof="0" dirty="0"/>
          </a:p>
        </p:txBody>
      </p:sp>
      <p:sp>
        <p:nvSpPr>
          <p:cNvPr id="30" name="Shape 28"/>
          <p:cNvSpPr/>
          <p:nvPr/>
        </p:nvSpPr>
        <p:spPr>
          <a:xfrm>
            <a:off x="274320" y="1572768"/>
            <a:ext cx="8595360" cy="0"/>
          </a:xfrm>
          <a:prstGeom prst="line">
            <a:avLst/>
          </a:prstGeom>
          <a:noFill/>
          <a:ln w="12700">
            <a:solidFill>
              <a:srgbClr val="00CAD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1" name="Shape 29"/>
          <p:cNvSpPr/>
          <p:nvPr/>
        </p:nvSpPr>
        <p:spPr>
          <a:xfrm>
            <a:off x="256032" y="1627632"/>
            <a:ext cx="8631936" cy="338328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2" name="Text 30"/>
          <p:cNvSpPr/>
          <p:nvPr/>
        </p:nvSpPr>
        <p:spPr>
          <a:xfrm>
            <a:off x="274320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/ </a:t>
            </a:r>
            <a:r>
              <a:rPr lang="pt-PT" sz="95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senao</a:t>
            </a:r>
            <a:endParaRPr lang="pt-PT" sz="950" noProof="0" dirty="0"/>
          </a:p>
        </p:txBody>
      </p:sp>
      <p:sp>
        <p:nvSpPr>
          <p:cNvPr id="33" name="Text 31"/>
          <p:cNvSpPr/>
          <p:nvPr/>
        </p:nvSpPr>
        <p:spPr>
          <a:xfrm>
            <a:off x="1965960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/ SENAO</a:t>
            </a:r>
            <a:endParaRPr lang="pt-PT" sz="950" noProof="0" dirty="0"/>
          </a:p>
        </p:txBody>
      </p:sp>
      <p:sp>
        <p:nvSpPr>
          <p:cNvPr id="34" name="Text 32"/>
          <p:cNvSpPr/>
          <p:nvPr/>
        </p:nvSpPr>
        <p:spPr>
          <a:xfrm>
            <a:off x="402336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pt-PT" sz="9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endParaRPr lang="pt-PT" sz="950" noProof="0" dirty="0"/>
          </a:p>
        </p:txBody>
      </p:sp>
      <p:sp>
        <p:nvSpPr>
          <p:cNvPr id="35" name="Text 33"/>
          <p:cNvSpPr/>
          <p:nvPr/>
        </p:nvSpPr>
        <p:spPr>
          <a:xfrm>
            <a:off x="589788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fluxo</a:t>
            </a:r>
            <a:endParaRPr lang="pt-PT" sz="950" noProof="0" dirty="0"/>
          </a:p>
        </p:txBody>
      </p:sp>
      <p:sp>
        <p:nvSpPr>
          <p:cNvPr id="36" name="Text 34"/>
          <p:cNvSpPr/>
          <p:nvPr/>
        </p:nvSpPr>
        <p:spPr>
          <a:xfrm>
            <a:off x="27432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</a:t>
            </a:r>
            <a:endParaRPr lang="pt-PT" sz="950" noProof="0" dirty="0"/>
          </a:p>
        </p:txBody>
      </p:sp>
      <p:sp>
        <p:nvSpPr>
          <p:cNvPr id="37" name="Text 35"/>
          <p:cNvSpPr/>
          <p:nvPr/>
        </p:nvSpPr>
        <p:spPr>
          <a:xfrm>
            <a:off x="19659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</a:t>
            </a:r>
            <a:endParaRPr lang="pt-PT" sz="950" noProof="0" dirty="0"/>
          </a:p>
        </p:txBody>
      </p:sp>
      <p:sp>
        <p:nvSpPr>
          <p:cNvPr id="38" name="Text 36"/>
          <p:cNvSpPr/>
          <p:nvPr/>
        </p:nvSpPr>
        <p:spPr>
          <a:xfrm>
            <a:off x="40233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pt-PT" sz="950" noProof="0" dirty="0"/>
          </a:p>
        </p:txBody>
      </p:sp>
      <p:sp>
        <p:nvSpPr>
          <p:cNvPr id="39" name="Text 37"/>
          <p:cNvSpPr/>
          <p:nvPr/>
        </p:nvSpPr>
        <p:spPr>
          <a:xfrm>
            <a:off x="58978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fluxo</a:t>
            </a:r>
            <a:endParaRPr lang="pt-PT" sz="950" noProof="0" dirty="0"/>
          </a:p>
        </p:txBody>
      </p:sp>
      <p:sp>
        <p:nvSpPr>
          <p:cNvPr id="40" name="Shape 38"/>
          <p:cNvSpPr/>
          <p:nvPr/>
        </p:nvSpPr>
        <p:spPr>
          <a:xfrm>
            <a:off x="256032" y="2322576"/>
            <a:ext cx="8631936" cy="338328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1" name="Text 39"/>
          <p:cNvSpPr/>
          <p:nvPr/>
        </p:nvSpPr>
        <p:spPr>
          <a:xfrm>
            <a:off x="274320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</a:t>
            </a:r>
            <a:endParaRPr lang="pt-PT" sz="950" noProof="0" dirty="0"/>
          </a:p>
        </p:txBody>
      </p:sp>
      <p:sp>
        <p:nvSpPr>
          <p:cNvPr id="42" name="Text 40"/>
          <p:cNvSpPr/>
          <p:nvPr/>
        </p:nvSpPr>
        <p:spPr>
          <a:xfrm>
            <a:off x="1965960" y="2359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</a:t>
            </a:r>
            <a:endParaRPr lang="pt-PT" sz="950" noProof="0" dirty="0"/>
          </a:p>
        </p:txBody>
      </p:sp>
      <p:sp>
        <p:nvSpPr>
          <p:cNvPr id="43" name="Text 41"/>
          <p:cNvSpPr/>
          <p:nvPr/>
        </p:nvSpPr>
        <p:spPr>
          <a:xfrm>
            <a:off x="402336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pt-PT" sz="950" noProof="0" dirty="0"/>
          </a:p>
        </p:txBody>
      </p:sp>
      <p:sp>
        <p:nvSpPr>
          <p:cNvPr id="44" name="Text 42"/>
          <p:cNvSpPr/>
          <p:nvPr/>
        </p:nvSpPr>
        <p:spPr>
          <a:xfrm>
            <a:off x="589788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fluxo</a:t>
            </a:r>
            <a:endParaRPr lang="pt-PT" sz="950" noProof="0" dirty="0"/>
          </a:p>
        </p:txBody>
      </p:sp>
      <p:sp>
        <p:nvSpPr>
          <p:cNvPr id="45" name="Text 43"/>
          <p:cNvSpPr/>
          <p:nvPr/>
        </p:nvSpPr>
        <p:spPr>
          <a:xfrm>
            <a:off x="274320" y="27066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quebrar</a:t>
            </a:r>
            <a:endParaRPr lang="pt-PT" sz="950" noProof="0" dirty="0"/>
          </a:p>
        </p:txBody>
      </p:sp>
      <p:sp>
        <p:nvSpPr>
          <p:cNvPr id="46" name="Text 44"/>
          <p:cNvSpPr/>
          <p:nvPr/>
        </p:nvSpPr>
        <p:spPr>
          <a:xfrm>
            <a:off x="1965960" y="2706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QUEBRAR</a:t>
            </a:r>
            <a:endParaRPr lang="pt-PT" sz="950" noProof="0" dirty="0"/>
          </a:p>
        </p:txBody>
      </p:sp>
      <p:sp>
        <p:nvSpPr>
          <p:cNvPr id="47" name="Text 45"/>
          <p:cNvSpPr/>
          <p:nvPr/>
        </p:nvSpPr>
        <p:spPr>
          <a:xfrm>
            <a:off x="4023360" y="2706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pt-PT" sz="950" noProof="0" dirty="0"/>
          </a:p>
        </p:txBody>
      </p:sp>
      <p:sp>
        <p:nvSpPr>
          <p:cNvPr id="48" name="Text 46"/>
          <p:cNvSpPr/>
          <p:nvPr/>
        </p:nvSpPr>
        <p:spPr>
          <a:xfrm>
            <a:off x="5897880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fluxo</a:t>
            </a:r>
            <a:endParaRPr lang="pt-PT" sz="950" noProof="0" dirty="0"/>
          </a:p>
        </p:txBody>
      </p:sp>
      <p:sp>
        <p:nvSpPr>
          <p:cNvPr id="49" name="Shape 47"/>
          <p:cNvSpPr/>
          <p:nvPr/>
        </p:nvSpPr>
        <p:spPr>
          <a:xfrm>
            <a:off x="256032" y="3017520"/>
            <a:ext cx="8631936" cy="338328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0" name="Text 48"/>
          <p:cNvSpPr/>
          <p:nvPr/>
        </p:nvSpPr>
        <p:spPr>
          <a:xfrm>
            <a:off x="274320" y="3054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continuar</a:t>
            </a:r>
            <a:endParaRPr lang="pt-PT" sz="950" noProof="0" dirty="0"/>
          </a:p>
        </p:txBody>
      </p:sp>
      <p:sp>
        <p:nvSpPr>
          <p:cNvPr id="51" name="Text 49"/>
          <p:cNvSpPr/>
          <p:nvPr/>
        </p:nvSpPr>
        <p:spPr>
          <a:xfrm>
            <a:off x="1965960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CONTINUAR</a:t>
            </a:r>
            <a:endParaRPr lang="pt-PT" sz="950" noProof="0" dirty="0"/>
          </a:p>
        </p:txBody>
      </p:sp>
      <p:sp>
        <p:nvSpPr>
          <p:cNvPr id="52" name="Text 50"/>
          <p:cNvSpPr/>
          <p:nvPr/>
        </p:nvSpPr>
        <p:spPr>
          <a:xfrm>
            <a:off x="4023360" y="3054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pt-PT" sz="950" noProof="0" dirty="0"/>
          </a:p>
        </p:txBody>
      </p:sp>
      <p:sp>
        <p:nvSpPr>
          <p:cNvPr id="53" name="Text 51"/>
          <p:cNvSpPr/>
          <p:nvPr/>
        </p:nvSpPr>
        <p:spPr>
          <a:xfrm>
            <a:off x="5897880" y="3054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fluxo</a:t>
            </a:r>
            <a:endParaRPr lang="pt-PT" sz="950" noProof="0" dirty="0"/>
          </a:p>
        </p:txBody>
      </p:sp>
      <p:sp>
        <p:nvSpPr>
          <p:cNvPr id="54" name="Text 52"/>
          <p:cNvSpPr/>
          <p:nvPr/>
        </p:nvSpPr>
        <p:spPr>
          <a:xfrm>
            <a:off x="27432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tente / capture</a:t>
            </a:r>
            <a:endParaRPr lang="pt-PT" sz="950" noProof="0" dirty="0"/>
          </a:p>
        </p:txBody>
      </p:sp>
      <p:sp>
        <p:nvSpPr>
          <p:cNvPr id="55" name="Text 53"/>
          <p:cNvSpPr/>
          <p:nvPr/>
        </p:nvSpPr>
        <p:spPr>
          <a:xfrm>
            <a:off x="196596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TENTE / CAPTURE</a:t>
            </a:r>
            <a:endParaRPr lang="pt-PT" sz="950" noProof="0" dirty="0"/>
          </a:p>
        </p:txBody>
      </p:sp>
      <p:sp>
        <p:nvSpPr>
          <p:cNvPr id="56" name="Text 54"/>
          <p:cNvSpPr/>
          <p:nvPr/>
        </p:nvSpPr>
        <p:spPr>
          <a:xfrm>
            <a:off x="402336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</a:t>
            </a: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pt-PT" sz="9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</a:t>
            </a:r>
            <a:endParaRPr lang="pt-PT" sz="950" noProof="0" dirty="0"/>
          </a:p>
        </p:txBody>
      </p:sp>
      <p:sp>
        <p:nvSpPr>
          <p:cNvPr id="57" name="Text 55"/>
          <p:cNvSpPr/>
          <p:nvPr/>
        </p:nvSpPr>
        <p:spPr>
          <a:xfrm>
            <a:off x="589788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de erros</a:t>
            </a:r>
            <a:endParaRPr lang="pt-PT" sz="950" noProof="0" dirty="0"/>
          </a:p>
        </p:txBody>
      </p:sp>
      <p:sp>
        <p:nvSpPr>
          <p:cNvPr id="58" name="Shape 56"/>
          <p:cNvSpPr/>
          <p:nvPr/>
        </p:nvSpPr>
        <p:spPr>
          <a:xfrm>
            <a:off x="256032" y="3712464"/>
            <a:ext cx="8631936" cy="338328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9" name="Text 57"/>
          <p:cNvSpPr/>
          <p:nvPr/>
        </p:nvSpPr>
        <p:spPr>
          <a:xfrm>
            <a:off x="27432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 / ler</a:t>
            </a:r>
            <a:endParaRPr lang="pt-PT" sz="950" noProof="0" dirty="0"/>
          </a:p>
        </p:txBody>
      </p:sp>
      <p:sp>
        <p:nvSpPr>
          <p:cNvPr id="60" name="Text 58"/>
          <p:cNvSpPr/>
          <p:nvPr/>
        </p:nvSpPr>
        <p:spPr>
          <a:xfrm>
            <a:off x="196596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 / LER</a:t>
            </a:r>
            <a:endParaRPr lang="pt-PT" sz="950" noProof="0" dirty="0"/>
          </a:p>
        </p:txBody>
      </p:sp>
      <p:sp>
        <p:nvSpPr>
          <p:cNvPr id="61" name="Text 59"/>
          <p:cNvSpPr/>
          <p:nvPr/>
        </p:nvSpPr>
        <p:spPr>
          <a:xfrm>
            <a:off x="402336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println</a:t>
            </a: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Scanner</a:t>
            </a:r>
            <a:endParaRPr lang="pt-PT" sz="950" noProof="0" dirty="0"/>
          </a:p>
        </p:txBody>
      </p:sp>
      <p:sp>
        <p:nvSpPr>
          <p:cNvPr id="62" name="Text 60"/>
          <p:cNvSpPr/>
          <p:nvPr/>
        </p:nvSpPr>
        <p:spPr>
          <a:xfrm>
            <a:off x="589788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E/S padrão</a:t>
            </a:r>
            <a:endParaRPr lang="pt-PT" sz="950" noProof="0" dirty="0"/>
          </a:p>
        </p:txBody>
      </p:sp>
      <p:sp>
        <p:nvSpPr>
          <p:cNvPr id="63" name="Text 61"/>
          <p:cNvSpPr/>
          <p:nvPr/>
        </p:nvSpPr>
        <p:spPr>
          <a:xfrm>
            <a:off x="274320" y="4096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verdadeiro/falso</a:t>
            </a:r>
            <a:endParaRPr lang="pt-PT" sz="950" noProof="0" dirty="0"/>
          </a:p>
        </p:txBody>
      </p:sp>
      <p:sp>
        <p:nvSpPr>
          <p:cNvPr id="64" name="Text 62"/>
          <p:cNvSpPr/>
          <p:nvPr/>
        </p:nvSpPr>
        <p:spPr>
          <a:xfrm>
            <a:off x="1965960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VERDADEIRO/FALSO</a:t>
            </a:r>
            <a:endParaRPr lang="pt-PT" sz="950" noProof="0" dirty="0"/>
          </a:p>
        </p:txBody>
      </p:sp>
      <p:sp>
        <p:nvSpPr>
          <p:cNvPr id="65" name="Text 63"/>
          <p:cNvSpPr/>
          <p:nvPr/>
        </p:nvSpPr>
        <p:spPr>
          <a:xfrm>
            <a:off x="4023360" y="4096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false</a:t>
            </a:r>
            <a:endParaRPr lang="pt-PT" sz="950" noProof="0" dirty="0"/>
          </a:p>
        </p:txBody>
      </p:sp>
      <p:sp>
        <p:nvSpPr>
          <p:cNvPr id="66" name="Text 64"/>
          <p:cNvSpPr/>
          <p:nvPr/>
        </p:nvSpPr>
        <p:spPr>
          <a:xfrm>
            <a:off x="5897880" y="4096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Literal lógico</a:t>
            </a:r>
            <a:endParaRPr lang="pt-PT" sz="950" noProof="0" dirty="0"/>
          </a:p>
        </p:txBody>
      </p:sp>
      <p:sp>
        <p:nvSpPr>
          <p:cNvPr id="67" name="Shape 65"/>
          <p:cNvSpPr/>
          <p:nvPr/>
        </p:nvSpPr>
        <p:spPr>
          <a:xfrm>
            <a:off x="256032" y="4407408"/>
            <a:ext cx="8631936" cy="338328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8" name="Text 66"/>
          <p:cNvSpPr/>
          <p:nvPr/>
        </p:nvSpPr>
        <p:spPr>
          <a:xfrm>
            <a:off x="274320" y="4443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 / </a:t>
            </a:r>
            <a:r>
              <a:rPr lang="pt-PT" sz="95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funcao</a:t>
            </a:r>
            <a:endParaRPr lang="pt-PT" sz="950" noProof="0" dirty="0"/>
          </a:p>
        </p:txBody>
      </p:sp>
      <p:sp>
        <p:nvSpPr>
          <p:cNvPr id="69" name="Text 67"/>
          <p:cNvSpPr/>
          <p:nvPr/>
        </p:nvSpPr>
        <p:spPr>
          <a:xfrm>
            <a:off x="1965960" y="44439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 / FUNCAO</a:t>
            </a:r>
            <a:endParaRPr lang="pt-PT" sz="950" noProof="0" dirty="0"/>
          </a:p>
        </p:txBody>
      </p:sp>
      <p:sp>
        <p:nvSpPr>
          <p:cNvPr id="70" name="Text 68"/>
          <p:cNvSpPr/>
          <p:nvPr/>
        </p:nvSpPr>
        <p:spPr>
          <a:xfrm>
            <a:off x="4023360" y="4443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pt-PT" sz="9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pt-PT" sz="950" noProof="0" dirty="0"/>
          </a:p>
        </p:txBody>
      </p:sp>
      <p:sp>
        <p:nvSpPr>
          <p:cNvPr id="71" name="Text 69"/>
          <p:cNvSpPr/>
          <p:nvPr/>
        </p:nvSpPr>
        <p:spPr>
          <a:xfrm>
            <a:off x="5897880" y="4443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pt-PT" sz="950" noProof="0" dirty="0"/>
          </a:p>
        </p:txBody>
      </p:sp>
      <p:sp>
        <p:nvSpPr>
          <p:cNvPr id="72" name="Text 70"/>
          <p:cNvSpPr/>
          <p:nvPr/>
        </p:nvSpPr>
        <p:spPr>
          <a:xfrm>
            <a:off x="50292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i="1" noProof="0" dirty="0">
                <a:solidFill>
                  <a:srgbClr val="AF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24 palavras reservadas</a:t>
            </a:r>
            <a:endParaRPr lang="pt-PT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201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Operadores</a:t>
            </a:r>
            <a:endParaRPr lang="pt-PT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"/>
            <a:ext cx="393192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5" name="Text 23"/>
          <p:cNvSpPr/>
          <p:nvPr/>
        </p:nvSpPr>
        <p:spPr>
          <a:xfrm>
            <a:off x="502920" y="548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+= -= *= /=</a:t>
            </a:r>
            <a:endParaRPr lang="pt-PT" sz="1100" noProof="0" dirty="0"/>
          </a:p>
        </p:txBody>
      </p:sp>
      <p:sp>
        <p:nvSpPr>
          <p:cNvPr id="26" name="Text 24"/>
          <p:cNvSpPr/>
          <p:nvPr/>
        </p:nvSpPr>
        <p:spPr>
          <a:xfrm>
            <a:off x="2834640" y="548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Atribuição</a:t>
            </a:r>
            <a:endParaRPr lang="pt-PT" sz="1050" noProof="0" dirty="0"/>
          </a:p>
        </p:txBody>
      </p:sp>
      <p:sp>
        <p:nvSpPr>
          <p:cNvPr id="27" name="Text 25"/>
          <p:cNvSpPr/>
          <p:nvPr/>
        </p:nvSpPr>
        <p:spPr>
          <a:xfrm>
            <a:off x="502920" y="1024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− * / ** %</a:t>
            </a:r>
            <a:endParaRPr lang="pt-PT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2834640" y="10241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Aritméticos</a:t>
            </a:r>
            <a:endParaRPr lang="pt-PT" sz="1050" noProof="0" dirty="0"/>
          </a:p>
        </p:txBody>
      </p:sp>
      <p:sp>
        <p:nvSpPr>
          <p:cNvPr id="29" name="Text 27"/>
          <p:cNvSpPr/>
          <p:nvPr/>
        </p:nvSpPr>
        <p:spPr>
          <a:xfrm>
            <a:off x="502920" y="1499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!= &gt; &lt; &gt;= &lt;=</a:t>
            </a:r>
            <a:endParaRPr lang="pt-PT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2834640" y="14996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</a:t>
            </a:r>
            <a:endParaRPr lang="pt-PT" sz="1050" noProof="0" dirty="0"/>
          </a:p>
        </p:txBody>
      </p:sp>
      <p:sp>
        <p:nvSpPr>
          <p:cNvPr id="31" name="Text 29"/>
          <p:cNvSpPr/>
          <p:nvPr/>
        </p:nvSpPr>
        <p:spPr>
          <a:xfrm>
            <a:off x="502920" y="1975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|| !</a:t>
            </a:r>
            <a:endParaRPr lang="pt-PT" sz="1100" noProof="0" dirty="0"/>
          </a:p>
        </p:txBody>
      </p:sp>
      <p:sp>
        <p:nvSpPr>
          <p:cNvPr id="32" name="Text 30"/>
          <p:cNvSpPr/>
          <p:nvPr/>
        </p:nvSpPr>
        <p:spPr>
          <a:xfrm>
            <a:off x="2834640" y="19751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Lógicos</a:t>
            </a:r>
            <a:endParaRPr lang="pt-PT" sz="1050" noProof="0" dirty="0"/>
          </a:p>
        </p:txBody>
      </p:sp>
      <p:sp>
        <p:nvSpPr>
          <p:cNvPr id="33" name="Text 31"/>
          <p:cNvSpPr/>
          <p:nvPr/>
        </p:nvSpPr>
        <p:spPr>
          <a:xfrm>
            <a:off x="502920" y="2450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−−</a:t>
            </a:r>
            <a:endParaRPr lang="pt-PT" sz="1100" noProof="0" dirty="0"/>
          </a:p>
        </p:txBody>
      </p:sp>
      <p:sp>
        <p:nvSpPr>
          <p:cNvPr id="34" name="Text 32"/>
          <p:cNvSpPr/>
          <p:nvPr/>
        </p:nvSpPr>
        <p:spPr>
          <a:xfrm>
            <a:off x="2834640" y="24505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</a:t>
            </a:r>
            <a:r>
              <a:rPr lang="pt-P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pt-PT" sz="10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</a:t>
            </a:r>
            <a:endParaRPr lang="pt-PT" sz="1050" noProof="0" dirty="0"/>
          </a:p>
        </p:txBody>
      </p:sp>
      <p:sp>
        <p:nvSpPr>
          <p:cNvPr id="35" name="Text 33"/>
          <p:cNvSpPr/>
          <p:nvPr/>
        </p:nvSpPr>
        <p:spPr>
          <a:xfrm>
            <a:off x="4800600" y="201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Delimitadores</a:t>
            </a:r>
            <a:endParaRPr lang="pt-PT" sz="1300" noProof="0" dirty="0"/>
          </a:p>
        </p:txBody>
      </p:sp>
      <p:sp>
        <p:nvSpPr>
          <p:cNvPr id="36" name="Shape 34"/>
          <p:cNvSpPr/>
          <p:nvPr/>
        </p:nvSpPr>
        <p:spPr>
          <a:xfrm>
            <a:off x="4800600" y="475488"/>
            <a:ext cx="397764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7" name="Text 35"/>
          <p:cNvSpPr/>
          <p:nvPr/>
        </p:nvSpPr>
        <p:spPr>
          <a:xfrm>
            <a:off x="4800600" y="548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pt-PT" sz="1100" noProof="0" dirty="0"/>
          </a:p>
        </p:txBody>
      </p:sp>
      <p:sp>
        <p:nvSpPr>
          <p:cNvPr id="38" name="Text 36"/>
          <p:cNvSpPr/>
          <p:nvPr/>
        </p:nvSpPr>
        <p:spPr>
          <a:xfrm>
            <a:off x="5760720" y="548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Parênteses — agrupamento</a:t>
            </a:r>
            <a:endParaRPr lang="pt-PT" sz="1050" noProof="0" dirty="0"/>
          </a:p>
        </p:txBody>
      </p:sp>
      <p:sp>
        <p:nvSpPr>
          <p:cNvPr id="39" name="Text 37"/>
          <p:cNvSpPr/>
          <p:nvPr/>
        </p:nvSpPr>
        <p:spPr>
          <a:xfrm>
            <a:off x="4800600" y="1024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pt-PT" sz="1100" noProof="0" dirty="0"/>
          </a:p>
        </p:txBody>
      </p:sp>
      <p:sp>
        <p:nvSpPr>
          <p:cNvPr id="40" name="Text 38"/>
          <p:cNvSpPr/>
          <p:nvPr/>
        </p:nvSpPr>
        <p:spPr>
          <a:xfrm>
            <a:off x="5760720" y="10241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Chavetas — bloco de código</a:t>
            </a:r>
            <a:endParaRPr lang="pt-PT" sz="1050" noProof="0" dirty="0"/>
          </a:p>
        </p:txBody>
      </p:sp>
      <p:sp>
        <p:nvSpPr>
          <p:cNvPr id="41" name="Text 39"/>
          <p:cNvSpPr/>
          <p:nvPr/>
        </p:nvSpPr>
        <p:spPr>
          <a:xfrm>
            <a:off x="4800600" y="1499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pt-PT" sz="1100" noProof="0" dirty="0"/>
          </a:p>
        </p:txBody>
      </p:sp>
      <p:sp>
        <p:nvSpPr>
          <p:cNvPr id="42" name="Text 40"/>
          <p:cNvSpPr/>
          <p:nvPr/>
        </p:nvSpPr>
        <p:spPr>
          <a:xfrm>
            <a:off x="5760720" y="14996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Colchetes — </a:t>
            </a:r>
            <a:r>
              <a:rPr lang="pt-PT" sz="10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</a:t>
            </a:r>
            <a:endParaRPr lang="pt-PT" sz="1050" noProof="0" dirty="0"/>
          </a:p>
        </p:txBody>
      </p:sp>
      <p:sp>
        <p:nvSpPr>
          <p:cNvPr id="43" name="Text 41"/>
          <p:cNvSpPr/>
          <p:nvPr/>
        </p:nvSpPr>
        <p:spPr>
          <a:xfrm>
            <a:off x="4800600" y="1975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,</a:t>
            </a:r>
            <a:endParaRPr lang="pt-PT" sz="1100" noProof="0" dirty="0"/>
          </a:p>
        </p:txBody>
      </p:sp>
      <p:sp>
        <p:nvSpPr>
          <p:cNvPr id="44" name="Text 42"/>
          <p:cNvSpPr/>
          <p:nvPr/>
        </p:nvSpPr>
        <p:spPr>
          <a:xfrm>
            <a:off x="5760720" y="19751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instrução / separador</a:t>
            </a:r>
            <a:endParaRPr lang="pt-PT" sz="1050" noProof="0" dirty="0"/>
          </a:p>
        </p:txBody>
      </p:sp>
      <p:sp>
        <p:nvSpPr>
          <p:cNvPr id="45" name="Text 43"/>
          <p:cNvSpPr/>
          <p:nvPr/>
        </p:nvSpPr>
        <p:spPr>
          <a:xfrm>
            <a:off x="4800600" y="2450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" '</a:t>
            </a:r>
            <a:endParaRPr lang="pt-PT" sz="1100" noProof="0" dirty="0"/>
          </a:p>
        </p:txBody>
      </p:sp>
      <p:sp>
        <p:nvSpPr>
          <p:cNvPr id="46" name="Text 44"/>
          <p:cNvSpPr/>
          <p:nvPr/>
        </p:nvSpPr>
        <p:spPr>
          <a:xfrm>
            <a:off x="5760720" y="24505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/ aspas / apóstrofe</a:t>
            </a:r>
            <a:endParaRPr lang="pt-PT" sz="1050" noProof="0" dirty="0"/>
          </a:p>
        </p:txBody>
      </p:sp>
      <p:sp>
        <p:nvSpPr>
          <p:cNvPr id="47" name="Shape 45"/>
          <p:cNvSpPr/>
          <p:nvPr/>
        </p:nvSpPr>
        <p:spPr>
          <a:xfrm>
            <a:off x="274320" y="2999232"/>
            <a:ext cx="8595360" cy="0"/>
          </a:xfrm>
          <a:prstGeom prst="line">
            <a:avLst/>
          </a:prstGeom>
          <a:noFill/>
          <a:ln w="12700">
            <a:solidFill>
              <a:srgbClr val="00CAD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8" name="Text 46"/>
          <p:cNvSpPr/>
          <p:nvPr/>
        </p:nvSpPr>
        <p:spPr>
          <a:xfrm>
            <a:off x="502920" y="3090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Literais e Identificadores</a:t>
            </a:r>
            <a:endParaRPr lang="pt-PT" sz="1300" noProof="0" dirty="0"/>
          </a:p>
        </p:txBody>
      </p:sp>
      <p:sp>
        <p:nvSpPr>
          <p:cNvPr id="49" name="Text 47"/>
          <p:cNvSpPr/>
          <p:nvPr/>
        </p:nvSpPr>
        <p:spPr>
          <a:xfrm>
            <a:off x="502920" y="3429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LIT_INTEIRO:</a:t>
            </a:r>
            <a:endParaRPr lang="pt-PT" sz="1000" noProof="0" dirty="0"/>
          </a:p>
        </p:txBody>
      </p:sp>
      <p:sp>
        <p:nvSpPr>
          <p:cNvPr id="50" name="Text 48"/>
          <p:cNvSpPr/>
          <p:nvPr/>
        </p:nvSpPr>
        <p:spPr>
          <a:xfrm>
            <a:off x="2377440" y="3429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[0-9]+</a:t>
            </a:r>
            <a:endParaRPr lang="pt-PT" sz="950" noProof="0" dirty="0"/>
          </a:p>
        </p:txBody>
      </p:sp>
      <p:sp>
        <p:nvSpPr>
          <p:cNvPr id="51" name="Text 49"/>
          <p:cNvSpPr/>
          <p:nvPr/>
        </p:nvSpPr>
        <p:spPr>
          <a:xfrm>
            <a:off x="502920" y="39044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LIT_REAL:</a:t>
            </a:r>
            <a:endParaRPr lang="pt-PT" sz="1000" noProof="0" dirty="0"/>
          </a:p>
        </p:txBody>
      </p:sp>
      <p:sp>
        <p:nvSpPr>
          <p:cNvPr id="52" name="Text 50"/>
          <p:cNvSpPr/>
          <p:nvPr/>
        </p:nvSpPr>
        <p:spPr>
          <a:xfrm>
            <a:off x="2377440" y="3904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[0-9]+\.[0-9]+</a:t>
            </a:r>
            <a:endParaRPr lang="pt-PT" sz="950" noProof="0" dirty="0"/>
          </a:p>
        </p:txBody>
      </p:sp>
      <p:sp>
        <p:nvSpPr>
          <p:cNvPr id="53" name="Text 51"/>
          <p:cNvSpPr/>
          <p:nvPr/>
        </p:nvSpPr>
        <p:spPr>
          <a:xfrm>
            <a:off x="50292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LIT_TEXTO:</a:t>
            </a:r>
            <a:endParaRPr lang="pt-PT" sz="1000" noProof="0" dirty="0"/>
          </a:p>
        </p:txBody>
      </p:sp>
      <p:sp>
        <p:nvSpPr>
          <p:cNvPr id="54" name="Text 52"/>
          <p:cNvSpPr/>
          <p:nvPr/>
        </p:nvSpPr>
        <p:spPr>
          <a:xfrm>
            <a:off x="2377440" y="43799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"[^\"]*"</a:t>
            </a:r>
            <a:endParaRPr lang="pt-PT" sz="950" noProof="0" dirty="0"/>
          </a:p>
        </p:txBody>
      </p:sp>
      <p:sp>
        <p:nvSpPr>
          <p:cNvPr id="55" name="Text 53"/>
          <p:cNvSpPr/>
          <p:nvPr/>
        </p:nvSpPr>
        <p:spPr>
          <a:xfrm>
            <a:off x="4800600" y="3429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LIT_CARACTERE:</a:t>
            </a:r>
            <a:endParaRPr lang="pt-PT" sz="1000" noProof="0" dirty="0"/>
          </a:p>
        </p:txBody>
      </p:sp>
      <p:sp>
        <p:nvSpPr>
          <p:cNvPr id="56" name="Text 54"/>
          <p:cNvSpPr/>
          <p:nvPr/>
        </p:nvSpPr>
        <p:spPr>
          <a:xfrm>
            <a:off x="6675120" y="3429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'.'</a:t>
            </a:r>
            <a:endParaRPr lang="pt-PT" sz="950" noProof="0" dirty="0"/>
          </a:p>
        </p:txBody>
      </p:sp>
      <p:sp>
        <p:nvSpPr>
          <p:cNvPr id="57" name="Text 55"/>
          <p:cNvSpPr/>
          <p:nvPr/>
        </p:nvSpPr>
        <p:spPr>
          <a:xfrm>
            <a:off x="4800600" y="39044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IDENTIFICADOR:</a:t>
            </a:r>
            <a:endParaRPr lang="pt-PT" sz="1000" noProof="0" dirty="0"/>
          </a:p>
        </p:txBody>
      </p:sp>
      <p:sp>
        <p:nvSpPr>
          <p:cNvPr id="58" name="Text 56"/>
          <p:cNvSpPr/>
          <p:nvPr/>
        </p:nvSpPr>
        <p:spPr>
          <a:xfrm>
            <a:off x="6675120" y="3904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</a:t>
            </a:r>
            <a:r>
              <a:rPr lang="pt-PT" sz="95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</a:t>
            </a:r>
            <a:r>
              <a:rPr lang="pt-PT" sz="95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-ZÀ-ÿ_][a-zA-ZÀ-ÿ0-9_]*</a:t>
            </a:r>
            <a:endParaRPr lang="pt-PT" sz="95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Shape 21"/>
          <p:cNvSpPr/>
          <p:nvPr/>
        </p:nvSpPr>
        <p:spPr>
          <a:xfrm rot="5400000">
            <a:off x="2011680" y="1920240"/>
            <a:ext cx="268834" cy="384048"/>
          </a:xfrm>
          <a:prstGeom prst="rtTriangle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4" name="Text 22"/>
          <p:cNvSpPr/>
          <p:nvPr/>
        </p:nvSpPr>
        <p:spPr>
          <a:xfrm>
            <a:off x="2542032" y="182880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4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</a:t>
            </a:r>
            <a:endParaRPr lang="pt-PT" sz="3400" noProof="0" dirty="0"/>
          </a:p>
        </p:txBody>
      </p:sp>
      <p:sp>
        <p:nvSpPr>
          <p:cNvPr id="25" name="Text 23"/>
          <p:cNvSpPr/>
          <p:nvPr/>
        </p:nvSpPr>
        <p:spPr>
          <a:xfrm>
            <a:off x="2542032" y="228600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4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HASH</a:t>
            </a:r>
            <a:endParaRPr lang="pt-PT" sz="34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TabelaPalavrasReservadas</a:t>
            </a:r>
            <a:r>
              <a:rPr lang="pt-PT" sz="13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</a:t>
            </a:r>
            <a:r>
              <a:rPr lang="pt-PT" sz="13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</a:t>
            </a:r>
            <a:r>
              <a:rPr lang="pt-PT" sz="13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pt-PT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"/>
            <a:ext cx="813816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5" name="Text 23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Implementada como </a:t>
            </a:r>
            <a:r>
              <a:rPr lang="pt-PT" sz="11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</a:t>
            </a: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estrutura de dispersão. Carregada no início da análise e consultada a cada identificador encontrado.</a:t>
            </a:r>
            <a:endParaRPr lang="pt-PT" sz="1150" noProof="0" dirty="0"/>
          </a:p>
        </p:txBody>
      </p:sp>
      <p:sp>
        <p:nvSpPr>
          <p:cNvPr id="26" name="Text 24"/>
          <p:cNvSpPr/>
          <p:nvPr/>
        </p:nvSpPr>
        <p:spPr>
          <a:xfrm>
            <a:off x="50292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 de consulta:</a:t>
            </a:r>
            <a:endParaRPr lang="pt-PT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502920" y="1572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Converte o lexema para minúsculas.</a:t>
            </a:r>
            <a:endParaRPr lang="pt-PT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502920" y="1920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Pesquisa no </a:t>
            </a:r>
            <a:r>
              <a:rPr lang="pt-PT" sz="110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</a:t>
            </a: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PT" sz="1100" noProof="0" dirty="0"/>
          </a:p>
        </p:txBody>
      </p:sp>
      <p:sp>
        <p:nvSpPr>
          <p:cNvPr id="29" name="Text 27"/>
          <p:cNvSpPr/>
          <p:nvPr/>
        </p:nvSpPr>
        <p:spPr>
          <a:xfrm>
            <a:off x="502920" y="22677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Encontrou → É reservada! Devolve o </a:t>
            </a:r>
            <a:r>
              <a:rPr lang="pt-PT" sz="110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PT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502920" y="26151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Não encontrou → É um identificador do programador.</a:t>
            </a:r>
            <a:endParaRPr lang="pt-PT" sz="1100" noProof="0" dirty="0"/>
          </a:p>
        </p:txBody>
      </p:sp>
      <p:sp>
        <p:nvSpPr>
          <p:cNvPr id="31" name="Text 29"/>
          <p:cNvSpPr/>
          <p:nvPr/>
        </p:nvSpPr>
        <p:spPr>
          <a:xfrm>
            <a:off x="48006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</a:t>
            </a: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</a:t>
            </a:r>
            <a:r>
              <a:rPr lang="pt-PT" sz="11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</a:t>
            </a: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pt-PT" sz="1100" noProof="0" dirty="0"/>
          </a:p>
        </p:txBody>
      </p:sp>
      <p:sp>
        <p:nvSpPr>
          <p:cNvPr id="32" name="Shape 30"/>
          <p:cNvSpPr/>
          <p:nvPr/>
        </p:nvSpPr>
        <p:spPr>
          <a:xfrm>
            <a:off x="4800600" y="1572768"/>
            <a:ext cx="3977640" cy="2651760"/>
          </a:xfrm>
          <a:prstGeom prst="roundRect">
            <a:avLst>
              <a:gd name="adj" fmla="val 2759"/>
            </a:avLst>
          </a:prstGeom>
          <a:solidFill>
            <a:srgbClr val="08061A"/>
          </a:solidFill>
          <a:ln w="12700">
            <a:solidFill>
              <a:srgbClr val="46406B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3" name="Text 31"/>
          <p:cNvSpPr/>
          <p:nvPr/>
        </p:nvSpPr>
        <p:spPr>
          <a:xfrm>
            <a:off x="4919472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"se"</a:t>
            </a:r>
            <a:endParaRPr lang="pt-PT" sz="1000" noProof="0" dirty="0"/>
          </a:p>
        </p:txBody>
      </p:sp>
      <p:sp>
        <p:nvSpPr>
          <p:cNvPr id="34" name="Text 32"/>
          <p:cNvSpPr/>
          <p:nvPr/>
        </p:nvSpPr>
        <p:spPr>
          <a:xfrm>
            <a:off x="6236208" y="16642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pt-PT" sz="1000" noProof="0" dirty="0"/>
          </a:p>
        </p:txBody>
      </p:sp>
      <p:sp>
        <p:nvSpPr>
          <p:cNvPr id="35" name="Text 33"/>
          <p:cNvSpPr/>
          <p:nvPr/>
        </p:nvSpPr>
        <p:spPr>
          <a:xfrm>
            <a:off x="6473952" y="1664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Token.SE</a:t>
            </a:r>
            <a:endParaRPr lang="pt-PT" sz="1000" noProof="0" dirty="0"/>
          </a:p>
        </p:txBody>
      </p:sp>
      <p:sp>
        <p:nvSpPr>
          <p:cNvPr id="36" name="Text 34"/>
          <p:cNvSpPr/>
          <p:nvPr/>
        </p:nvSpPr>
        <p:spPr>
          <a:xfrm>
            <a:off x="4919472" y="20025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"para"</a:t>
            </a:r>
            <a:endParaRPr lang="pt-PT" sz="1000" noProof="0" dirty="0"/>
          </a:p>
        </p:txBody>
      </p:sp>
      <p:sp>
        <p:nvSpPr>
          <p:cNvPr id="37" name="Text 35"/>
          <p:cNvSpPr/>
          <p:nvPr/>
        </p:nvSpPr>
        <p:spPr>
          <a:xfrm>
            <a:off x="6236208" y="200253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pt-PT" sz="1000" noProof="0" dirty="0"/>
          </a:p>
        </p:txBody>
      </p:sp>
      <p:sp>
        <p:nvSpPr>
          <p:cNvPr id="38" name="Text 36"/>
          <p:cNvSpPr/>
          <p:nvPr/>
        </p:nvSpPr>
        <p:spPr>
          <a:xfrm>
            <a:off x="6473952" y="2002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Token.PARA</a:t>
            </a:r>
            <a:endParaRPr lang="pt-PT" sz="1000" noProof="0" dirty="0"/>
          </a:p>
        </p:txBody>
      </p:sp>
      <p:sp>
        <p:nvSpPr>
          <p:cNvPr id="39" name="Text 37"/>
          <p:cNvSpPr/>
          <p:nvPr/>
        </p:nvSpPr>
        <p:spPr>
          <a:xfrm>
            <a:off x="4919472" y="23408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"enquanto"</a:t>
            </a:r>
            <a:endParaRPr lang="pt-PT" sz="1000" noProof="0" dirty="0"/>
          </a:p>
        </p:txBody>
      </p:sp>
      <p:sp>
        <p:nvSpPr>
          <p:cNvPr id="40" name="Text 38"/>
          <p:cNvSpPr/>
          <p:nvPr/>
        </p:nvSpPr>
        <p:spPr>
          <a:xfrm>
            <a:off x="6236208" y="23408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pt-PT" sz="1000" noProof="0" dirty="0"/>
          </a:p>
        </p:txBody>
      </p:sp>
      <p:sp>
        <p:nvSpPr>
          <p:cNvPr id="41" name="Text 39"/>
          <p:cNvSpPr/>
          <p:nvPr/>
        </p:nvSpPr>
        <p:spPr>
          <a:xfrm>
            <a:off x="6473952" y="2340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Token.ENQUANTO</a:t>
            </a:r>
            <a:endParaRPr lang="pt-PT" sz="1000" noProof="0" dirty="0"/>
          </a:p>
        </p:txBody>
      </p:sp>
      <p:sp>
        <p:nvSpPr>
          <p:cNvPr id="42" name="Text 40"/>
          <p:cNvSpPr/>
          <p:nvPr/>
        </p:nvSpPr>
        <p:spPr>
          <a:xfrm>
            <a:off x="4919472" y="2679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"inteiro"</a:t>
            </a:r>
            <a:endParaRPr lang="pt-PT" sz="1000" noProof="0" dirty="0"/>
          </a:p>
        </p:txBody>
      </p:sp>
      <p:sp>
        <p:nvSpPr>
          <p:cNvPr id="43" name="Text 41"/>
          <p:cNvSpPr/>
          <p:nvPr/>
        </p:nvSpPr>
        <p:spPr>
          <a:xfrm>
            <a:off x="6236208" y="26791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pt-PT" sz="1000" noProof="0" dirty="0"/>
          </a:p>
        </p:txBody>
      </p:sp>
      <p:sp>
        <p:nvSpPr>
          <p:cNvPr id="44" name="Text 42"/>
          <p:cNvSpPr/>
          <p:nvPr/>
        </p:nvSpPr>
        <p:spPr>
          <a:xfrm>
            <a:off x="6473952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Token.INTEIRO</a:t>
            </a:r>
            <a:endParaRPr lang="pt-PT" sz="1000" noProof="0" dirty="0"/>
          </a:p>
        </p:txBody>
      </p:sp>
      <p:sp>
        <p:nvSpPr>
          <p:cNvPr id="45" name="Text 43"/>
          <p:cNvSpPr/>
          <p:nvPr/>
        </p:nvSpPr>
        <p:spPr>
          <a:xfrm>
            <a:off x="4919472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"verdadeiro"</a:t>
            </a:r>
            <a:endParaRPr lang="pt-PT" sz="1000" noProof="0" dirty="0"/>
          </a:p>
        </p:txBody>
      </p:sp>
      <p:sp>
        <p:nvSpPr>
          <p:cNvPr id="46" name="Text 44"/>
          <p:cNvSpPr/>
          <p:nvPr/>
        </p:nvSpPr>
        <p:spPr>
          <a:xfrm>
            <a:off x="6236208" y="30175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pt-PT" sz="1000" noProof="0" dirty="0"/>
          </a:p>
        </p:txBody>
      </p:sp>
      <p:sp>
        <p:nvSpPr>
          <p:cNvPr id="47" name="Text 45"/>
          <p:cNvSpPr/>
          <p:nvPr/>
        </p:nvSpPr>
        <p:spPr>
          <a:xfrm>
            <a:off x="6473952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Token.VERDADEIRO</a:t>
            </a:r>
            <a:endParaRPr lang="pt-PT" sz="1000" noProof="0" dirty="0"/>
          </a:p>
        </p:txBody>
      </p:sp>
      <p:sp>
        <p:nvSpPr>
          <p:cNvPr id="48" name="Text 46"/>
          <p:cNvSpPr/>
          <p:nvPr/>
        </p:nvSpPr>
        <p:spPr>
          <a:xfrm>
            <a:off x="4919472" y="3355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"mostrar"</a:t>
            </a:r>
            <a:endParaRPr lang="pt-PT" sz="1000" noProof="0" dirty="0"/>
          </a:p>
        </p:txBody>
      </p:sp>
      <p:sp>
        <p:nvSpPr>
          <p:cNvPr id="49" name="Text 47"/>
          <p:cNvSpPr/>
          <p:nvPr/>
        </p:nvSpPr>
        <p:spPr>
          <a:xfrm>
            <a:off x="6236208" y="33558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pt-PT" sz="1000" noProof="0" dirty="0"/>
          </a:p>
        </p:txBody>
      </p:sp>
      <p:sp>
        <p:nvSpPr>
          <p:cNvPr id="50" name="Text 48"/>
          <p:cNvSpPr/>
          <p:nvPr/>
        </p:nvSpPr>
        <p:spPr>
          <a:xfrm>
            <a:off x="6473952" y="3355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Token.MOSTRAR</a:t>
            </a:r>
            <a:endParaRPr lang="pt-PT" sz="1000" noProof="0" dirty="0"/>
          </a:p>
        </p:txBody>
      </p:sp>
      <p:sp>
        <p:nvSpPr>
          <p:cNvPr id="51" name="Text 49"/>
          <p:cNvSpPr/>
          <p:nvPr/>
        </p:nvSpPr>
        <p:spPr>
          <a:xfrm>
            <a:off x="4919472" y="3694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"tente"</a:t>
            </a:r>
            <a:endParaRPr lang="pt-PT" sz="1000" noProof="0" dirty="0"/>
          </a:p>
        </p:txBody>
      </p:sp>
      <p:sp>
        <p:nvSpPr>
          <p:cNvPr id="52" name="Text 50"/>
          <p:cNvSpPr/>
          <p:nvPr/>
        </p:nvSpPr>
        <p:spPr>
          <a:xfrm>
            <a:off x="6236208" y="369417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pt-PT" sz="1000" noProof="0" dirty="0"/>
          </a:p>
        </p:txBody>
      </p:sp>
      <p:sp>
        <p:nvSpPr>
          <p:cNvPr id="53" name="Text 51"/>
          <p:cNvSpPr/>
          <p:nvPr/>
        </p:nvSpPr>
        <p:spPr>
          <a:xfrm>
            <a:off x="6473952" y="36941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 err="1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Token.TENTE</a:t>
            </a:r>
            <a:endParaRPr lang="pt-PT" sz="1000" noProof="0" dirty="0"/>
          </a:p>
        </p:txBody>
      </p:sp>
      <p:sp>
        <p:nvSpPr>
          <p:cNvPr id="54" name="Text 52"/>
          <p:cNvSpPr/>
          <p:nvPr/>
        </p:nvSpPr>
        <p:spPr>
          <a:xfrm>
            <a:off x="4800600" y="427939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i="1" noProof="0" dirty="0">
                <a:solidFill>
                  <a:srgbClr val="AF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+ 17 mais  (24 palavras reservadas no total)</a:t>
            </a:r>
            <a:endParaRPr lang="pt-PT" sz="900" noProof="0" dirty="0"/>
          </a:p>
        </p:txBody>
      </p:sp>
      <p:sp>
        <p:nvSpPr>
          <p:cNvPr id="55" name="Shape 53"/>
          <p:cNvSpPr/>
          <p:nvPr/>
        </p:nvSpPr>
        <p:spPr>
          <a:xfrm>
            <a:off x="256032" y="4462272"/>
            <a:ext cx="4343400" cy="502920"/>
          </a:xfrm>
          <a:prstGeom prst="roundRect">
            <a:avLst>
              <a:gd name="adj" fmla="val 12727"/>
            </a:avLst>
          </a:prstGeom>
          <a:solidFill>
            <a:srgbClr val="46406B">
              <a:alpha val="3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6" name="Text 54"/>
          <p:cNvSpPr/>
          <p:nvPr/>
        </p:nvSpPr>
        <p:spPr>
          <a:xfrm>
            <a:off x="384048" y="4498848"/>
            <a:ext cx="4096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Hidra → Java: </a:t>
            </a:r>
            <a:r>
              <a:rPr lang="pt-PT" sz="900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se→if</a:t>
            </a:r>
            <a:r>
              <a:rPr lang="pt-PT" sz="900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PT" sz="900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para→for</a:t>
            </a:r>
            <a:r>
              <a:rPr lang="pt-PT" sz="900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PT" sz="900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enquanto→while</a:t>
            </a:r>
            <a:r>
              <a:rPr lang="pt-PT" sz="900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PT" sz="900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inteiro→int</a:t>
            </a:r>
            <a:r>
              <a:rPr lang="pt-PT" sz="900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PT" sz="900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real→double</a:t>
            </a:r>
            <a:r>
              <a:rPr lang="pt-PT" sz="900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PT" sz="900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tente→try</a:t>
            </a:r>
            <a:r>
              <a:rPr lang="pt-PT" sz="900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pt-PT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TabelaSimbolos</a:t>
            </a:r>
            <a:r>
              <a:rPr lang="pt-PT" sz="13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</a:t>
            </a:r>
            <a:r>
              <a:rPr lang="pt-PT" sz="13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</a:t>
            </a:r>
            <a:r>
              <a:rPr lang="pt-PT" sz="13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pt-PT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"/>
            <a:ext cx="813816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5" name="Text 23"/>
          <p:cNvSpPr/>
          <p:nvPr/>
        </p:nvSpPr>
        <p:spPr>
          <a:xfrm>
            <a:off x="502920" y="5669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Também implementada como </a:t>
            </a:r>
            <a:r>
              <a:rPr lang="pt-PT" sz="11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</a:t>
            </a: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Ao contrário da tabela de reservadas (estática), esta tabela cresce dinamicamente durante a análise — cada novo identificador encontrado é inserido automaticamente.</a:t>
            </a:r>
            <a:endParaRPr lang="pt-PT" sz="1150" noProof="0" dirty="0"/>
          </a:p>
        </p:txBody>
      </p:sp>
      <p:sp>
        <p:nvSpPr>
          <p:cNvPr id="26" name="Text 24"/>
          <p:cNvSpPr/>
          <p:nvPr/>
        </p:nvSpPr>
        <p:spPr>
          <a:xfrm>
            <a:off x="502920" y="13533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 de inserção/busca:</a:t>
            </a:r>
            <a:endParaRPr lang="pt-PT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50292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Identificador NÃO é palavra reservada.</a:t>
            </a:r>
            <a:endParaRPr lang="pt-PT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502920" y="2039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Pesquisa na </a:t>
            </a:r>
            <a:r>
              <a:rPr lang="pt-PT" sz="110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TabelaSimbolos</a:t>
            </a: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PT" sz="1100" noProof="0" dirty="0"/>
          </a:p>
        </p:txBody>
      </p:sp>
      <p:sp>
        <p:nvSpPr>
          <p:cNvPr id="29" name="Text 27"/>
          <p:cNvSpPr/>
          <p:nvPr/>
        </p:nvSpPr>
        <p:spPr>
          <a:xfrm>
            <a:off x="502920" y="23865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Existe → devolve o </a:t>
            </a:r>
            <a:r>
              <a:rPr lang="pt-PT" sz="110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 duplicar.</a:t>
            </a:r>
            <a:endParaRPr lang="pt-PT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502920" y="27340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Não existe → insere (nome + 1ª linha).</a:t>
            </a:r>
            <a:endParaRPr lang="pt-PT" sz="1100" noProof="0" dirty="0"/>
          </a:p>
        </p:txBody>
      </p:sp>
      <p:sp>
        <p:nvSpPr>
          <p:cNvPr id="31" name="Text 29"/>
          <p:cNvSpPr/>
          <p:nvPr/>
        </p:nvSpPr>
        <p:spPr>
          <a:xfrm>
            <a:off x="4800600" y="1353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gerada pelo programa de teste:</a:t>
            </a:r>
            <a:endParaRPr lang="pt-PT" sz="1100" noProof="0" dirty="0"/>
          </a:p>
        </p:txBody>
      </p:sp>
      <p:sp>
        <p:nvSpPr>
          <p:cNvPr id="32" name="Shape 30"/>
          <p:cNvSpPr/>
          <p:nvPr/>
        </p:nvSpPr>
        <p:spPr>
          <a:xfrm>
            <a:off x="4800600" y="169164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08061A"/>
          </a:solidFill>
          <a:ln w="12700">
            <a:solidFill>
              <a:srgbClr val="46406B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3" name="Text 31"/>
          <p:cNvSpPr/>
          <p:nvPr/>
        </p:nvSpPr>
        <p:spPr>
          <a:xfrm>
            <a:off x="4892040" y="17647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</a:t>
            </a:r>
            <a:endParaRPr lang="pt-PT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6446520" y="176479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</a:t>
            </a:r>
            <a:endParaRPr lang="pt-PT" sz="900" noProof="0" dirty="0"/>
          </a:p>
        </p:txBody>
      </p:sp>
      <p:sp>
        <p:nvSpPr>
          <p:cNvPr id="35" name="Text 33"/>
          <p:cNvSpPr/>
          <p:nvPr/>
        </p:nvSpPr>
        <p:spPr>
          <a:xfrm>
            <a:off x="7296912" y="17647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pt-PT" sz="900" noProof="0" dirty="0"/>
          </a:p>
        </p:txBody>
      </p:sp>
      <p:sp>
        <p:nvSpPr>
          <p:cNvPr id="36" name="Shape 34"/>
          <p:cNvSpPr/>
          <p:nvPr/>
        </p:nvSpPr>
        <p:spPr>
          <a:xfrm>
            <a:off x="4892040" y="2011680"/>
            <a:ext cx="374904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7" name="Shape 35"/>
          <p:cNvSpPr/>
          <p:nvPr/>
        </p:nvSpPr>
        <p:spPr>
          <a:xfrm>
            <a:off x="4892040" y="2075688"/>
            <a:ext cx="3749040" cy="301752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8" name="Text 36"/>
          <p:cNvSpPr/>
          <p:nvPr/>
        </p:nvSpPr>
        <p:spPr>
          <a:xfrm>
            <a:off x="4919472" y="20939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gestaovendas</a:t>
            </a:r>
            <a:endParaRPr lang="pt-PT" sz="900" noProof="0" dirty="0"/>
          </a:p>
        </p:txBody>
      </p:sp>
      <p:sp>
        <p:nvSpPr>
          <p:cNvPr id="39" name="Text 37"/>
          <p:cNvSpPr/>
          <p:nvPr/>
        </p:nvSpPr>
        <p:spPr>
          <a:xfrm>
            <a:off x="6446520" y="20939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9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pt-PT" sz="900" noProof="0" dirty="0"/>
          </a:p>
        </p:txBody>
      </p:sp>
      <p:sp>
        <p:nvSpPr>
          <p:cNvPr id="40" name="Text 38"/>
          <p:cNvSpPr/>
          <p:nvPr/>
        </p:nvSpPr>
        <p:spPr>
          <a:xfrm>
            <a:off x="7296912" y="20939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</a:t>
            </a:r>
            <a:endParaRPr lang="pt-PT" sz="900" noProof="0" dirty="0"/>
          </a:p>
        </p:txBody>
      </p:sp>
      <p:sp>
        <p:nvSpPr>
          <p:cNvPr id="41" name="Shape 39"/>
          <p:cNvSpPr/>
          <p:nvPr/>
        </p:nvSpPr>
        <p:spPr>
          <a:xfrm>
            <a:off x="4892040" y="2395728"/>
            <a:ext cx="3749040" cy="301752"/>
          </a:xfrm>
          <a:prstGeom prst="rect">
            <a:avLst/>
          </a:prstGeom>
          <a:solidFill>
            <a:srgbClr val="08061A">
              <a:alpha val="20000"/>
            </a:srgbClr>
          </a:solidFill>
          <a:ln w="12700">
            <a:solidFill>
              <a:srgbClr val="080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2" name="Text 40"/>
          <p:cNvSpPr/>
          <p:nvPr/>
        </p:nvSpPr>
        <p:spPr>
          <a:xfrm>
            <a:off x="4919472" y="241401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endParaRPr lang="pt-PT" sz="900" noProof="0" dirty="0"/>
          </a:p>
        </p:txBody>
      </p:sp>
      <p:sp>
        <p:nvSpPr>
          <p:cNvPr id="43" name="Text 41"/>
          <p:cNvSpPr/>
          <p:nvPr/>
        </p:nvSpPr>
        <p:spPr>
          <a:xfrm>
            <a:off x="6446520" y="2414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9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pt-PT" sz="900" noProof="0" dirty="0"/>
          </a:p>
        </p:txBody>
      </p:sp>
      <p:sp>
        <p:nvSpPr>
          <p:cNvPr id="44" name="Text 42"/>
          <p:cNvSpPr/>
          <p:nvPr/>
        </p:nvSpPr>
        <p:spPr>
          <a:xfrm>
            <a:off x="7296912" y="24140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</a:t>
            </a:r>
            <a:endParaRPr lang="pt-PT" sz="900" noProof="0" dirty="0"/>
          </a:p>
        </p:txBody>
      </p:sp>
      <p:sp>
        <p:nvSpPr>
          <p:cNvPr id="45" name="Shape 43"/>
          <p:cNvSpPr/>
          <p:nvPr/>
        </p:nvSpPr>
        <p:spPr>
          <a:xfrm>
            <a:off x="4892040" y="2715768"/>
            <a:ext cx="3749040" cy="301752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6" name="Text 44"/>
          <p:cNvSpPr/>
          <p:nvPr/>
        </p:nvSpPr>
        <p:spPr>
          <a:xfrm>
            <a:off x="4919472" y="27340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calculariva</a:t>
            </a:r>
            <a:endParaRPr lang="pt-PT" sz="900" noProof="0" dirty="0"/>
          </a:p>
        </p:txBody>
      </p:sp>
      <p:sp>
        <p:nvSpPr>
          <p:cNvPr id="47" name="Text 45"/>
          <p:cNvSpPr/>
          <p:nvPr/>
        </p:nvSpPr>
        <p:spPr>
          <a:xfrm>
            <a:off x="6446520" y="2734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9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pt-PT" sz="900" noProof="0" dirty="0"/>
          </a:p>
        </p:txBody>
      </p:sp>
      <p:sp>
        <p:nvSpPr>
          <p:cNvPr id="48" name="Text 46"/>
          <p:cNvSpPr/>
          <p:nvPr/>
        </p:nvSpPr>
        <p:spPr>
          <a:xfrm>
            <a:off x="7296912" y="27340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</a:t>
            </a:r>
            <a:endParaRPr lang="pt-PT" sz="900" noProof="0" dirty="0"/>
          </a:p>
        </p:txBody>
      </p:sp>
      <p:sp>
        <p:nvSpPr>
          <p:cNvPr id="49" name="Shape 47"/>
          <p:cNvSpPr/>
          <p:nvPr/>
        </p:nvSpPr>
        <p:spPr>
          <a:xfrm>
            <a:off x="4892040" y="3035808"/>
            <a:ext cx="3749040" cy="301752"/>
          </a:xfrm>
          <a:prstGeom prst="rect">
            <a:avLst/>
          </a:prstGeom>
          <a:solidFill>
            <a:srgbClr val="08061A">
              <a:alpha val="20000"/>
            </a:srgbClr>
          </a:solidFill>
          <a:ln w="12700">
            <a:solidFill>
              <a:srgbClr val="080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0" name="Text 48"/>
          <p:cNvSpPr/>
          <p:nvPr/>
        </p:nvSpPr>
        <p:spPr>
          <a:xfrm>
            <a:off x="4919472" y="305409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</a:t>
            </a:r>
            <a:endParaRPr lang="pt-PT" sz="900" noProof="0" dirty="0"/>
          </a:p>
        </p:txBody>
      </p:sp>
      <p:sp>
        <p:nvSpPr>
          <p:cNvPr id="51" name="Text 49"/>
          <p:cNvSpPr/>
          <p:nvPr/>
        </p:nvSpPr>
        <p:spPr>
          <a:xfrm>
            <a:off x="6446520" y="30540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9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pt-PT" sz="900" noProof="0" dirty="0"/>
          </a:p>
        </p:txBody>
      </p:sp>
      <p:sp>
        <p:nvSpPr>
          <p:cNvPr id="52" name="Text 50"/>
          <p:cNvSpPr/>
          <p:nvPr/>
        </p:nvSpPr>
        <p:spPr>
          <a:xfrm>
            <a:off x="7296912" y="30540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</a:t>
            </a:r>
            <a:endParaRPr lang="pt-PT" sz="900" noProof="0" dirty="0"/>
          </a:p>
        </p:txBody>
      </p:sp>
      <p:sp>
        <p:nvSpPr>
          <p:cNvPr id="53" name="Shape 51"/>
          <p:cNvSpPr/>
          <p:nvPr/>
        </p:nvSpPr>
        <p:spPr>
          <a:xfrm>
            <a:off x="4892040" y="3355848"/>
            <a:ext cx="3749040" cy="301752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4" name="Text 52"/>
          <p:cNvSpPr/>
          <p:nvPr/>
        </p:nvSpPr>
        <p:spPr>
          <a:xfrm>
            <a:off x="4919472" y="3374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pt-PT" sz="900" noProof="0" dirty="0"/>
          </a:p>
        </p:txBody>
      </p:sp>
      <p:sp>
        <p:nvSpPr>
          <p:cNvPr id="55" name="Text 53"/>
          <p:cNvSpPr/>
          <p:nvPr/>
        </p:nvSpPr>
        <p:spPr>
          <a:xfrm>
            <a:off x="6446520" y="33741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9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pt-PT" sz="900" noProof="0" dirty="0"/>
          </a:p>
        </p:txBody>
      </p:sp>
      <p:sp>
        <p:nvSpPr>
          <p:cNvPr id="56" name="Text 54"/>
          <p:cNvSpPr/>
          <p:nvPr/>
        </p:nvSpPr>
        <p:spPr>
          <a:xfrm>
            <a:off x="7296912" y="33741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</a:t>
            </a:r>
            <a:endParaRPr lang="pt-PT" sz="900" noProof="0" dirty="0"/>
          </a:p>
        </p:txBody>
      </p:sp>
      <p:sp>
        <p:nvSpPr>
          <p:cNvPr id="57" name="Shape 55"/>
          <p:cNvSpPr/>
          <p:nvPr/>
        </p:nvSpPr>
        <p:spPr>
          <a:xfrm>
            <a:off x="4892040" y="3675888"/>
            <a:ext cx="3749040" cy="301752"/>
          </a:xfrm>
          <a:prstGeom prst="rect">
            <a:avLst/>
          </a:prstGeom>
          <a:solidFill>
            <a:srgbClr val="08061A">
              <a:alpha val="20000"/>
            </a:srgbClr>
          </a:solidFill>
          <a:ln w="12700">
            <a:solidFill>
              <a:srgbClr val="080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8" name="Text 56"/>
          <p:cNvSpPr/>
          <p:nvPr/>
        </p:nvSpPr>
        <p:spPr>
          <a:xfrm>
            <a:off x="4919472" y="36941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</a:t>
            </a:r>
            <a:endParaRPr lang="pt-PT" sz="900" noProof="0" dirty="0"/>
          </a:p>
        </p:txBody>
      </p:sp>
      <p:sp>
        <p:nvSpPr>
          <p:cNvPr id="59" name="Text 57"/>
          <p:cNvSpPr/>
          <p:nvPr/>
        </p:nvSpPr>
        <p:spPr>
          <a:xfrm>
            <a:off x="6446520" y="36941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9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pt-PT" sz="900" noProof="0" dirty="0"/>
          </a:p>
        </p:txBody>
      </p:sp>
      <p:sp>
        <p:nvSpPr>
          <p:cNvPr id="60" name="Text 58"/>
          <p:cNvSpPr/>
          <p:nvPr/>
        </p:nvSpPr>
        <p:spPr>
          <a:xfrm>
            <a:off x="7296912" y="36941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</a:t>
            </a:r>
            <a:endParaRPr lang="pt-PT" sz="900" noProof="0" dirty="0"/>
          </a:p>
        </p:txBody>
      </p:sp>
      <p:sp>
        <p:nvSpPr>
          <p:cNvPr id="61" name="Shape 59"/>
          <p:cNvSpPr/>
          <p:nvPr/>
        </p:nvSpPr>
        <p:spPr>
          <a:xfrm>
            <a:off x="4892040" y="3995928"/>
            <a:ext cx="3749040" cy="301752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2" name="Text 60"/>
          <p:cNvSpPr/>
          <p:nvPr/>
        </p:nvSpPr>
        <p:spPr>
          <a:xfrm>
            <a:off x="4919472" y="401421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pt-PT" sz="900" noProof="0" dirty="0"/>
          </a:p>
        </p:txBody>
      </p:sp>
      <p:sp>
        <p:nvSpPr>
          <p:cNvPr id="63" name="Text 61"/>
          <p:cNvSpPr/>
          <p:nvPr/>
        </p:nvSpPr>
        <p:spPr>
          <a:xfrm>
            <a:off x="6446520" y="40142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9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pt-PT" sz="900" noProof="0" dirty="0"/>
          </a:p>
        </p:txBody>
      </p:sp>
      <p:sp>
        <p:nvSpPr>
          <p:cNvPr id="64" name="Text 62"/>
          <p:cNvSpPr/>
          <p:nvPr/>
        </p:nvSpPr>
        <p:spPr>
          <a:xfrm>
            <a:off x="7296912" y="40142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</a:t>
            </a:r>
            <a:endParaRPr lang="pt-PT" sz="900" noProof="0" dirty="0"/>
          </a:p>
        </p:txBody>
      </p:sp>
      <p:sp>
        <p:nvSpPr>
          <p:cNvPr id="65" name="Text 63"/>
          <p:cNvSpPr/>
          <p:nvPr/>
        </p:nvSpPr>
        <p:spPr>
          <a:xfrm>
            <a:off x="4800600" y="44805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i="1" noProof="0" dirty="0">
                <a:solidFill>
                  <a:srgbClr val="AF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Gerada automaticamente durante a análise léxica.</a:t>
            </a:r>
            <a:endParaRPr lang="pt-PT" sz="9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Shape 21"/>
          <p:cNvSpPr/>
          <p:nvPr/>
        </p:nvSpPr>
        <p:spPr>
          <a:xfrm rot="5400000">
            <a:off x="2926080" y="2148840"/>
            <a:ext cx="268834" cy="384048"/>
          </a:xfrm>
          <a:prstGeom prst="rtTriangle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4" name="Text 22"/>
          <p:cNvSpPr/>
          <p:nvPr/>
        </p:nvSpPr>
        <p:spPr>
          <a:xfrm>
            <a:off x="3456432" y="202996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4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</a:t>
            </a:r>
            <a:endParaRPr lang="pt-PT" sz="3400" noProof="0" dirty="0"/>
          </a:p>
        </p:txBody>
      </p:sp>
      <p:sp>
        <p:nvSpPr>
          <p:cNvPr id="25" name="Text 23"/>
          <p:cNvSpPr/>
          <p:nvPr/>
        </p:nvSpPr>
        <p:spPr>
          <a:xfrm>
            <a:off x="3456432" y="248716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4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PROJECTO</a:t>
            </a:r>
            <a:endParaRPr lang="pt-PT" sz="34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Correr o </a:t>
            </a:r>
            <a:r>
              <a:rPr lang="pt-PT" sz="13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AnaLex</a:t>
            </a:r>
            <a:endParaRPr lang="pt-PT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"/>
            <a:ext cx="813816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5" name="Text 23"/>
          <p:cNvSpPr/>
          <p:nvPr/>
        </p:nvSpPr>
        <p:spPr>
          <a:xfrm>
            <a:off x="50292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Navegar para a pasta do </a:t>
            </a:r>
            <a:r>
              <a:rPr lang="pt-PT" sz="110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projecto</a:t>
            </a:r>
            <a:r>
              <a:rPr lang="pt-PT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pt-PT" sz="1100" noProof="0" dirty="0"/>
          </a:p>
        </p:txBody>
      </p:sp>
      <p:sp>
        <p:nvSpPr>
          <p:cNvPr id="26" name="Shape 24"/>
          <p:cNvSpPr/>
          <p:nvPr/>
        </p:nvSpPr>
        <p:spPr>
          <a:xfrm>
            <a:off x="502920" y="896112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08061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7" name="Text 25"/>
          <p:cNvSpPr/>
          <p:nvPr/>
        </p:nvSpPr>
        <p:spPr>
          <a:xfrm>
            <a:off x="640080" y="91440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/d "G:\FENG\Compiladores\PROJECTO\PROJECTO REAL\</a:t>
            </a:r>
            <a:r>
              <a:rPr lang="pt-PT" sz="100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hidra_lexer</a:t>
            </a: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pt-PT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502920" y="1627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Compilar:</a:t>
            </a:r>
            <a:endParaRPr lang="pt-PT" sz="1100" noProof="0" dirty="0"/>
          </a:p>
        </p:txBody>
      </p:sp>
      <p:sp>
        <p:nvSpPr>
          <p:cNvPr id="29" name="Shape 27"/>
          <p:cNvSpPr/>
          <p:nvPr/>
        </p:nvSpPr>
        <p:spPr>
          <a:xfrm>
            <a:off x="502920" y="1901952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08061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0" name="Text 28"/>
          <p:cNvSpPr/>
          <p:nvPr/>
        </p:nvSpPr>
        <p:spPr>
          <a:xfrm>
            <a:off x="640080" y="192024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</a:t>
            </a: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r>
              <a:rPr lang="pt-PT" sz="100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</a:t>
            </a: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UTF-8 -d bin </a:t>
            </a:r>
            <a:r>
              <a:rPr lang="pt-PT" sz="100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\hidra\*.java</a:t>
            </a:r>
            <a:endParaRPr lang="pt-PT" sz="1000" noProof="0" dirty="0"/>
          </a:p>
        </p:txBody>
      </p:sp>
      <p:sp>
        <p:nvSpPr>
          <p:cNvPr id="31" name="Text 29"/>
          <p:cNvSpPr/>
          <p:nvPr/>
        </p:nvSpPr>
        <p:spPr>
          <a:xfrm>
            <a:off x="502920" y="2633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Testar com programa de teste interno:</a:t>
            </a:r>
            <a:endParaRPr lang="pt-PT" sz="1100" noProof="0" dirty="0"/>
          </a:p>
        </p:txBody>
      </p:sp>
      <p:sp>
        <p:nvSpPr>
          <p:cNvPr id="32" name="Shape 30"/>
          <p:cNvSpPr/>
          <p:nvPr/>
        </p:nvSpPr>
        <p:spPr>
          <a:xfrm>
            <a:off x="502920" y="2907792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08061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3" name="Text 31"/>
          <p:cNvSpPr/>
          <p:nvPr/>
        </p:nvSpPr>
        <p:spPr>
          <a:xfrm>
            <a:off x="640080" y="292608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</a:t>
            </a:r>
            <a:r>
              <a:rPr lang="pt-PT" sz="100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Dfile.encoding</a:t>
            </a: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=UTF-8 -</a:t>
            </a:r>
            <a:r>
              <a:rPr lang="pt-PT" sz="100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bin </a:t>
            </a:r>
            <a:r>
              <a:rPr lang="pt-PT" sz="100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hidra.Main</a:t>
            </a:r>
            <a:endParaRPr lang="pt-PT" sz="1000" noProof="0" dirty="0"/>
          </a:p>
        </p:txBody>
      </p:sp>
      <p:sp>
        <p:nvSpPr>
          <p:cNvPr id="34" name="Text 32"/>
          <p:cNvSpPr/>
          <p:nvPr/>
        </p:nvSpPr>
        <p:spPr>
          <a:xfrm>
            <a:off x="502920" y="3639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Testar com ficheiro próprio:</a:t>
            </a:r>
            <a:endParaRPr lang="pt-PT" sz="1100" noProof="0" dirty="0"/>
          </a:p>
        </p:txBody>
      </p:sp>
      <p:sp>
        <p:nvSpPr>
          <p:cNvPr id="35" name="Shape 33"/>
          <p:cNvSpPr/>
          <p:nvPr/>
        </p:nvSpPr>
        <p:spPr>
          <a:xfrm>
            <a:off x="502920" y="3913632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08061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6" name="Text 34"/>
          <p:cNvSpPr/>
          <p:nvPr/>
        </p:nvSpPr>
        <p:spPr>
          <a:xfrm>
            <a:off x="640080" y="393192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</a:t>
            </a:r>
            <a:r>
              <a:rPr lang="pt-PT" sz="100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Dfile.encoding</a:t>
            </a: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=UTF-8 -</a:t>
            </a:r>
            <a:r>
              <a:rPr lang="pt-PT" sz="100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bin </a:t>
            </a:r>
            <a:r>
              <a:rPr lang="pt-PT" sz="100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hidra.Main</a:t>
            </a:r>
            <a:r>
              <a:rPr lang="pt-PT" sz="100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PT" sz="100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meu_programa.hidra</a:t>
            </a:r>
            <a:endParaRPr lang="pt-PT" sz="10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3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da Análise Léxica:</a:t>
            </a:r>
            <a:endParaRPr lang="pt-PT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"/>
            <a:ext cx="8138160" cy="0"/>
          </a:xfrm>
          <a:prstGeom prst="line">
            <a:avLst/>
          </a:prstGeom>
          <a:noFill/>
          <a:ln w="12700">
            <a:solidFill>
              <a:srgbClr val="00CAD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5" name="Text 23"/>
          <p:cNvSpPr/>
          <p:nvPr/>
        </p:nvSpPr>
        <p:spPr>
          <a:xfrm>
            <a:off x="502920" y="594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meu_programa.hidra</a:t>
            </a:r>
            <a:endParaRPr lang="pt-PT" sz="1000" noProof="0" dirty="0"/>
          </a:p>
        </p:txBody>
      </p:sp>
      <p:sp>
        <p:nvSpPr>
          <p:cNvPr id="26" name="Shape 24"/>
          <p:cNvSpPr/>
          <p:nvPr/>
        </p:nvSpPr>
        <p:spPr>
          <a:xfrm>
            <a:off x="502920" y="8686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08061A"/>
          </a:solidFill>
          <a:ln w="12700">
            <a:solidFill>
              <a:srgbClr val="46406B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7" name="Text 25"/>
          <p:cNvSpPr/>
          <p:nvPr/>
        </p:nvSpPr>
        <p:spPr>
          <a:xfrm>
            <a:off x="621792" y="932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 </a:t>
            </a:r>
            <a:r>
              <a:rPr lang="pt-PT" sz="90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MinhaLoja</a:t>
            </a: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pt-PT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621792" y="1170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pt-PT" sz="90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funcao</a:t>
            </a: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principal() {</a:t>
            </a:r>
            <a:endParaRPr lang="pt-PT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621792" y="1408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inteiro </a:t>
            </a:r>
            <a:r>
              <a:rPr lang="pt-PT" sz="90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</a:t>
            </a: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50</a:t>
            </a:r>
            <a:endParaRPr lang="pt-PT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621792" y="1645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real </a:t>
            </a:r>
            <a:r>
              <a:rPr lang="pt-PT" sz="90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99.90</a:t>
            </a:r>
            <a:endParaRPr lang="pt-PT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621792" y="18836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 (</a:t>
            </a:r>
            <a:r>
              <a:rPr lang="pt-PT" sz="900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</a:t>
            </a: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0) {</a:t>
            </a:r>
            <a:endParaRPr lang="pt-PT" sz="900" noProof="0" dirty="0"/>
          </a:p>
        </p:txBody>
      </p:sp>
      <p:sp>
        <p:nvSpPr>
          <p:cNvPr id="32" name="Text 30"/>
          <p:cNvSpPr/>
          <p:nvPr/>
        </p:nvSpPr>
        <p:spPr>
          <a:xfrm>
            <a:off x="621792" y="21214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mostrar("Ok!")</a:t>
            </a:r>
            <a:endParaRPr lang="pt-PT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621792" y="23591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pt-PT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621792" y="2596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pt-PT" sz="900" noProof="0" dirty="0"/>
          </a:p>
        </p:txBody>
      </p:sp>
      <p:sp>
        <p:nvSpPr>
          <p:cNvPr id="35" name="Text 33"/>
          <p:cNvSpPr/>
          <p:nvPr/>
        </p:nvSpPr>
        <p:spPr>
          <a:xfrm>
            <a:off x="621792" y="2834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900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pt-PT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4754880" y="594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0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r>
              <a:rPr lang="pt-PT" sz="10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produzidos:</a:t>
            </a:r>
            <a:endParaRPr lang="pt-PT" sz="1000" noProof="0" dirty="0"/>
          </a:p>
        </p:txBody>
      </p:sp>
      <p:sp>
        <p:nvSpPr>
          <p:cNvPr id="37" name="Shape 35"/>
          <p:cNvSpPr/>
          <p:nvPr/>
        </p:nvSpPr>
        <p:spPr>
          <a:xfrm>
            <a:off x="4754880" y="868680"/>
            <a:ext cx="4096512" cy="2286000"/>
          </a:xfrm>
          <a:prstGeom prst="roundRect">
            <a:avLst>
              <a:gd name="adj" fmla="val 3200"/>
            </a:avLst>
          </a:prstGeom>
          <a:solidFill>
            <a:srgbClr val="08061A"/>
          </a:solidFill>
          <a:ln w="12700">
            <a:solidFill>
              <a:srgbClr val="46406B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8" name="Text 36"/>
          <p:cNvSpPr/>
          <p:nvPr/>
        </p:nvSpPr>
        <p:spPr>
          <a:xfrm>
            <a:off x="4846320" y="9144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| </a:t>
            </a:r>
            <a:r>
              <a:rPr lang="pt-PT" sz="850" noProof="0" dirty="0" err="1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r>
              <a:rPr lang="pt-PT" sz="850" noProof="0" dirty="0">
                <a:solidFill>
                  <a:srgbClr val="00C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| Atributo</a:t>
            </a:r>
            <a:endParaRPr lang="pt-PT" sz="850" noProof="0" dirty="0"/>
          </a:p>
        </p:txBody>
      </p:sp>
      <p:sp>
        <p:nvSpPr>
          <p:cNvPr id="39" name="Shape 37"/>
          <p:cNvSpPr/>
          <p:nvPr/>
        </p:nvSpPr>
        <p:spPr>
          <a:xfrm>
            <a:off x="4846320" y="1133856"/>
            <a:ext cx="3840480" cy="0"/>
          </a:xfrm>
          <a:prstGeom prst="line">
            <a:avLst/>
          </a:prstGeom>
          <a:noFill/>
          <a:ln w="12700">
            <a:solidFill>
              <a:srgbClr val="00CAD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0" name="Shape 38"/>
          <p:cNvSpPr/>
          <p:nvPr/>
        </p:nvSpPr>
        <p:spPr>
          <a:xfrm>
            <a:off x="4846320" y="1170432"/>
            <a:ext cx="3840480" cy="228600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1" name="Text 39"/>
          <p:cNvSpPr/>
          <p:nvPr/>
        </p:nvSpPr>
        <p:spPr>
          <a:xfrm>
            <a:off x="4873752" y="1188720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850" noProof="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pt-PT" sz="850" noProof="0" dirty="0"/>
          </a:p>
        </p:txBody>
      </p:sp>
      <p:sp>
        <p:nvSpPr>
          <p:cNvPr id="42" name="Text 40"/>
          <p:cNvSpPr/>
          <p:nvPr/>
        </p:nvSpPr>
        <p:spPr>
          <a:xfrm>
            <a:off x="5257800" y="1188720"/>
            <a:ext cx="1664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</a:t>
            </a:r>
            <a:endParaRPr lang="pt-PT" sz="850" noProof="0" dirty="0"/>
          </a:p>
        </p:txBody>
      </p:sp>
      <p:sp>
        <p:nvSpPr>
          <p:cNvPr id="43" name="Text 41"/>
          <p:cNvSpPr/>
          <p:nvPr/>
        </p:nvSpPr>
        <p:spPr>
          <a:xfrm>
            <a:off x="6967728" y="1188720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pt-PT" sz="850" noProof="0" dirty="0"/>
          </a:p>
        </p:txBody>
      </p:sp>
      <p:sp>
        <p:nvSpPr>
          <p:cNvPr id="44" name="Shape 42"/>
          <p:cNvSpPr/>
          <p:nvPr/>
        </p:nvSpPr>
        <p:spPr>
          <a:xfrm>
            <a:off x="4846320" y="1408176"/>
            <a:ext cx="3840480" cy="228600"/>
          </a:xfrm>
          <a:prstGeom prst="rect">
            <a:avLst/>
          </a:prstGeom>
          <a:solidFill>
            <a:srgbClr val="08061A">
              <a:alpha val="20000"/>
            </a:srgbClr>
          </a:solidFill>
          <a:ln w="12700">
            <a:solidFill>
              <a:srgbClr val="080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5" name="Text 43"/>
          <p:cNvSpPr/>
          <p:nvPr/>
        </p:nvSpPr>
        <p:spPr>
          <a:xfrm>
            <a:off x="4873752" y="1426464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850" noProof="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pt-PT" sz="850" noProof="0" dirty="0"/>
          </a:p>
        </p:txBody>
      </p:sp>
      <p:sp>
        <p:nvSpPr>
          <p:cNvPr id="46" name="Text 44"/>
          <p:cNvSpPr/>
          <p:nvPr/>
        </p:nvSpPr>
        <p:spPr>
          <a:xfrm>
            <a:off x="5257800" y="1426464"/>
            <a:ext cx="1664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</a:t>
            </a:r>
            <a:endParaRPr lang="pt-PT" sz="850" noProof="0" dirty="0"/>
          </a:p>
        </p:txBody>
      </p:sp>
      <p:sp>
        <p:nvSpPr>
          <p:cNvPr id="47" name="Text 45"/>
          <p:cNvSpPr/>
          <p:nvPr/>
        </p:nvSpPr>
        <p:spPr>
          <a:xfrm>
            <a:off x="6967728" y="1426464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pt-PT" sz="850" noProof="0" dirty="0" err="1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minhaloja</a:t>
            </a:r>
            <a:r>
              <a:rPr lang="pt-PT" sz="850" noProof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pt-PT" sz="850" noProof="0" dirty="0"/>
          </a:p>
        </p:txBody>
      </p:sp>
      <p:sp>
        <p:nvSpPr>
          <p:cNvPr id="48" name="Shape 46"/>
          <p:cNvSpPr/>
          <p:nvPr/>
        </p:nvSpPr>
        <p:spPr>
          <a:xfrm>
            <a:off x="4846320" y="1645920"/>
            <a:ext cx="3840480" cy="228600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9" name="Text 47"/>
          <p:cNvSpPr/>
          <p:nvPr/>
        </p:nvSpPr>
        <p:spPr>
          <a:xfrm>
            <a:off x="4873752" y="1664208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850" noProof="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pt-PT" sz="850" noProof="0" dirty="0"/>
          </a:p>
        </p:txBody>
      </p:sp>
      <p:sp>
        <p:nvSpPr>
          <p:cNvPr id="50" name="Text 48"/>
          <p:cNvSpPr/>
          <p:nvPr/>
        </p:nvSpPr>
        <p:spPr>
          <a:xfrm>
            <a:off x="5257800" y="1664208"/>
            <a:ext cx="1664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FUNCAO</a:t>
            </a:r>
            <a:endParaRPr lang="pt-PT" sz="850" noProof="0" dirty="0"/>
          </a:p>
        </p:txBody>
      </p:sp>
      <p:sp>
        <p:nvSpPr>
          <p:cNvPr id="51" name="Text 49"/>
          <p:cNvSpPr/>
          <p:nvPr/>
        </p:nvSpPr>
        <p:spPr>
          <a:xfrm>
            <a:off x="6967728" y="166420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pt-PT" sz="850" noProof="0" dirty="0"/>
          </a:p>
        </p:txBody>
      </p:sp>
      <p:sp>
        <p:nvSpPr>
          <p:cNvPr id="52" name="Shape 50"/>
          <p:cNvSpPr/>
          <p:nvPr/>
        </p:nvSpPr>
        <p:spPr>
          <a:xfrm>
            <a:off x="4846320" y="1883664"/>
            <a:ext cx="3840480" cy="228600"/>
          </a:xfrm>
          <a:prstGeom prst="rect">
            <a:avLst/>
          </a:prstGeom>
          <a:solidFill>
            <a:srgbClr val="08061A">
              <a:alpha val="20000"/>
            </a:srgbClr>
          </a:solidFill>
          <a:ln w="12700">
            <a:solidFill>
              <a:srgbClr val="080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3" name="Text 51"/>
          <p:cNvSpPr/>
          <p:nvPr/>
        </p:nvSpPr>
        <p:spPr>
          <a:xfrm>
            <a:off x="4873752" y="190195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850" noProof="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pt-PT" sz="850" noProof="0" dirty="0"/>
          </a:p>
        </p:txBody>
      </p:sp>
      <p:sp>
        <p:nvSpPr>
          <p:cNvPr id="54" name="Text 52"/>
          <p:cNvSpPr/>
          <p:nvPr/>
        </p:nvSpPr>
        <p:spPr>
          <a:xfrm>
            <a:off x="5257800" y="1901952"/>
            <a:ext cx="1664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</a:t>
            </a:r>
            <a:endParaRPr lang="pt-PT" sz="850" noProof="0" dirty="0"/>
          </a:p>
        </p:txBody>
      </p:sp>
      <p:sp>
        <p:nvSpPr>
          <p:cNvPr id="55" name="Text 53"/>
          <p:cNvSpPr/>
          <p:nvPr/>
        </p:nvSpPr>
        <p:spPr>
          <a:xfrm>
            <a:off x="6967728" y="1901952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"principal"</a:t>
            </a:r>
            <a:endParaRPr lang="pt-PT" sz="850" noProof="0" dirty="0"/>
          </a:p>
        </p:txBody>
      </p:sp>
      <p:sp>
        <p:nvSpPr>
          <p:cNvPr id="56" name="Shape 54"/>
          <p:cNvSpPr/>
          <p:nvPr/>
        </p:nvSpPr>
        <p:spPr>
          <a:xfrm>
            <a:off x="4846320" y="2121408"/>
            <a:ext cx="3840480" cy="228600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7" name="Text 55"/>
          <p:cNvSpPr/>
          <p:nvPr/>
        </p:nvSpPr>
        <p:spPr>
          <a:xfrm>
            <a:off x="4873752" y="2139696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850" noProof="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pt-PT" sz="850" noProof="0" dirty="0"/>
          </a:p>
        </p:txBody>
      </p:sp>
      <p:sp>
        <p:nvSpPr>
          <p:cNvPr id="58" name="Text 56"/>
          <p:cNvSpPr/>
          <p:nvPr/>
        </p:nvSpPr>
        <p:spPr>
          <a:xfrm>
            <a:off x="5257800" y="2139696"/>
            <a:ext cx="1664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INTEIRO</a:t>
            </a:r>
            <a:endParaRPr lang="pt-PT" sz="850" noProof="0" dirty="0"/>
          </a:p>
        </p:txBody>
      </p:sp>
      <p:sp>
        <p:nvSpPr>
          <p:cNvPr id="59" name="Text 57"/>
          <p:cNvSpPr/>
          <p:nvPr/>
        </p:nvSpPr>
        <p:spPr>
          <a:xfrm>
            <a:off x="6967728" y="2139696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pt-PT" sz="850" noProof="0" dirty="0"/>
          </a:p>
        </p:txBody>
      </p:sp>
      <p:sp>
        <p:nvSpPr>
          <p:cNvPr id="60" name="Shape 58"/>
          <p:cNvSpPr/>
          <p:nvPr/>
        </p:nvSpPr>
        <p:spPr>
          <a:xfrm>
            <a:off x="4846320" y="2359152"/>
            <a:ext cx="3840480" cy="228600"/>
          </a:xfrm>
          <a:prstGeom prst="rect">
            <a:avLst/>
          </a:prstGeom>
          <a:solidFill>
            <a:srgbClr val="08061A">
              <a:alpha val="20000"/>
            </a:srgbClr>
          </a:solidFill>
          <a:ln w="12700">
            <a:solidFill>
              <a:srgbClr val="080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1" name="Text 59"/>
          <p:cNvSpPr/>
          <p:nvPr/>
        </p:nvSpPr>
        <p:spPr>
          <a:xfrm>
            <a:off x="4873752" y="2377440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850" noProof="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pt-PT" sz="850" noProof="0" dirty="0"/>
          </a:p>
        </p:txBody>
      </p:sp>
      <p:sp>
        <p:nvSpPr>
          <p:cNvPr id="62" name="Text 60"/>
          <p:cNvSpPr/>
          <p:nvPr/>
        </p:nvSpPr>
        <p:spPr>
          <a:xfrm>
            <a:off x="5257800" y="2377440"/>
            <a:ext cx="1664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</a:t>
            </a:r>
            <a:endParaRPr lang="pt-PT" sz="850" noProof="0" dirty="0"/>
          </a:p>
        </p:txBody>
      </p:sp>
      <p:sp>
        <p:nvSpPr>
          <p:cNvPr id="63" name="Text 61"/>
          <p:cNvSpPr/>
          <p:nvPr/>
        </p:nvSpPr>
        <p:spPr>
          <a:xfrm>
            <a:off x="6967728" y="2377440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pt-PT" sz="850" noProof="0" dirty="0" err="1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</a:t>
            </a:r>
            <a:r>
              <a:rPr lang="pt-PT" sz="850" noProof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pt-PT" sz="850" noProof="0" dirty="0"/>
          </a:p>
        </p:txBody>
      </p:sp>
      <p:sp>
        <p:nvSpPr>
          <p:cNvPr id="64" name="Shape 62"/>
          <p:cNvSpPr/>
          <p:nvPr/>
        </p:nvSpPr>
        <p:spPr>
          <a:xfrm>
            <a:off x="4846320" y="2596896"/>
            <a:ext cx="3840480" cy="228600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5" name="Text 63"/>
          <p:cNvSpPr/>
          <p:nvPr/>
        </p:nvSpPr>
        <p:spPr>
          <a:xfrm>
            <a:off x="4873752" y="2615184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850" noProof="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pt-PT" sz="850" noProof="0" dirty="0"/>
          </a:p>
        </p:txBody>
      </p:sp>
      <p:sp>
        <p:nvSpPr>
          <p:cNvPr id="66" name="Text 64"/>
          <p:cNvSpPr/>
          <p:nvPr/>
        </p:nvSpPr>
        <p:spPr>
          <a:xfrm>
            <a:off x="5257800" y="2615184"/>
            <a:ext cx="1664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ATRIBUIR</a:t>
            </a:r>
            <a:endParaRPr lang="pt-PT" sz="850" noProof="0" dirty="0"/>
          </a:p>
        </p:txBody>
      </p:sp>
      <p:sp>
        <p:nvSpPr>
          <p:cNvPr id="67" name="Text 65"/>
          <p:cNvSpPr/>
          <p:nvPr/>
        </p:nvSpPr>
        <p:spPr>
          <a:xfrm>
            <a:off x="6967728" y="2615184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pt-PT" sz="850" noProof="0" dirty="0"/>
          </a:p>
        </p:txBody>
      </p:sp>
      <p:sp>
        <p:nvSpPr>
          <p:cNvPr id="68" name="Shape 66"/>
          <p:cNvSpPr/>
          <p:nvPr/>
        </p:nvSpPr>
        <p:spPr>
          <a:xfrm>
            <a:off x="4846320" y="2834640"/>
            <a:ext cx="3840480" cy="228600"/>
          </a:xfrm>
          <a:prstGeom prst="rect">
            <a:avLst/>
          </a:prstGeom>
          <a:solidFill>
            <a:srgbClr val="08061A">
              <a:alpha val="20000"/>
            </a:srgbClr>
          </a:solidFill>
          <a:ln w="12700">
            <a:solidFill>
              <a:srgbClr val="0806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9" name="Text 67"/>
          <p:cNvSpPr/>
          <p:nvPr/>
        </p:nvSpPr>
        <p:spPr>
          <a:xfrm>
            <a:off x="4873752" y="2852928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850" noProof="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pt-PT" sz="850" noProof="0" dirty="0"/>
          </a:p>
        </p:txBody>
      </p:sp>
      <p:sp>
        <p:nvSpPr>
          <p:cNvPr id="70" name="Text 68"/>
          <p:cNvSpPr/>
          <p:nvPr/>
        </p:nvSpPr>
        <p:spPr>
          <a:xfrm>
            <a:off x="5257800" y="2852928"/>
            <a:ext cx="1664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LIT_INTEIRO</a:t>
            </a:r>
            <a:endParaRPr lang="pt-PT" sz="850" noProof="0" dirty="0"/>
          </a:p>
        </p:txBody>
      </p:sp>
      <p:sp>
        <p:nvSpPr>
          <p:cNvPr id="71" name="Text 69"/>
          <p:cNvSpPr/>
          <p:nvPr/>
        </p:nvSpPr>
        <p:spPr>
          <a:xfrm>
            <a:off x="6967728" y="2852928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"50"</a:t>
            </a:r>
            <a:endParaRPr lang="pt-PT" sz="850" noProof="0" dirty="0"/>
          </a:p>
        </p:txBody>
      </p:sp>
      <p:sp>
        <p:nvSpPr>
          <p:cNvPr id="72" name="Shape 70"/>
          <p:cNvSpPr/>
          <p:nvPr/>
        </p:nvSpPr>
        <p:spPr>
          <a:xfrm>
            <a:off x="4846320" y="3072384"/>
            <a:ext cx="3840480" cy="228600"/>
          </a:xfrm>
          <a:prstGeom prst="rect">
            <a:avLst/>
          </a:prstGeom>
          <a:solidFill>
            <a:srgbClr val="46406B">
              <a:alpha val="20000"/>
            </a:srgbClr>
          </a:solidFill>
          <a:ln w="12700">
            <a:solidFill>
              <a:srgbClr val="4640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3" name="Text 71"/>
          <p:cNvSpPr/>
          <p:nvPr/>
        </p:nvSpPr>
        <p:spPr>
          <a:xfrm>
            <a:off x="4873752" y="3090672"/>
            <a:ext cx="347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850" noProof="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pt-PT" sz="850" noProof="0" dirty="0"/>
          </a:p>
        </p:txBody>
      </p:sp>
      <p:sp>
        <p:nvSpPr>
          <p:cNvPr id="74" name="Text 72"/>
          <p:cNvSpPr/>
          <p:nvPr/>
        </p:nvSpPr>
        <p:spPr>
          <a:xfrm>
            <a:off x="5257800" y="3090672"/>
            <a:ext cx="1664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850" noProof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</a:t>
            </a:r>
            <a:endParaRPr lang="pt-PT" sz="850" noProof="0" dirty="0"/>
          </a:p>
        </p:txBody>
      </p:sp>
      <p:sp>
        <p:nvSpPr>
          <p:cNvPr id="75" name="Text 73"/>
          <p:cNvSpPr/>
          <p:nvPr/>
        </p:nvSpPr>
        <p:spPr>
          <a:xfrm>
            <a:off x="6967728" y="3090672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pt-PT" sz="850" noProof="0" dirty="0"/>
          </a:p>
        </p:txBody>
      </p:sp>
      <p:sp>
        <p:nvSpPr>
          <p:cNvPr id="76" name="Text 74"/>
          <p:cNvSpPr/>
          <p:nvPr/>
        </p:nvSpPr>
        <p:spPr>
          <a:xfrm>
            <a:off x="50292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Linha:</a:t>
            </a: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onde está o </a:t>
            </a:r>
            <a:r>
              <a:rPr lang="pt-PT" sz="110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código-fonte.</a:t>
            </a:r>
            <a:endParaRPr lang="pt-PT" sz="1100" noProof="0" dirty="0"/>
          </a:p>
        </p:txBody>
      </p:sp>
      <p:sp>
        <p:nvSpPr>
          <p:cNvPr id="77" name="Text 75"/>
          <p:cNvSpPr/>
          <p:nvPr/>
        </p:nvSpPr>
        <p:spPr>
          <a:xfrm>
            <a:off x="50292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sz="11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tipo do elemento (CLASSE, INTEIRO, IDENTIFICADOR...).</a:t>
            </a:r>
            <a:endParaRPr lang="pt-PT" sz="1100" noProof="0" dirty="0"/>
          </a:p>
        </p:txBody>
      </p:sp>
      <p:sp>
        <p:nvSpPr>
          <p:cNvPr id="78" name="Text 76"/>
          <p:cNvSpPr/>
          <p:nvPr/>
        </p:nvSpPr>
        <p:spPr>
          <a:xfrm>
            <a:off x="50292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sz="11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Atributo:</a:t>
            </a: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valor </a:t>
            </a:r>
            <a:r>
              <a:rPr lang="pt-PT" sz="110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exacto</a:t>
            </a:r>
            <a:r>
              <a:rPr lang="pt-PT" sz="11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só aparece em identificadores e literais.</a:t>
            </a:r>
            <a:endParaRPr lang="pt-PT" sz="1100" noProof="0" dirty="0"/>
          </a:p>
        </p:txBody>
      </p:sp>
      <p:sp>
        <p:nvSpPr>
          <p:cNvPr id="79" name="Text 77"/>
          <p:cNvSpPr/>
          <p:nvPr/>
        </p:nvSpPr>
        <p:spPr>
          <a:xfrm>
            <a:off x="502920" y="4343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léxicos: 0   ✓   </a:t>
            </a:r>
            <a:r>
              <a:rPr lang="pt-PT" sz="1200" b="1" noProof="0" dirty="0" err="1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r>
              <a:rPr lang="pt-PT" sz="12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reconhecidos: 60+</a:t>
            </a:r>
            <a:endParaRPr lang="pt-PT" sz="12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Shape 21"/>
          <p:cNvSpPr/>
          <p:nvPr/>
        </p:nvSpPr>
        <p:spPr>
          <a:xfrm rot="5400000">
            <a:off x="3657600" y="2240280"/>
            <a:ext cx="268834" cy="384048"/>
          </a:xfrm>
          <a:prstGeom prst="rtTriangle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4" name="Text 22"/>
          <p:cNvSpPr/>
          <p:nvPr/>
        </p:nvSpPr>
        <p:spPr>
          <a:xfrm>
            <a:off x="4187952" y="215798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8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pt-PT" sz="38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475488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pt-PT" sz="12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AnaLex</a:t>
            </a:r>
            <a:r>
              <a:rPr lang="pt-PT" sz="12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linguagem Hidra foi implementado em Java seguindo a metodologia do </a:t>
            </a:r>
            <a:r>
              <a:rPr lang="pt-PT" sz="12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jFlex</a:t>
            </a:r>
            <a:r>
              <a:rPr lang="pt-PT" sz="12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 ficheiro </a:t>
            </a:r>
            <a:r>
              <a:rPr lang="pt-PT" sz="12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hidra.flex</a:t>
            </a:r>
            <a:r>
              <a:rPr lang="pt-PT" sz="12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descreve as regras léxicas que definem todos os </a:t>
            </a:r>
            <a:r>
              <a:rPr lang="pt-PT" sz="12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r>
              <a:rPr lang="pt-PT" sz="12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reconhecidos — palavras reservadas, operadores, delimitadores e literais.</a:t>
            </a:r>
            <a:endParaRPr lang="pt-PT" sz="1250" noProof="0" dirty="0"/>
          </a:p>
        </p:txBody>
      </p:sp>
      <p:sp>
        <p:nvSpPr>
          <p:cNvPr id="24" name="Text 22"/>
          <p:cNvSpPr/>
          <p:nvPr/>
        </p:nvSpPr>
        <p:spPr>
          <a:xfrm>
            <a:off x="502920" y="1755648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2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tabelas </a:t>
            </a:r>
            <a:r>
              <a:rPr lang="pt-PT" sz="12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</a:t>
            </a:r>
            <a:r>
              <a:rPr lang="pt-PT" sz="12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garantem o reconhecimento correto: a Tabela de Palavras Reservadas distingue palavras reservadas de identificadores, e a Tabela de Símbolos regista todos os identificadores declarados durante a análise.</a:t>
            </a:r>
            <a:endParaRPr lang="pt-PT" sz="1250" noProof="0" dirty="0"/>
          </a:p>
        </p:txBody>
      </p:sp>
      <p:sp>
        <p:nvSpPr>
          <p:cNvPr id="25" name="Shape 23"/>
          <p:cNvSpPr/>
          <p:nvPr/>
        </p:nvSpPr>
        <p:spPr>
          <a:xfrm>
            <a:off x="384048" y="3090672"/>
            <a:ext cx="91440" cy="91440"/>
          </a:xfrm>
          <a:prstGeom prst="ellipse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6" name="Text 24"/>
          <p:cNvSpPr/>
          <p:nvPr/>
        </p:nvSpPr>
        <p:spPr>
          <a:xfrm>
            <a:off x="566928" y="30358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</a:t>
            </a:r>
            <a:r>
              <a:rPr lang="pt-PT" sz="11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reconhecidos — 0 erros léxicos no programa de teste.</a:t>
            </a:r>
            <a:endParaRPr lang="pt-PT" sz="1150" noProof="0" dirty="0"/>
          </a:p>
        </p:txBody>
      </p:sp>
      <p:sp>
        <p:nvSpPr>
          <p:cNvPr id="27" name="Shape 25"/>
          <p:cNvSpPr/>
          <p:nvPr/>
        </p:nvSpPr>
        <p:spPr>
          <a:xfrm>
            <a:off x="384048" y="3456432"/>
            <a:ext cx="91440" cy="91440"/>
          </a:xfrm>
          <a:prstGeom prst="ellipse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8" name="Text 26"/>
          <p:cNvSpPr/>
          <p:nvPr/>
        </p:nvSpPr>
        <p:spPr>
          <a:xfrm>
            <a:off x="566928" y="34015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Insensível a maiúsculas/minúsculas conforme especificado.</a:t>
            </a:r>
            <a:endParaRPr lang="pt-PT" sz="1150" noProof="0" dirty="0"/>
          </a:p>
        </p:txBody>
      </p:sp>
      <p:sp>
        <p:nvSpPr>
          <p:cNvPr id="29" name="Shape 27"/>
          <p:cNvSpPr/>
          <p:nvPr/>
        </p:nvSpPr>
        <p:spPr>
          <a:xfrm>
            <a:off x="384048" y="3822192"/>
            <a:ext cx="91440" cy="91440"/>
          </a:xfrm>
          <a:prstGeom prst="ellipse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0" name="Text 28"/>
          <p:cNvSpPr/>
          <p:nvPr/>
        </p:nvSpPr>
        <p:spPr>
          <a:xfrm>
            <a:off x="566928" y="37673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Comentários ignorados corretamente (// e /* ... */).</a:t>
            </a:r>
            <a:endParaRPr lang="pt-PT" sz="1150" noProof="0" dirty="0"/>
          </a:p>
        </p:txBody>
      </p:sp>
      <p:sp>
        <p:nvSpPr>
          <p:cNvPr id="31" name="Shape 29"/>
          <p:cNvSpPr/>
          <p:nvPr/>
        </p:nvSpPr>
        <p:spPr>
          <a:xfrm>
            <a:off x="384048" y="4187952"/>
            <a:ext cx="91440" cy="91440"/>
          </a:xfrm>
          <a:prstGeom prst="ellipse">
            <a:avLst/>
          </a:prstGeom>
          <a:solidFill>
            <a:srgbClr val="00CADA"/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2" name="Text 30"/>
          <p:cNvSpPr/>
          <p:nvPr/>
        </p:nvSpPr>
        <p:spPr>
          <a:xfrm>
            <a:off x="566928" y="41330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integrar o Analisador Sintático na Fase 3.</a:t>
            </a:r>
            <a:endParaRPr lang="pt-PT" sz="115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64592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4" name="Shape 2"/>
          <p:cNvSpPr/>
          <p:nvPr/>
        </p:nvSpPr>
        <p:spPr>
          <a:xfrm>
            <a:off x="6217920" y="50292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732520" y="137160"/>
            <a:ext cx="0" cy="201168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6" name="Shape 4"/>
          <p:cNvSpPr/>
          <p:nvPr/>
        </p:nvSpPr>
        <p:spPr>
          <a:xfrm>
            <a:off x="8503920" y="32004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Shape 5"/>
          <p:cNvSpPr/>
          <p:nvPr/>
        </p:nvSpPr>
        <p:spPr>
          <a:xfrm>
            <a:off x="137160" y="46634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Shape 6"/>
          <p:cNvSpPr/>
          <p:nvPr/>
        </p:nvSpPr>
        <p:spPr>
          <a:xfrm>
            <a:off x="137160" y="4480560"/>
            <a:ext cx="1371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" name="Shape 7"/>
          <p:cNvSpPr/>
          <p:nvPr/>
        </p:nvSpPr>
        <p:spPr>
          <a:xfrm>
            <a:off x="201168" y="3200400"/>
            <a:ext cx="0" cy="1645920"/>
          </a:xfrm>
          <a:prstGeom prst="lin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3474720"/>
            <a:ext cx="0" cy="1371600"/>
          </a:xfrm>
          <a:prstGeom prst="lin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0" y="4983480"/>
            <a:ext cx="3657600" cy="0"/>
          </a:xfrm>
          <a:prstGeom prst="line">
            <a:avLst/>
          </a:prstGeom>
          <a:noFill/>
          <a:ln w="1524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32004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Shape 13"/>
          <p:cNvSpPr/>
          <p:nvPr/>
        </p:nvSpPr>
        <p:spPr>
          <a:xfrm>
            <a:off x="8686800" y="4480560"/>
            <a:ext cx="54864" cy="54864"/>
          </a:xfrm>
          <a:prstGeom prst="ellipse">
            <a:avLst/>
          </a:prstGeom>
          <a:solidFill>
            <a:srgbClr val="00CADA">
              <a:alpha val="60000"/>
            </a:srgbClr>
          </a:solidFill>
          <a:ln w="12700">
            <a:solidFill>
              <a:srgbClr val="00CAD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6" name="Shape 14"/>
          <p:cNvSpPr/>
          <p:nvPr/>
        </p:nvSpPr>
        <p:spPr>
          <a:xfrm>
            <a:off x="8823960" y="4617720"/>
            <a:ext cx="54864" cy="54864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Shape 16"/>
          <p:cNvSpPr/>
          <p:nvPr/>
        </p:nvSpPr>
        <p:spPr>
          <a:xfrm>
            <a:off x="8851392" y="128016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Shape 17"/>
          <p:cNvSpPr/>
          <p:nvPr/>
        </p:nvSpPr>
        <p:spPr>
          <a:xfrm>
            <a:off x="8851392" y="2148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0" name="Shape 18"/>
          <p:cNvSpPr/>
          <p:nvPr/>
        </p:nvSpPr>
        <p:spPr>
          <a:xfrm>
            <a:off x="118872" y="443484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1" name="Shape 19"/>
          <p:cNvSpPr/>
          <p:nvPr/>
        </p:nvSpPr>
        <p:spPr>
          <a:xfrm>
            <a:off x="118872" y="4709160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2" name="Shape 20"/>
          <p:cNvSpPr/>
          <p:nvPr/>
        </p:nvSpPr>
        <p:spPr>
          <a:xfrm>
            <a:off x="2121408" y="4681728"/>
            <a:ext cx="54864" cy="54864"/>
          </a:xfrm>
          <a:prstGeom prst="rect">
            <a:avLst/>
          </a:prstGeom>
          <a:solidFill>
            <a:srgbClr val="00CADA">
              <a:alpha val="80000"/>
            </a:srgbClr>
          </a:solidFill>
          <a:ln w="1270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Text 21"/>
          <p:cNvSpPr/>
          <p:nvPr/>
        </p:nvSpPr>
        <p:spPr>
          <a:xfrm>
            <a:off x="1371600" y="16916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6000" b="1" noProof="0" dirty="0">
                <a:solidFill>
                  <a:srgbClr val="00C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pt-PT" sz="6000" noProof="0" dirty="0"/>
          </a:p>
        </p:txBody>
      </p:sp>
      <p:sp>
        <p:nvSpPr>
          <p:cNvPr id="24" name="Text 22"/>
          <p:cNvSpPr/>
          <p:nvPr/>
        </p:nvSpPr>
        <p:spPr>
          <a:xfrm>
            <a:off x="1371600" y="2697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22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 Atenção!</a:t>
            </a:r>
            <a:endParaRPr lang="pt-PT" sz="2200" noProof="0" dirty="0"/>
          </a:p>
        </p:txBody>
      </p:sp>
      <p:sp>
        <p:nvSpPr>
          <p:cNvPr id="25" name="Shape 23"/>
          <p:cNvSpPr/>
          <p:nvPr/>
        </p:nvSpPr>
        <p:spPr>
          <a:xfrm>
            <a:off x="2286000" y="3310128"/>
            <a:ext cx="4572000" cy="0"/>
          </a:xfrm>
          <a:prstGeom prst="line">
            <a:avLst/>
          </a:prstGeom>
          <a:noFill/>
          <a:ln w="19050">
            <a:solidFill>
              <a:srgbClr val="00CADA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26" name="Text 24"/>
          <p:cNvSpPr/>
          <p:nvPr/>
        </p:nvSpPr>
        <p:spPr>
          <a:xfrm>
            <a:off x="1371600" y="3456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1100" i="1" noProof="0" dirty="0">
                <a:solidFill>
                  <a:srgbClr val="AF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Analisador Léxico Hidra  </a:t>
            </a:r>
            <a:endParaRPr lang="pt-PT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1608</Words>
  <Application>Microsoft Office PowerPoint</Application>
  <PresentationFormat>Apresentação no Ecrã (16:9)</PresentationFormat>
  <Paragraphs>315</Paragraphs>
  <Slides>18</Slides>
  <Notes>18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2" baseType="lpstr">
      <vt:lpstr>Arial</vt:lpstr>
      <vt:lpstr>Courier New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Hidra — Analisador Léxico com jFlex</dc:title>
  <dc:subject>PptxGenJS Presentation</dc:subject>
  <dc:creator>PptxGenJS</dc:creator>
  <cp:lastModifiedBy>Lenovo</cp:lastModifiedBy>
  <cp:revision>2</cp:revision>
  <dcterms:created xsi:type="dcterms:W3CDTF">2026-06-14T12:30:01Z</dcterms:created>
  <dcterms:modified xsi:type="dcterms:W3CDTF">2026-06-14T13:29:29Z</dcterms:modified>
</cp:coreProperties>
</file>