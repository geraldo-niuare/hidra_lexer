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4" r:id="rId9"/>
    <p:sldId id="275" r:id="rId10"/>
    <p:sldId id="263" r:id="rId11"/>
    <p:sldId id="264" r:id="rId12"/>
    <p:sldId id="276" r:id="rId13"/>
    <p:sldId id="277" r:id="rId14"/>
    <p:sldId id="278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1" d="100"/>
          <a:sy n="61" d="100"/>
        </p:scale>
        <p:origin x="53" y="79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231738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abertura. Apresenta o projecto: Analisador Léxico da linguagem Hidra, com jFlex.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Secção: Introdução ao projecto Hidra e ao que é um analisador léxico.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 o que é um analisador léxico. Usa a analogia do supermercado para o público leigo.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Secção: O jFlex e o ficheiro hidra.flex.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 o jFlex: compara manual vs automático e mostra o fluxo de 5 passos.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4 secções do hidra.flex. Secção 1: package. Secção 2: opções. Secção 3: padrões/macros. Secção 4: regras padrão→token.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Secção: Os tokens reconhecidos pela linguagem Hidra.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75242F-7C4E-CF6F-A516-8E56CDDBD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B383BB-9499-D09A-6274-45BAD2005E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7F3B4E-3AE2-22EC-9D37-549C6808CC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 o que é um analisador léxico. Usa a analogia do supermercado para o público leigo.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23C75-CDC8-70FC-D9C4-EE55887ED0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26747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FEF380-B327-1E52-9247-02CA47F81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EA7153-A2F2-EE7A-85C0-3D23432842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3CE779-D2F2-0A8D-92A3-CA0BD94776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 o que é um analisador léxico. Usa a analogia do supermercado para o público leigo.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47EEAC-D44D-0E84-29CD-89F337CF50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67340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Tabela de palavras reservadas com mapeamento Hidra→Java. Implementada como HashMap na TabelaPalavrasReservadas.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Operadores (20 símbolos), delimitadores (11 símbolos), literais e identificadores com padrões regex.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DD6D9-BE9B-6675-23EF-F84E9E53C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DBD649-1237-3F02-C4AE-615395DF2E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E5C5D5-581B-3240-60FF-FC0CA512D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 o que é um analisador léxico. Usa a analogia do supermercado para o público leigo.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96BB39-79CC-2FE0-278A-99D83F0F0D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1384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2B848-7872-3DF9-78D8-4F86F69D6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9A9DB2-698A-6B84-79F9-28980F47F1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A7A282-6AFB-57B7-A60D-9F82D149C1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 o que é um analisador léxico. Usa a analogia do supermercado para o público leigo.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08E407-3B14-B0BE-033B-A254EBC7D4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15595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C282E-786A-72C4-4471-2DF4873EE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8AD00A-113D-C6F8-C8CC-A2E913A40C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F8C576-3B74-31BE-A1F2-E110C97CF4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 o que é um analisador léxico. Usa a analogia do supermercado para o público leigo.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1D17DA-7DA2-1F2F-4A73-435BF8CA96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7828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Secção: as duas tabelas HashMap — TabelaPalavrasReservadas e TabelaSimbolos.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TabelaPalavrasReservadas como HashMap. Algoritmo de 4 passos. Extracto do mapeamento Hidra→Java.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TabelaSimbolos como HashMap. Cresce durante a análise. Cada nova variável é inserida com o nome e número de linha da primeira ocorrência.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Secção: Demonstração do projecto ao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comandos para compilar e correr o AnaLex no Windows. Explicar cada um ao público.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 o output ao vivo: código hidra à esquerda, tokens produzidos à direita. Aponta para as 3 colunas (Linha, Token, Atributo). Destaca 0 erros léxicos.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Secção de conclusão.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Conclusão do projecto. Resume os resultados e prepara para a fase seguinte.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final. Agradecer a atenção e abrir para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0E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164592"/>
            <a:ext cx="2286000" cy="0"/>
          </a:xfrm>
          <a:prstGeom prst="line">
            <a:avLst/>
          </a:prstGeom>
          <a:noFill/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3" name="Shape 1"/>
          <p:cNvSpPr/>
          <p:nvPr/>
        </p:nvSpPr>
        <p:spPr>
          <a:xfrm>
            <a:off x="7498080" y="347472"/>
            <a:ext cx="1371600" cy="0"/>
          </a:xfrm>
          <a:prstGeom prst="line">
            <a:avLst/>
          </a:prstGeom>
          <a:noFill/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4" name="Shape 2"/>
          <p:cNvSpPr/>
          <p:nvPr/>
        </p:nvSpPr>
        <p:spPr>
          <a:xfrm>
            <a:off x="6217920" y="502920"/>
            <a:ext cx="182880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5" name="Shape 3"/>
          <p:cNvSpPr/>
          <p:nvPr/>
        </p:nvSpPr>
        <p:spPr>
          <a:xfrm>
            <a:off x="8732520" y="137160"/>
            <a:ext cx="0" cy="2011680"/>
          </a:xfrm>
          <a:prstGeom prst="line">
            <a:avLst/>
          </a:prstGeom>
          <a:noFill/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6" name="Shape 4"/>
          <p:cNvSpPr/>
          <p:nvPr/>
        </p:nvSpPr>
        <p:spPr>
          <a:xfrm>
            <a:off x="8503920" y="320040"/>
            <a:ext cx="0" cy="164592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7" name="Shape 5"/>
          <p:cNvSpPr/>
          <p:nvPr/>
        </p:nvSpPr>
        <p:spPr>
          <a:xfrm>
            <a:off x="137160" y="4663440"/>
            <a:ext cx="2011680" cy="0"/>
          </a:xfrm>
          <a:prstGeom prst="line">
            <a:avLst/>
          </a:prstGeom>
          <a:noFill/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8" name="Shape 6"/>
          <p:cNvSpPr/>
          <p:nvPr/>
        </p:nvSpPr>
        <p:spPr>
          <a:xfrm>
            <a:off x="137160" y="4480560"/>
            <a:ext cx="137160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9" name="Shape 7"/>
          <p:cNvSpPr/>
          <p:nvPr/>
        </p:nvSpPr>
        <p:spPr>
          <a:xfrm>
            <a:off x="201168" y="3200400"/>
            <a:ext cx="0" cy="1645920"/>
          </a:xfrm>
          <a:prstGeom prst="line">
            <a:avLst/>
          </a:prstGeom>
          <a:noFill/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0" name="Shape 8"/>
          <p:cNvSpPr/>
          <p:nvPr/>
        </p:nvSpPr>
        <p:spPr>
          <a:xfrm>
            <a:off x="384048" y="3474720"/>
            <a:ext cx="0" cy="1371600"/>
          </a:xfrm>
          <a:prstGeom prst="line">
            <a:avLst/>
          </a:prstGeom>
          <a:noFill/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1" name="Shape 9"/>
          <p:cNvSpPr/>
          <p:nvPr/>
        </p:nvSpPr>
        <p:spPr>
          <a:xfrm>
            <a:off x="0" y="4983480"/>
            <a:ext cx="3657600" cy="0"/>
          </a:xfrm>
          <a:prstGeom prst="line">
            <a:avLst/>
          </a:prstGeom>
          <a:noFill/>
          <a:ln w="1524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0" y="4983480"/>
            <a:ext cx="3657600" cy="0"/>
          </a:xfrm>
          <a:prstGeom prst="line">
            <a:avLst/>
          </a:prstGeom>
          <a:noFill/>
          <a:ln w="1524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3" name="Shape 11"/>
          <p:cNvSpPr/>
          <p:nvPr/>
        </p:nvSpPr>
        <p:spPr>
          <a:xfrm>
            <a:off x="73152" y="320040"/>
            <a:ext cx="54864" cy="54864"/>
          </a:xfrm>
          <a:prstGeom prst="ellipse">
            <a:avLst/>
          </a:prstGeom>
          <a:solidFill>
            <a:srgbClr val="00CADA">
              <a:alpha val="60000"/>
            </a:srgbClr>
          </a:solidFill>
          <a:ln w="1270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4" name="Shape 12"/>
          <p:cNvSpPr/>
          <p:nvPr/>
        </p:nvSpPr>
        <p:spPr>
          <a:xfrm>
            <a:off x="228600" y="228600"/>
            <a:ext cx="54864" cy="54864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5" name="Shape 13"/>
          <p:cNvSpPr/>
          <p:nvPr/>
        </p:nvSpPr>
        <p:spPr>
          <a:xfrm>
            <a:off x="8686800" y="4480560"/>
            <a:ext cx="54864" cy="54864"/>
          </a:xfrm>
          <a:prstGeom prst="ellipse">
            <a:avLst/>
          </a:prstGeom>
          <a:solidFill>
            <a:srgbClr val="00CADA">
              <a:alpha val="60000"/>
            </a:srgbClr>
          </a:solidFill>
          <a:ln w="1270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6" name="Shape 14"/>
          <p:cNvSpPr/>
          <p:nvPr/>
        </p:nvSpPr>
        <p:spPr>
          <a:xfrm>
            <a:off x="8823960" y="4617720"/>
            <a:ext cx="54864" cy="54864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7" name="Shape 15"/>
          <p:cNvSpPr/>
          <p:nvPr/>
        </p:nvSpPr>
        <p:spPr>
          <a:xfrm>
            <a:off x="6537960" y="128016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8" name="Shape 16"/>
          <p:cNvSpPr/>
          <p:nvPr/>
        </p:nvSpPr>
        <p:spPr>
          <a:xfrm>
            <a:off x="8851392" y="128016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9" name="Shape 17"/>
          <p:cNvSpPr/>
          <p:nvPr/>
        </p:nvSpPr>
        <p:spPr>
          <a:xfrm>
            <a:off x="8851392" y="214884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0" name="Shape 18"/>
          <p:cNvSpPr/>
          <p:nvPr/>
        </p:nvSpPr>
        <p:spPr>
          <a:xfrm>
            <a:off x="118872" y="443484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1" name="Shape 19"/>
          <p:cNvSpPr/>
          <p:nvPr/>
        </p:nvSpPr>
        <p:spPr>
          <a:xfrm>
            <a:off x="118872" y="470916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2" name="Shape 20"/>
          <p:cNvSpPr/>
          <p:nvPr/>
        </p:nvSpPr>
        <p:spPr>
          <a:xfrm>
            <a:off x="2121408" y="4681728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pic>
        <p:nvPicPr>
          <p:cNvPr id="2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137160"/>
            <a:ext cx="640080" cy="896112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 rot="5400000">
            <a:off x="256032" y="1417320"/>
            <a:ext cx="204826" cy="292608"/>
          </a:xfrm>
          <a:prstGeom prst="rtTriangle">
            <a:avLst/>
          </a:prstGeom>
          <a:solidFill>
            <a:srgbClr val="00CADA"/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5" name="Text 22"/>
          <p:cNvSpPr/>
          <p:nvPr/>
        </p:nvSpPr>
        <p:spPr>
          <a:xfrm>
            <a:off x="640080" y="1325880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2800" b="1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ANALISADOR</a:t>
            </a:r>
            <a:endParaRPr lang="pt-PT" sz="2800" noProof="0" dirty="0"/>
          </a:p>
        </p:txBody>
      </p:sp>
      <p:sp>
        <p:nvSpPr>
          <p:cNvPr id="26" name="Text 23"/>
          <p:cNvSpPr/>
          <p:nvPr/>
        </p:nvSpPr>
        <p:spPr>
          <a:xfrm>
            <a:off x="640080" y="1764792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2800" b="1" noProof="0" dirty="0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LÉXICO — HIDRA</a:t>
            </a:r>
            <a:endParaRPr lang="pt-PT" sz="2800" noProof="0" dirty="0"/>
          </a:p>
        </p:txBody>
      </p:sp>
      <p:sp>
        <p:nvSpPr>
          <p:cNvPr id="27" name="Shape 24"/>
          <p:cNvSpPr/>
          <p:nvPr/>
        </p:nvSpPr>
        <p:spPr>
          <a:xfrm>
            <a:off x="256032" y="2331720"/>
            <a:ext cx="5303520" cy="0"/>
          </a:xfrm>
          <a:prstGeom prst="line">
            <a:avLst/>
          </a:prstGeom>
          <a:noFill/>
          <a:ln w="1905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8" name="Text 25"/>
          <p:cNvSpPr/>
          <p:nvPr/>
        </p:nvSpPr>
        <p:spPr>
          <a:xfrm>
            <a:off x="256032" y="248716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00" b="1" noProof="0" dirty="0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DISCENTES:</a:t>
            </a:r>
            <a:endParaRPr lang="pt-PT" sz="1000" noProof="0" dirty="0"/>
          </a:p>
        </p:txBody>
      </p:sp>
      <p:sp>
        <p:nvSpPr>
          <p:cNvPr id="29" name="Text 26"/>
          <p:cNvSpPr/>
          <p:nvPr/>
        </p:nvSpPr>
        <p:spPr>
          <a:xfrm>
            <a:off x="228600" y="2866644"/>
            <a:ext cx="3218688" cy="12161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30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Boa, </a:t>
            </a:r>
            <a:r>
              <a:rPr lang="pt-PT" sz="1300" dirty="0" err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Valter</a:t>
            </a:r>
            <a:endParaRPr lang="pt-PT" sz="1300" noProof="0" dirty="0"/>
          </a:p>
          <a:p>
            <a:pPr marL="0" indent="0">
              <a:buNone/>
            </a:pPr>
            <a:r>
              <a:rPr lang="pt-PT" sz="1300" noProof="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Buque, Nicolau</a:t>
            </a:r>
          </a:p>
          <a:p>
            <a:pPr marL="0" indent="0">
              <a:buNone/>
            </a:pPr>
            <a:r>
              <a:rPr lang="pt-PT" sz="1300" noProof="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Da Fonseca, </a:t>
            </a:r>
            <a:r>
              <a:rPr lang="pt-PT" sz="1300" noProof="0" dirty="0" err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Clifton</a:t>
            </a:r>
            <a:endParaRPr lang="pt-PT" sz="1300" noProof="0" dirty="0"/>
          </a:p>
          <a:p>
            <a:pPr marL="0" indent="0">
              <a:buNone/>
            </a:pPr>
            <a:r>
              <a:rPr lang="pt-PT" sz="1300" noProof="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Firme, </a:t>
            </a:r>
            <a:r>
              <a:rPr lang="pt-PT" sz="1300" noProof="0" dirty="0" err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Alfoi</a:t>
            </a:r>
            <a:endParaRPr lang="pt-PT" sz="1300" noProof="0" dirty="0">
              <a:solidFill>
                <a:srgbClr val="FFFFFF"/>
              </a:solidFill>
              <a:latin typeface="Arial" pitchFamily="34" charset="0"/>
              <a:cs typeface="Arial" pitchFamily="34" charset="-120"/>
            </a:endParaRPr>
          </a:p>
          <a:p>
            <a:pPr marL="0" indent="0">
              <a:buNone/>
            </a:pPr>
            <a:r>
              <a:rPr lang="pt-PT" sz="1300" noProof="0" dirty="0" err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Macuacua</a:t>
            </a:r>
            <a:r>
              <a:rPr lang="pt-PT" sz="1300" noProof="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, </a:t>
            </a:r>
            <a:r>
              <a:rPr lang="pt-PT" sz="1300" noProof="0" dirty="0" err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Le</a:t>
            </a:r>
            <a:r>
              <a:rPr lang="pt-PT" sz="1300" dirty="0" err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onel</a:t>
            </a:r>
            <a:endParaRPr lang="pt-PT" sz="1300" dirty="0">
              <a:solidFill>
                <a:srgbClr val="FFFFFF"/>
              </a:solidFill>
              <a:latin typeface="Arial" pitchFamily="34" charset="0"/>
              <a:cs typeface="Arial" pitchFamily="34" charset="-120"/>
            </a:endParaRPr>
          </a:p>
          <a:p>
            <a:pPr marL="0" indent="0">
              <a:buNone/>
            </a:pPr>
            <a:r>
              <a:rPr lang="pt-PT" sz="1300" dirty="0" err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Niuare</a:t>
            </a:r>
            <a:r>
              <a:rPr lang="pt-PT" sz="130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, Geraldo Lino</a:t>
            </a:r>
          </a:p>
          <a:p>
            <a:pPr marL="0" indent="0">
              <a:buNone/>
            </a:pPr>
            <a:endParaRPr lang="pt-PT" sz="950" dirty="0">
              <a:solidFill>
                <a:srgbClr val="FFFFFF"/>
              </a:solidFill>
              <a:latin typeface="Arial" pitchFamily="34" charset="0"/>
              <a:cs typeface="Arial" pitchFamily="34" charset="-120"/>
            </a:endParaRPr>
          </a:p>
          <a:p>
            <a:pPr marL="0" indent="0">
              <a:buNone/>
            </a:pPr>
            <a:endParaRPr lang="pt-PT" sz="950" noProof="0" dirty="0"/>
          </a:p>
        </p:txBody>
      </p:sp>
      <p:sp>
        <p:nvSpPr>
          <p:cNvPr id="30" name="Text 27"/>
          <p:cNvSpPr/>
          <p:nvPr/>
        </p:nvSpPr>
        <p:spPr>
          <a:xfrm>
            <a:off x="3474720" y="248716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00" b="1" noProof="0" dirty="0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DOCENTE:</a:t>
            </a:r>
            <a:endParaRPr lang="pt-PT" sz="1000" noProof="0" dirty="0"/>
          </a:p>
        </p:txBody>
      </p:sp>
      <p:sp>
        <p:nvSpPr>
          <p:cNvPr id="31" name="Text 28"/>
          <p:cNvSpPr/>
          <p:nvPr/>
        </p:nvSpPr>
        <p:spPr>
          <a:xfrm>
            <a:off x="3474720" y="27614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300" dirty="0" err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Maculuve</a:t>
            </a:r>
            <a:r>
              <a:rPr lang="pt-PT" sz="130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, </a:t>
            </a:r>
            <a:r>
              <a:rPr lang="pt-PT" sz="1300" dirty="0" err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Cristiliano</a:t>
            </a:r>
            <a:endParaRPr lang="pt-PT" sz="1300" noProof="0" dirty="0"/>
          </a:p>
        </p:txBody>
      </p:sp>
      <p:sp>
        <p:nvSpPr>
          <p:cNvPr id="32" name="Shape 29"/>
          <p:cNvSpPr/>
          <p:nvPr/>
        </p:nvSpPr>
        <p:spPr>
          <a:xfrm>
            <a:off x="6263640" y="731520"/>
            <a:ext cx="0" cy="3840480"/>
          </a:xfrm>
          <a:prstGeom prst="line">
            <a:avLst/>
          </a:prstGeom>
          <a:noFill/>
          <a:ln w="12700">
            <a:solidFill>
              <a:srgbClr val="00CAD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33" name="Text 30"/>
          <p:cNvSpPr/>
          <p:nvPr/>
        </p:nvSpPr>
        <p:spPr>
          <a:xfrm>
            <a:off x="6400800" y="12801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300" i="1" noProof="0" dirty="0">
                <a:solidFill>
                  <a:srgbClr val="AFAF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COMPILADORES</a:t>
            </a:r>
            <a:endParaRPr lang="pt-PT" sz="1300" noProof="0" dirty="0"/>
          </a:p>
        </p:txBody>
      </p:sp>
      <p:sp>
        <p:nvSpPr>
          <p:cNvPr id="34" name="Text 31"/>
          <p:cNvSpPr/>
          <p:nvPr/>
        </p:nvSpPr>
        <p:spPr>
          <a:xfrm>
            <a:off x="6400800" y="162763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2200" b="1" dirty="0">
                <a:solidFill>
                  <a:srgbClr val="00CADA"/>
                </a:solidFill>
                <a:latin typeface="Arial" pitchFamily="34" charset="0"/>
                <a:cs typeface="Arial" pitchFamily="34" charset="-120"/>
              </a:rPr>
              <a:t>Linguagem HIDRA</a:t>
            </a:r>
            <a:endParaRPr lang="pt-PT" sz="2200" noProof="0" dirty="0"/>
          </a:p>
        </p:txBody>
      </p:sp>
      <p:sp>
        <p:nvSpPr>
          <p:cNvPr id="35" name="Text 32"/>
          <p:cNvSpPr/>
          <p:nvPr/>
        </p:nvSpPr>
        <p:spPr>
          <a:xfrm>
            <a:off x="6400800" y="2084832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20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Linguagem em</a:t>
            </a:r>
            <a:endParaRPr lang="pt-PT" sz="1200" noProof="0" dirty="0"/>
          </a:p>
          <a:p>
            <a:pPr marL="0" indent="0">
              <a:buNone/>
            </a:pPr>
            <a:r>
              <a:rPr lang="pt-PT" sz="120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</a:t>
            </a:r>
            <a:endParaRPr lang="pt-PT" sz="1200" noProof="0" dirty="0"/>
          </a:p>
        </p:txBody>
      </p:sp>
      <p:sp>
        <p:nvSpPr>
          <p:cNvPr id="36" name="Text 33"/>
          <p:cNvSpPr/>
          <p:nvPr/>
        </p:nvSpPr>
        <p:spPr>
          <a:xfrm>
            <a:off x="256032" y="4709160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00" i="1" noProof="0" dirty="0">
                <a:solidFill>
                  <a:srgbClr val="AFAF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Universidade Eduardo Mondlane</a:t>
            </a:r>
            <a:endParaRPr lang="pt-PT" sz="900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0E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164592"/>
            <a:ext cx="2286000" cy="0"/>
          </a:xfrm>
          <a:prstGeom prst="line">
            <a:avLst/>
          </a:prstGeom>
          <a:noFill/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3" name="Shape 1"/>
          <p:cNvSpPr/>
          <p:nvPr/>
        </p:nvSpPr>
        <p:spPr>
          <a:xfrm>
            <a:off x="7498080" y="347472"/>
            <a:ext cx="1371600" cy="0"/>
          </a:xfrm>
          <a:prstGeom prst="line">
            <a:avLst/>
          </a:prstGeom>
          <a:noFill/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4" name="Shape 2"/>
          <p:cNvSpPr/>
          <p:nvPr/>
        </p:nvSpPr>
        <p:spPr>
          <a:xfrm>
            <a:off x="6217920" y="502920"/>
            <a:ext cx="182880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5" name="Shape 3"/>
          <p:cNvSpPr/>
          <p:nvPr/>
        </p:nvSpPr>
        <p:spPr>
          <a:xfrm>
            <a:off x="8732520" y="137160"/>
            <a:ext cx="0" cy="2011680"/>
          </a:xfrm>
          <a:prstGeom prst="line">
            <a:avLst/>
          </a:prstGeom>
          <a:noFill/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6" name="Shape 4"/>
          <p:cNvSpPr/>
          <p:nvPr/>
        </p:nvSpPr>
        <p:spPr>
          <a:xfrm>
            <a:off x="8503920" y="320040"/>
            <a:ext cx="0" cy="164592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7" name="Shape 5"/>
          <p:cNvSpPr/>
          <p:nvPr/>
        </p:nvSpPr>
        <p:spPr>
          <a:xfrm>
            <a:off x="137160" y="4663440"/>
            <a:ext cx="2011680" cy="0"/>
          </a:xfrm>
          <a:prstGeom prst="line">
            <a:avLst/>
          </a:prstGeom>
          <a:noFill/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8" name="Shape 6"/>
          <p:cNvSpPr/>
          <p:nvPr/>
        </p:nvSpPr>
        <p:spPr>
          <a:xfrm>
            <a:off x="137160" y="4480560"/>
            <a:ext cx="137160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9" name="Shape 7"/>
          <p:cNvSpPr/>
          <p:nvPr/>
        </p:nvSpPr>
        <p:spPr>
          <a:xfrm>
            <a:off x="201168" y="3200400"/>
            <a:ext cx="0" cy="1645920"/>
          </a:xfrm>
          <a:prstGeom prst="line">
            <a:avLst/>
          </a:prstGeom>
          <a:noFill/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0" name="Shape 8"/>
          <p:cNvSpPr/>
          <p:nvPr/>
        </p:nvSpPr>
        <p:spPr>
          <a:xfrm>
            <a:off x="384048" y="3474720"/>
            <a:ext cx="0" cy="1371600"/>
          </a:xfrm>
          <a:prstGeom prst="line">
            <a:avLst/>
          </a:prstGeom>
          <a:noFill/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1" name="Shape 9"/>
          <p:cNvSpPr/>
          <p:nvPr/>
        </p:nvSpPr>
        <p:spPr>
          <a:xfrm>
            <a:off x="0" y="4983480"/>
            <a:ext cx="3657600" cy="0"/>
          </a:xfrm>
          <a:prstGeom prst="line">
            <a:avLst/>
          </a:prstGeom>
          <a:noFill/>
          <a:ln w="1524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0" y="4983480"/>
            <a:ext cx="3657600" cy="0"/>
          </a:xfrm>
          <a:prstGeom prst="line">
            <a:avLst/>
          </a:prstGeom>
          <a:noFill/>
          <a:ln w="1524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3" name="Shape 11"/>
          <p:cNvSpPr/>
          <p:nvPr/>
        </p:nvSpPr>
        <p:spPr>
          <a:xfrm>
            <a:off x="73152" y="320040"/>
            <a:ext cx="54864" cy="54864"/>
          </a:xfrm>
          <a:prstGeom prst="ellipse">
            <a:avLst/>
          </a:prstGeom>
          <a:solidFill>
            <a:srgbClr val="00CADA">
              <a:alpha val="60000"/>
            </a:srgbClr>
          </a:solidFill>
          <a:ln w="1270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4" name="Shape 12"/>
          <p:cNvSpPr/>
          <p:nvPr/>
        </p:nvSpPr>
        <p:spPr>
          <a:xfrm>
            <a:off x="228600" y="228600"/>
            <a:ext cx="54864" cy="54864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5" name="Shape 13"/>
          <p:cNvSpPr/>
          <p:nvPr/>
        </p:nvSpPr>
        <p:spPr>
          <a:xfrm>
            <a:off x="8686800" y="4480560"/>
            <a:ext cx="54864" cy="54864"/>
          </a:xfrm>
          <a:prstGeom prst="ellipse">
            <a:avLst/>
          </a:prstGeom>
          <a:solidFill>
            <a:srgbClr val="00CADA">
              <a:alpha val="60000"/>
            </a:srgbClr>
          </a:solidFill>
          <a:ln w="1270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6" name="Shape 14"/>
          <p:cNvSpPr/>
          <p:nvPr/>
        </p:nvSpPr>
        <p:spPr>
          <a:xfrm>
            <a:off x="8823960" y="4617720"/>
            <a:ext cx="54864" cy="54864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7" name="Shape 15"/>
          <p:cNvSpPr/>
          <p:nvPr/>
        </p:nvSpPr>
        <p:spPr>
          <a:xfrm>
            <a:off x="6537960" y="128016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8" name="Shape 16"/>
          <p:cNvSpPr/>
          <p:nvPr/>
        </p:nvSpPr>
        <p:spPr>
          <a:xfrm>
            <a:off x="8851392" y="128016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9" name="Shape 17"/>
          <p:cNvSpPr/>
          <p:nvPr/>
        </p:nvSpPr>
        <p:spPr>
          <a:xfrm>
            <a:off x="8851392" y="214884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0" name="Shape 18"/>
          <p:cNvSpPr/>
          <p:nvPr/>
        </p:nvSpPr>
        <p:spPr>
          <a:xfrm>
            <a:off x="118872" y="443484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1" name="Shape 19"/>
          <p:cNvSpPr/>
          <p:nvPr/>
        </p:nvSpPr>
        <p:spPr>
          <a:xfrm>
            <a:off x="118872" y="470916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2" name="Shape 20"/>
          <p:cNvSpPr/>
          <p:nvPr/>
        </p:nvSpPr>
        <p:spPr>
          <a:xfrm>
            <a:off x="2121408" y="4681728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3" name="Shape 21"/>
          <p:cNvSpPr/>
          <p:nvPr/>
        </p:nvSpPr>
        <p:spPr>
          <a:xfrm rot="5400000">
            <a:off x="3474720" y="2148840"/>
            <a:ext cx="268834" cy="384048"/>
          </a:xfrm>
          <a:prstGeom prst="rtTriangle">
            <a:avLst/>
          </a:prstGeom>
          <a:solidFill>
            <a:srgbClr val="00CADA"/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4" name="Text 22"/>
          <p:cNvSpPr/>
          <p:nvPr/>
        </p:nvSpPr>
        <p:spPr>
          <a:xfrm>
            <a:off x="4005072" y="208483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3400" b="1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INTRODUÇÃO</a:t>
            </a:r>
            <a:endParaRPr lang="pt-PT" sz="3400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0E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164592"/>
            <a:ext cx="2286000" cy="0"/>
          </a:xfrm>
          <a:prstGeom prst="line">
            <a:avLst/>
          </a:prstGeom>
          <a:noFill/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3" name="Shape 1"/>
          <p:cNvSpPr/>
          <p:nvPr/>
        </p:nvSpPr>
        <p:spPr>
          <a:xfrm>
            <a:off x="7498080" y="347472"/>
            <a:ext cx="1371600" cy="0"/>
          </a:xfrm>
          <a:prstGeom prst="line">
            <a:avLst/>
          </a:prstGeom>
          <a:noFill/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4" name="Shape 2"/>
          <p:cNvSpPr/>
          <p:nvPr/>
        </p:nvSpPr>
        <p:spPr>
          <a:xfrm>
            <a:off x="6217920" y="502920"/>
            <a:ext cx="182880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5" name="Shape 3"/>
          <p:cNvSpPr/>
          <p:nvPr/>
        </p:nvSpPr>
        <p:spPr>
          <a:xfrm>
            <a:off x="8732520" y="137160"/>
            <a:ext cx="0" cy="2011680"/>
          </a:xfrm>
          <a:prstGeom prst="line">
            <a:avLst/>
          </a:prstGeom>
          <a:noFill/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6" name="Shape 4"/>
          <p:cNvSpPr/>
          <p:nvPr/>
        </p:nvSpPr>
        <p:spPr>
          <a:xfrm>
            <a:off x="8503920" y="320040"/>
            <a:ext cx="0" cy="164592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7" name="Shape 5"/>
          <p:cNvSpPr/>
          <p:nvPr/>
        </p:nvSpPr>
        <p:spPr>
          <a:xfrm>
            <a:off x="137160" y="4663440"/>
            <a:ext cx="2011680" cy="0"/>
          </a:xfrm>
          <a:prstGeom prst="line">
            <a:avLst/>
          </a:prstGeom>
          <a:noFill/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8" name="Shape 6"/>
          <p:cNvSpPr/>
          <p:nvPr/>
        </p:nvSpPr>
        <p:spPr>
          <a:xfrm>
            <a:off x="137160" y="4480560"/>
            <a:ext cx="137160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9" name="Shape 7"/>
          <p:cNvSpPr/>
          <p:nvPr/>
        </p:nvSpPr>
        <p:spPr>
          <a:xfrm>
            <a:off x="201168" y="3200400"/>
            <a:ext cx="0" cy="1645920"/>
          </a:xfrm>
          <a:prstGeom prst="line">
            <a:avLst/>
          </a:prstGeom>
          <a:noFill/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0" name="Shape 8"/>
          <p:cNvSpPr/>
          <p:nvPr/>
        </p:nvSpPr>
        <p:spPr>
          <a:xfrm>
            <a:off x="384048" y="3474720"/>
            <a:ext cx="0" cy="1371600"/>
          </a:xfrm>
          <a:prstGeom prst="line">
            <a:avLst/>
          </a:prstGeom>
          <a:noFill/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1" name="Shape 9"/>
          <p:cNvSpPr/>
          <p:nvPr/>
        </p:nvSpPr>
        <p:spPr>
          <a:xfrm>
            <a:off x="0" y="4983480"/>
            <a:ext cx="3657600" cy="0"/>
          </a:xfrm>
          <a:prstGeom prst="line">
            <a:avLst/>
          </a:prstGeom>
          <a:noFill/>
          <a:ln w="1524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0" y="4983480"/>
            <a:ext cx="3657600" cy="0"/>
          </a:xfrm>
          <a:prstGeom prst="line">
            <a:avLst/>
          </a:prstGeom>
          <a:noFill/>
          <a:ln w="1524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3" name="Shape 11"/>
          <p:cNvSpPr/>
          <p:nvPr/>
        </p:nvSpPr>
        <p:spPr>
          <a:xfrm>
            <a:off x="73152" y="320040"/>
            <a:ext cx="54864" cy="54864"/>
          </a:xfrm>
          <a:prstGeom prst="ellipse">
            <a:avLst/>
          </a:prstGeom>
          <a:solidFill>
            <a:srgbClr val="00CADA">
              <a:alpha val="60000"/>
            </a:srgbClr>
          </a:solidFill>
          <a:ln w="1270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4" name="Shape 12"/>
          <p:cNvSpPr/>
          <p:nvPr/>
        </p:nvSpPr>
        <p:spPr>
          <a:xfrm>
            <a:off x="228600" y="228600"/>
            <a:ext cx="54864" cy="54864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5" name="Shape 13"/>
          <p:cNvSpPr/>
          <p:nvPr/>
        </p:nvSpPr>
        <p:spPr>
          <a:xfrm>
            <a:off x="8686800" y="4480560"/>
            <a:ext cx="54864" cy="54864"/>
          </a:xfrm>
          <a:prstGeom prst="ellipse">
            <a:avLst/>
          </a:prstGeom>
          <a:solidFill>
            <a:srgbClr val="00CADA">
              <a:alpha val="60000"/>
            </a:srgbClr>
          </a:solidFill>
          <a:ln w="1270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6" name="Shape 14"/>
          <p:cNvSpPr/>
          <p:nvPr/>
        </p:nvSpPr>
        <p:spPr>
          <a:xfrm>
            <a:off x="8823960" y="4617720"/>
            <a:ext cx="54864" cy="54864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7" name="Shape 15"/>
          <p:cNvSpPr/>
          <p:nvPr/>
        </p:nvSpPr>
        <p:spPr>
          <a:xfrm>
            <a:off x="6537960" y="128016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8" name="Shape 16"/>
          <p:cNvSpPr/>
          <p:nvPr/>
        </p:nvSpPr>
        <p:spPr>
          <a:xfrm>
            <a:off x="8851392" y="128016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9" name="Shape 17"/>
          <p:cNvSpPr/>
          <p:nvPr/>
        </p:nvSpPr>
        <p:spPr>
          <a:xfrm>
            <a:off x="8851392" y="214884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0" name="Shape 18"/>
          <p:cNvSpPr/>
          <p:nvPr/>
        </p:nvSpPr>
        <p:spPr>
          <a:xfrm>
            <a:off x="118872" y="443484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1" name="Shape 19"/>
          <p:cNvSpPr/>
          <p:nvPr/>
        </p:nvSpPr>
        <p:spPr>
          <a:xfrm>
            <a:off x="118872" y="470916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2" name="Shape 20"/>
          <p:cNvSpPr/>
          <p:nvPr/>
        </p:nvSpPr>
        <p:spPr>
          <a:xfrm>
            <a:off x="2121408" y="4681728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3" name="Text 21"/>
          <p:cNvSpPr/>
          <p:nvPr/>
        </p:nvSpPr>
        <p:spPr>
          <a:xfrm>
            <a:off x="502920" y="59436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30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Hidra é uma linguagem de programação criada inteiramente em Português, concebida para eliminar a barreira linguística no ensino de programação. O projeto cobre a fase de Análise Léxica.</a:t>
            </a:r>
            <a:endParaRPr lang="pt-PT" sz="1300" noProof="0" dirty="0"/>
          </a:p>
        </p:txBody>
      </p:sp>
      <p:sp>
        <p:nvSpPr>
          <p:cNvPr id="24" name="Text 22"/>
          <p:cNvSpPr/>
          <p:nvPr/>
        </p:nvSpPr>
        <p:spPr>
          <a:xfrm>
            <a:off x="502920" y="18745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30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Analisador Léxico (</a:t>
            </a:r>
            <a:r>
              <a:rPr lang="pt-PT" sz="1300" noProof="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AnaLex</a:t>
            </a:r>
            <a:r>
              <a:rPr lang="pt-PT" sz="130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é a 1ª fase de um compilador. Recebe o código-fonte como texto e devolve uma sequência de </a:t>
            </a:r>
            <a:r>
              <a:rPr lang="pt-PT" sz="1300" noProof="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</a:t>
            </a:r>
            <a:endParaRPr lang="pt-PT" sz="1300" noProof="0" dirty="0"/>
          </a:p>
        </p:txBody>
      </p:sp>
      <p:sp>
        <p:nvSpPr>
          <p:cNvPr id="25" name="Text 23"/>
          <p:cNvSpPr/>
          <p:nvPr/>
        </p:nvSpPr>
        <p:spPr>
          <a:xfrm>
            <a:off x="502919" y="2514600"/>
            <a:ext cx="8528345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t-PT" sz="1400" noProof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Responsabilidades: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pt-PT" sz="1400" noProof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Ler o programa fonte caractere a caractere;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pt-PT" sz="1400" noProof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Agrupar caracteres em unidades léxicas (lexemas);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pt-PT" sz="1400" noProof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Classificar cada lexema num </a:t>
            </a:r>
            <a:r>
              <a:rPr lang="pt-PT" sz="1400" noProof="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token</a:t>
            </a:r>
            <a:r>
              <a:rPr lang="pt-PT" sz="1400" noProof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;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pt-PT" sz="1400" noProof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Registar atributos relevantes (nome, valor, linha);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pt-PT" sz="1400" noProof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Ignorar espaços e comentários;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pt-PT" sz="1400" noProof="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Detectar</a:t>
            </a:r>
            <a:r>
              <a:rPr lang="pt-PT" sz="1400" noProof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símbolos inválidos</a:t>
            </a:r>
          </a:p>
        </p:txBody>
      </p:sp>
      <p:sp>
        <p:nvSpPr>
          <p:cNvPr id="26" name="Text 24"/>
          <p:cNvSpPr/>
          <p:nvPr/>
        </p:nvSpPr>
        <p:spPr>
          <a:xfrm>
            <a:off x="4663440" y="2514600"/>
            <a:ext cx="4023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pt-PT" sz="1200" noProof="0" dirty="0"/>
          </a:p>
        </p:txBody>
      </p:sp>
      <p:sp>
        <p:nvSpPr>
          <p:cNvPr id="27" name="Shape 25"/>
          <p:cNvSpPr/>
          <p:nvPr/>
        </p:nvSpPr>
        <p:spPr>
          <a:xfrm>
            <a:off x="502920" y="4297680"/>
            <a:ext cx="8138160" cy="658368"/>
          </a:xfrm>
          <a:prstGeom prst="roundRect">
            <a:avLst>
              <a:gd name="adj" fmla="val 11111"/>
            </a:avLst>
          </a:prstGeom>
          <a:solidFill>
            <a:srgbClr val="46406B">
              <a:alpha val="7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8" name="Text 26"/>
          <p:cNvSpPr/>
          <p:nvPr/>
        </p:nvSpPr>
        <p:spPr>
          <a:xfrm>
            <a:off x="594360" y="4315968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1250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Código-fonte  →  </a:t>
            </a:r>
            <a:r>
              <a:rPr lang="pt-PT" sz="1250" noProof="0" dirty="0" err="1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AnaLex</a:t>
            </a:r>
            <a:r>
              <a:rPr lang="pt-PT" sz="1250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</a:t>
            </a:r>
            <a:r>
              <a:rPr lang="pt-PT" sz="1250" noProof="0" dirty="0" err="1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Tokens</a:t>
            </a:r>
            <a:r>
              <a:rPr lang="pt-PT" sz="1250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Analisador Sintático (Fase 3)</a:t>
            </a:r>
            <a:endParaRPr lang="pt-PT" sz="1250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0E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164592"/>
            <a:ext cx="2286000" cy="0"/>
          </a:xfrm>
          <a:prstGeom prst="line">
            <a:avLst/>
          </a:prstGeom>
          <a:noFill/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3" name="Shape 1"/>
          <p:cNvSpPr/>
          <p:nvPr/>
        </p:nvSpPr>
        <p:spPr>
          <a:xfrm>
            <a:off x="7498080" y="347472"/>
            <a:ext cx="1371600" cy="0"/>
          </a:xfrm>
          <a:prstGeom prst="line">
            <a:avLst/>
          </a:prstGeom>
          <a:noFill/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4" name="Shape 2"/>
          <p:cNvSpPr/>
          <p:nvPr/>
        </p:nvSpPr>
        <p:spPr>
          <a:xfrm>
            <a:off x="6217920" y="502920"/>
            <a:ext cx="182880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5" name="Shape 3"/>
          <p:cNvSpPr/>
          <p:nvPr/>
        </p:nvSpPr>
        <p:spPr>
          <a:xfrm>
            <a:off x="8732520" y="137160"/>
            <a:ext cx="0" cy="2011680"/>
          </a:xfrm>
          <a:prstGeom prst="line">
            <a:avLst/>
          </a:prstGeom>
          <a:noFill/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6" name="Shape 4"/>
          <p:cNvSpPr/>
          <p:nvPr/>
        </p:nvSpPr>
        <p:spPr>
          <a:xfrm>
            <a:off x="8503920" y="320040"/>
            <a:ext cx="0" cy="164592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7" name="Shape 5"/>
          <p:cNvSpPr/>
          <p:nvPr/>
        </p:nvSpPr>
        <p:spPr>
          <a:xfrm>
            <a:off x="137160" y="4663440"/>
            <a:ext cx="2011680" cy="0"/>
          </a:xfrm>
          <a:prstGeom prst="line">
            <a:avLst/>
          </a:prstGeom>
          <a:noFill/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8" name="Shape 6"/>
          <p:cNvSpPr/>
          <p:nvPr/>
        </p:nvSpPr>
        <p:spPr>
          <a:xfrm>
            <a:off x="137160" y="4480560"/>
            <a:ext cx="137160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9" name="Shape 7"/>
          <p:cNvSpPr/>
          <p:nvPr/>
        </p:nvSpPr>
        <p:spPr>
          <a:xfrm>
            <a:off x="201168" y="3200400"/>
            <a:ext cx="0" cy="1645920"/>
          </a:xfrm>
          <a:prstGeom prst="line">
            <a:avLst/>
          </a:prstGeom>
          <a:noFill/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0" name="Shape 8"/>
          <p:cNvSpPr/>
          <p:nvPr/>
        </p:nvSpPr>
        <p:spPr>
          <a:xfrm>
            <a:off x="384048" y="3474720"/>
            <a:ext cx="0" cy="1371600"/>
          </a:xfrm>
          <a:prstGeom prst="line">
            <a:avLst/>
          </a:prstGeom>
          <a:noFill/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1" name="Shape 9"/>
          <p:cNvSpPr/>
          <p:nvPr/>
        </p:nvSpPr>
        <p:spPr>
          <a:xfrm>
            <a:off x="0" y="4983480"/>
            <a:ext cx="3657600" cy="0"/>
          </a:xfrm>
          <a:prstGeom prst="line">
            <a:avLst/>
          </a:prstGeom>
          <a:noFill/>
          <a:ln w="1524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0" y="4983480"/>
            <a:ext cx="3657600" cy="0"/>
          </a:xfrm>
          <a:prstGeom prst="line">
            <a:avLst/>
          </a:prstGeom>
          <a:noFill/>
          <a:ln w="1524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3" name="Shape 11"/>
          <p:cNvSpPr/>
          <p:nvPr/>
        </p:nvSpPr>
        <p:spPr>
          <a:xfrm>
            <a:off x="73152" y="320040"/>
            <a:ext cx="54864" cy="54864"/>
          </a:xfrm>
          <a:prstGeom prst="ellipse">
            <a:avLst/>
          </a:prstGeom>
          <a:solidFill>
            <a:srgbClr val="00CADA">
              <a:alpha val="60000"/>
            </a:srgbClr>
          </a:solidFill>
          <a:ln w="1270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4" name="Shape 12"/>
          <p:cNvSpPr/>
          <p:nvPr/>
        </p:nvSpPr>
        <p:spPr>
          <a:xfrm>
            <a:off x="228600" y="228600"/>
            <a:ext cx="54864" cy="54864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5" name="Shape 13"/>
          <p:cNvSpPr/>
          <p:nvPr/>
        </p:nvSpPr>
        <p:spPr>
          <a:xfrm>
            <a:off x="8686800" y="4480560"/>
            <a:ext cx="54864" cy="54864"/>
          </a:xfrm>
          <a:prstGeom prst="ellipse">
            <a:avLst/>
          </a:prstGeom>
          <a:solidFill>
            <a:srgbClr val="00CADA">
              <a:alpha val="60000"/>
            </a:srgbClr>
          </a:solidFill>
          <a:ln w="1270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6" name="Shape 14"/>
          <p:cNvSpPr/>
          <p:nvPr/>
        </p:nvSpPr>
        <p:spPr>
          <a:xfrm>
            <a:off x="8823960" y="4617720"/>
            <a:ext cx="54864" cy="54864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7" name="Shape 15"/>
          <p:cNvSpPr/>
          <p:nvPr/>
        </p:nvSpPr>
        <p:spPr>
          <a:xfrm>
            <a:off x="6537960" y="128016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8" name="Shape 16"/>
          <p:cNvSpPr/>
          <p:nvPr/>
        </p:nvSpPr>
        <p:spPr>
          <a:xfrm>
            <a:off x="8851392" y="128016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9" name="Shape 17"/>
          <p:cNvSpPr/>
          <p:nvPr/>
        </p:nvSpPr>
        <p:spPr>
          <a:xfrm>
            <a:off x="8851392" y="214884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0" name="Shape 18"/>
          <p:cNvSpPr/>
          <p:nvPr/>
        </p:nvSpPr>
        <p:spPr>
          <a:xfrm>
            <a:off x="118872" y="443484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1" name="Shape 19"/>
          <p:cNvSpPr/>
          <p:nvPr/>
        </p:nvSpPr>
        <p:spPr>
          <a:xfrm>
            <a:off x="118872" y="470916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2" name="Shape 20"/>
          <p:cNvSpPr/>
          <p:nvPr/>
        </p:nvSpPr>
        <p:spPr>
          <a:xfrm>
            <a:off x="2121408" y="4681728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3" name="Shape 21"/>
          <p:cNvSpPr/>
          <p:nvPr/>
        </p:nvSpPr>
        <p:spPr>
          <a:xfrm rot="5400000">
            <a:off x="2926080" y="2148840"/>
            <a:ext cx="268834" cy="384048"/>
          </a:xfrm>
          <a:prstGeom prst="rtTriangle">
            <a:avLst/>
          </a:prstGeom>
          <a:solidFill>
            <a:srgbClr val="00CADA"/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4" name="Text 22"/>
          <p:cNvSpPr/>
          <p:nvPr/>
        </p:nvSpPr>
        <p:spPr>
          <a:xfrm>
            <a:off x="3456432" y="2029968"/>
            <a:ext cx="5303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3400" b="1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JFLEX E</a:t>
            </a:r>
            <a:endParaRPr lang="pt-PT" sz="3400" noProof="0" dirty="0"/>
          </a:p>
        </p:txBody>
      </p:sp>
      <p:sp>
        <p:nvSpPr>
          <p:cNvPr id="25" name="Text 23"/>
          <p:cNvSpPr/>
          <p:nvPr/>
        </p:nvSpPr>
        <p:spPr>
          <a:xfrm>
            <a:off x="3456432" y="2487168"/>
            <a:ext cx="5303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3400" b="1" noProof="0" dirty="0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</a:t>
            </a:r>
            <a:r>
              <a:rPr lang="pt-PT" sz="3400" b="1" noProof="0" dirty="0" err="1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hidra.flex</a:t>
            </a:r>
            <a:endParaRPr lang="pt-PT" sz="3400" noProof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0E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164592"/>
            <a:ext cx="2286000" cy="0"/>
          </a:xfrm>
          <a:prstGeom prst="line">
            <a:avLst/>
          </a:prstGeom>
          <a:noFill/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3" name="Shape 1"/>
          <p:cNvSpPr/>
          <p:nvPr/>
        </p:nvSpPr>
        <p:spPr>
          <a:xfrm>
            <a:off x="7498080" y="347472"/>
            <a:ext cx="1371600" cy="0"/>
          </a:xfrm>
          <a:prstGeom prst="line">
            <a:avLst/>
          </a:prstGeom>
          <a:noFill/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4" name="Shape 2"/>
          <p:cNvSpPr/>
          <p:nvPr/>
        </p:nvSpPr>
        <p:spPr>
          <a:xfrm>
            <a:off x="6217920" y="502920"/>
            <a:ext cx="182880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5" name="Shape 3"/>
          <p:cNvSpPr/>
          <p:nvPr/>
        </p:nvSpPr>
        <p:spPr>
          <a:xfrm>
            <a:off x="8732520" y="137160"/>
            <a:ext cx="0" cy="2011680"/>
          </a:xfrm>
          <a:prstGeom prst="line">
            <a:avLst/>
          </a:prstGeom>
          <a:noFill/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6" name="Shape 4"/>
          <p:cNvSpPr/>
          <p:nvPr/>
        </p:nvSpPr>
        <p:spPr>
          <a:xfrm>
            <a:off x="8503920" y="320040"/>
            <a:ext cx="0" cy="164592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7" name="Shape 5"/>
          <p:cNvSpPr/>
          <p:nvPr/>
        </p:nvSpPr>
        <p:spPr>
          <a:xfrm>
            <a:off x="137160" y="4663440"/>
            <a:ext cx="2011680" cy="0"/>
          </a:xfrm>
          <a:prstGeom prst="line">
            <a:avLst/>
          </a:prstGeom>
          <a:noFill/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8" name="Shape 6"/>
          <p:cNvSpPr/>
          <p:nvPr/>
        </p:nvSpPr>
        <p:spPr>
          <a:xfrm>
            <a:off x="137160" y="4480560"/>
            <a:ext cx="137160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9" name="Shape 7"/>
          <p:cNvSpPr/>
          <p:nvPr/>
        </p:nvSpPr>
        <p:spPr>
          <a:xfrm>
            <a:off x="201168" y="3200400"/>
            <a:ext cx="0" cy="1645920"/>
          </a:xfrm>
          <a:prstGeom prst="line">
            <a:avLst/>
          </a:prstGeom>
          <a:noFill/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0" name="Shape 8"/>
          <p:cNvSpPr/>
          <p:nvPr/>
        </p:nvSpPr>
        <p:spPr>
          <a:xfrm>
            <a:off x="384048" y="3474720"/>
            <a:ext cx="0" cy="1371600"/>
          </a:xfrm>
          <a:prstGeom prst="line">
            <a:avLst/>
          </a:prstGeom>
          <a:noFill/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1" name="Shape 9"/>
          <p:cNvSpPr/>
          <p:nvPr/>
        </p:nvSpPr>
        <p:spPr>
          <a:xfrm>
            <a:off x="0" y="4983480"/>
            <a:ext cx="3657600" cy="0"/>
          </a:xfrm>
          <a:prstGeom prst="line">
            <a:avLst/>
          </a:prstGeom>
          <a:noFill/>
          <a:ln w="1524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0" y="4983480"/>
            <a:ext cx="3657600" cy="0"/>
          </a:xfrm>
          <a:prstGeom prst="line">
            <a:avLst/>
          </a:prstGeom>
          <a:noFill/>
          <a:ln w="1524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3" name="Shape 11"/>
          <p:cNvSpPr/>
          <p:nvPr/>
        </p:nvSpPr>
        <p:spPr>
          <a:xfrm>
            <a:off x="73152" y="320040"/>
            <a:ext cx="54864" cy="54864"/>
          </a:xfrm>
          <a:prstGeom prst="ellipse">
            <a:avLst/>
          </a:prstGeom>
          <a:solidFill>
            <a:srgbClr val="00CADA">
              <a:alpha val="60000"/>
            </a:srgbClr>
          </a:solidFill>
          <a:ln w="1270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4" name="Shape 12"/>
          <p:cNvSpPr/>
          <p:nvPr/>
        </p:nvSpPr>
        <p:spPr>
          <a:xfrm>
            <a:off x="228600" y="228600"/>
            <a:ext cx="54864" cy="54864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5" name="Shape 13"/>
          <p:cNvSpPr/>
          <p:nvPr/>
        </p:nvSpPr>
        <p:spPr>
          <a:xfrm>
            <a:off x="8686800" y="4480560"/>
            <a:ext cx="54864" cy="54864"/>
          </a:xfrm>
          <a:prstGeom prst="ellipse">
            <a:avLst/>
          </a:prstGeom>
          <a:solidFill>
            <a:srgbClr val="00CADA">
              <a:alpha val="60000"/>
            </a:srgbClr>
          </a:solidFill>
          <a:ln w="1270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6" name="Shape 14"/>
          <p:cNvSpPr/>
          <p:nvPr/>
        </p:nvSpPr>
        <p:spPr>
          <a:xfrm>
            <a:off x="8823960" y="4617720"/>
            <a:ext cx="54864" cy="54864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7" name="Shape 15"/>
          <p:cNvSpPr/>
          <p:nvPr/>
        </p:nvSpPr>
        <p:spPr>
          <a:xfrm>
            <a:off x="6537960" y="128016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8" name="Shape 16"/>
          <p:cNvSpPr/>
          <p:nvPr/>
        </p:nvSpPr>
        <p:spPr>
          <a:xfrm>
            <a:off x="8851392" y="128016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9" name="Shape 17"/>
          <p:cNvSpPr/>
          <p:nvPr/>
        </p:nvSpPr>
        <p:spPr>
          <a:xfrm>
            <a:off x="8851392" y="214884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0" name="Shape 18"/>
          <p:cNvSpPr/>
          <p:nvPr/>
        </p:nvSpPr>
        <p:spPr>
          <a:xfrm>
            <a:off x="118872" y="443484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1" name="Shape 19"/>
          <p:cNvSpPr/>
          <p:nvPr/>
        </p:nvSpPr>
        <p:spPr>
          <a:xfrm>
            <a:off x="118872" y="470916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2" name="Shape 20"/>
          <p:cNvSpPr/>
          <p:nvPr/>
        </p:nvSpPr>
        <p:spPr>
          <a:xfrm>
            <a:off x="2121408" y="4681728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3" name="Text 21"/>
          <p:cNvSpPr/>
          <p:nvPr/>
        </p:nvSpPr>
        <p:spPr>
          <a:xfrm>
            <a:off x="502920" y="25603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600" b="1" noProof="0" dirty="0" err="1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jFlex</a:t>
            </a:r>
            <a:endParaRPr lang="pt-PT" sz="1600" noProof="0" dirty="0"/>
          </a:p>
        </p:txBody>
      </p:sp>
      <p:sp>
        <p:nvSpPr>
          <p:cNvPr id="24" name="Shape 22"/>
          <p:cNvSpPr/>
          <p:nvPr/>
        </p:nvSpPr>
        <p:spPr>
          <a:xfrm>
            <a:off x="502920" y="594360"/>
            <a:ext cx="8138160" cy="0"/>
          </a:xfrm>
          <a:prstGeom prst="line">
            <a:avLst/>
          </a:prstGeom>
          <a:noFill/>
          <a:ln w="12700">
            <a:solidFill>
              <a:srgbClr val="00CADA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5" name="Text 23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30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</a:t>
            </a:r>
            <a:r>
              <a:rPr lang="pt-PT" sz="1300" noProof="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jFlex</a:t>
            </a:r>
            <a:r>
              <a:rPr lang="pt-PT" sz="130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é uma ferramenta que lê um ficheiro de regras (.</a:t>
            </a:r>
            <a:r>
              <a:rPr lang="pt-PT" sz="1300" noProof="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flex</a:t>
            </a:r>
            <a:r>
              <a:rPr lang="pt-PT" sz="130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e gera automaticamente o código Java do analisador léxico.</a:t>
            </a:r>
            <a:endParaRPr lang="pt-PT" sz="1300" noProof="0" dirty="0"/>
          </a:p>
        </p:txBody>
      </p:sp>
      <p:sp>
        <p:nvSpPr>
          <p:cNvPr id="31" name="Text 29"/>
          <p:cNvSpPr/>
          <p:nvPr/>
        </p:nvSpPr>
        <p:spPr>
          <a:xfrm>
            <a:off x="457199" y="1463039"/>
            <a:ext cx="7818115" cy="13898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PT" sz="1400" noProof="0" dirty="0">
                <a:solidFill>
                  <a:schemeClr val="bg1"/>
                </a:solidFill>
              </a:rPr>
              <a:t>O processo de geração consiste em: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pt-PT" sz="1400" noProof="0" dirty="0">
                <a:solidFill>
                  <a:schemeClr val="bg1"/>
                </a:solidFill>
              </a:rPr>
              <a:t>Definição dos padrões léxicos;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pt-PT" sz="1400" noProof="0" dirty="0">
                <a:solidFill>
                  <a:schemeClr val="bg1"/>
                </a:solidFill>
              </a:rPr>
              <a:t>Conversão para autómatos finitos;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pt-PT" sz="1400" noProof="0" dirty="0">
                <a:solidFill>
                  <a:schemeClr val="bg1"/>
                </a:solidFill>
              </a:rPr>
              <a:t>Minimização dos estados;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pt-PT" sz="1400" noProof="0" dirty="0">
                <a:solidFill>
                  <a:schemeClr val="bg1"/>
                </a:solidFill>
              </a:rPr>
              <a:t>Geração automática de código Java eficiente</a:t>
            </a:r>
            <a:r>
              <a:rPr lang="pt-PT" sz="1400" noProof="0" dirty="0"/>
              <a:t>.</a:t>
            </a:r>
          </a:p>
        </p:txBody>
      </p:sp>
      <p:sp>
        <p:nvSpPr>
          <p:cNvPr id="32" name="Text 30"/>
          <p:cNvSpPr/>
          <p:nvPr/>
        </p:nvSpPr>
        <p:spPr>
          <a:xfrm>
            <a:off x="502920" y="3063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100" b="1" noProof="0" dirty="0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de Trabalho</a:t>
            </a:r>
            <a:endParaRPr lang="pt-PT" sz="1100" noProof="0" dirty="0"/>
          </a:p>
        </p:txBody>
      </p:sp>
      <p:sp>
        <p:nvSpPr>
          <p:cNvPr id="33" name="Shape 31"/>
          <p:cNvSpPr/>
          <p:nvPr/>
        </p:nvSpPr>
        <p:spPr>
          <a:xfrm>
            <a:off x="502920" y="3310128"/>
            <a:ext cx="8138160" cy="0"/>
          </a:xfrm>
          <a:prstGeom prst="line">
            <a:avLst/>
          </a:prstGeom>
          <a:noFill/>
          <a:ln w="12700">
            <a:solidFill>
              <a:srgbClr val="00CADA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34" name="Shape 32"/>
          <p:cNvSpPr/>
          <p:nvPr/>
        </p:nvSpPr>
        <p:spPr>
          <a:xfrm>
            <a:off x="502920" y="3401568"/>
            <a:ext cx="1572768" cy="1417320"/>
          </a:xfrm>
          <a:prstGeom prst="roundRect">
            <a:avLst>
              <a:gd name="adj" fmla="val 5161"/>
            </a:avLst>
          </a:prstGeom>
          <a:solidFill>
            <a:srgbClr val="46406B">
              <a:alpha val="4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35" name="Text 33"/>
          <p:cNvSpPr/>
          <p:nvPr/>
        </p:nvSpPr>
        <p:spPr>
          <a:xfrm>
            <a:off x="557784" y="3456432"/>
            <a:ext cx="14630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1000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</a:t>
            </a:r>
            <a:r>
              <a:rPr lang="pt-PT" sz="1000" noProof="0" dirty="0" err="1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hidra.flex</a:t>
            </a:r>
            <a:endParaRPr lang="pt-PT" sz="1000" noProof="0" dirty="0"/>
          </a:p>
        </p:txBody>
      </p:sp>
      <p:sp>
        <p:nvSpPr>
          <p:cNvPr id="36" name="Text 34"/>
          <p:cNvSpPr/>
          <p:nvPr/>
        </p:nvSpPr>
        <p:spPr>
          <a:xfrm>
            <a:off x="2075688" y="3950208"/>
            <a:ext cx="146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1100" noProof="0" dirty="0">
                <a:solidFill>
                  <a:srgbClr val="00CADA"/>
                </a:solidFill>
              </a:rPr>
              <a:t>→</a:t>
            </a:r>
            <a:endParaRPr lang="pt-PT" sz="1100" noProof="0" dirty="0"/>
          </a:p>
        </p:txBody>
      </p:sp>
      <p:sp>
        <p:nvSpPr>
          <p:cNvPr id="37" name="Shape 35"/>
          <p:cNvSpPr/>
          <p:nvPr/>
        </p:nvSpPr>
        <p:spPr>
          <a:xfrm>
            <a:off x="2221992" y="3401568"/>
            <a:ext cx="1572768" cy="1417320"/>
          </a:xfrm>
          <a:prstGeom prst="roundRect">
            <a:avLst>
              <a:gd name="adj" fmla="val 5161"/>
            </a:avLst>
          </a:prstGeom>
          <a:solidFill>
            <a:srgbClr val="46406B">
              <a:alpha val="4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38" name="Text 36"/>
          <p:cNvSpPr/>
          <p:nvPr/>
        </p:nvSpPr>
        <p:spPr>
          <a:xfrm>
            <a:off x="2276856" y="3456432"/>
            <a:ext cx="14630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100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</a:t>
            </a:r>
            <a:r>
              <a:rPr lang="pt-PT" sz="1000" noProof="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jFlex</a:t>
            </a:r>
            <a:endParaRPr lang="pt-PT" sz="1000" noProof="0" dirty="0"/>
          </a:p>
          <a:p>
            <a:pPr marL="0" indent="0" algn="ctr">
              <a:buNone/>
            </a:pPr>
            <a:r>
              <a:rPr lang="pt-PT" sz="100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(Gera código)</a:t>
            </a:r>
            <a:endParaRPr lang="pt-PT" sz="1000" noProof="0" dirty="0"/>
          </a:p>
        </p:txBody>
      </p:sp>
      <p:sp>
        <p:nvSpPr>
          <p:cNvPr id="39" name="Text 37"/>
          <p:cNvSpPr/>
          <p:nvPr/>
        </p:nvSpPr>
        <p:spPr>
          <a:xfrm>
            <a:off x="3794760" y="3950208"/>
            <a:ext cx="146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1100" noProof="0" dirty="0">
                <a:solidFill>
                  <a:srgbClr val="00CADA"/>
                </a:solidFill>
              </a:rPr>
              <a:t>→</a:t>
            </a:r>
            <a:endParaRPr lang="pt-PT" sz="1100" noProof="0" dirty="0"/>
          </a:p>
        </p:txBody>
      </p:sp>
      <p:sp>
        <p:nvSpPr>
          <p:cNvPr id="40" name="Shape 38"/>
          <p:cNvSpPr/>
          <p:nvPr/>
        </p:nvSpPr>
        <p:spPr>
          <a:xfrm>
            <a:off x="3941064" y="3401568"/>
            <a:ext cx="1572768" cy="1417320"/>
          </a:xfrm>
          <a:prstGeom prst="roundRect">
            <a:avLst>
              <a:gd name="adj" fmla="val 5161"/>
            </a:avLst>
          </a:prstGeom>
          <a:solidFill>
            <a:srgbClr val="46406B">
              <a:alpha val="4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41" name="Text 39"/>
          <p:cNvSpPr/>
          <p:nvPr/>
        </p:nvSpPr>
        <p:spPr>
          <a:xfrm>
            <a:off x="3995928" y="3456432"/>
            <a:ext cx="14630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1000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AnaLex.java</a:t>
            </a:r>
            <a:endParaRPr lang="pt-PT" sz="1000" noProof="0" dirty="0"/>
          </a:p>
          <a:p>
            <a:pPr marL="0" indent="0" algn="ctr">
              <a:buNone/>
            </a:pPr>
            <a:r>
              <a:rPr lang="pt-PT" sz="1000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(Gerado auto)</a:t>
            </a:r>
            <a:endParaRPr lang="pt-PT" sz="1000" noProof="0" dirty="0"/>
          </a:p>
        </p:txBody>
      </p:sp>
      <p:sp>
        <p:nvSpPr>
          <p:cNvPr id="42" name="Text 40"/>
          <p:cNvSpPr/>
          <p:nvPr/>
        </p:nvSpPr>
        <p:spPr>
          <a:xfrm>
            <a:off x="5513832" y="3950208"/>
            <a:ext cx="146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1100" noProof="0" dirty="0">
                <a:solidFill>
                  <a:srgbClr val="00CADA"/>
                </a:solidFill>
              </a:rPr>
              <a:t>→</a:t>
            </a:r>
            <a:endParaRPr lang="pt-PT" sz="1100" noProof="0" dirty="0"/>
          </a:p>
        </p:txBody>
      </p:sp>
      <p:sp>
        <p:nvSpPr>
          <p:cNvPr id="43" name="Shape 41"/>
          <p:cNvSpPr/>
          <p:nvPr/>
        </p:nvSpPr>
        <p:spPr>
          <a:xfrm>
            <a:off x="5660136" y="3401568"/>
            <a:ext cx="1572768" cy="1417320"/>
          </a:xfrm>
          <a:prstGeom prst="roundRect">
            <a:avLst>
              <a:gd name="adj" fmla="val 5161"/>
            </a:avLst>
          </a:prstGeom>
          <a:solidFill>
            <a:srgbClr val="46406B">
              <a:alpha val="4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44" name="Text 42"/>
          <p:cNvSpPr/>
          <p:nvPr/>
        </p:nvSpPr>
        <p:spPr>
          <a:xfrm>
            <a:off x="5715000" y="3456432"/>
            <a:ext cx="14630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100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</a:t>
            </a:r>
            <a:r>
              <a:rPr lang="pt-PT" sz="1000" noProof="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javac</a:t>
            </a:r>
            <a:endParaRPr lang="pt-PT" sz="1000" noProof="0" dirty="0"/>
          </a:p>
          <a:p>
            <a:pPr marL="0" indent="0" algn="ctr">
              <a:buNone/>
            </a:pPr>
            <a:r>
              <a:rPr lang="pt-PT" sz="100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(Compila)</a:t>
            </a:r>
            <a:endParaRPr lang="pt-PT" sz="1000" noProof="0" dirty="0"/>
          </a:p>
        </p:txBody>
      </p:sp>
      <p:sp>
        <p:nvSpPr>
          <p:cNvPr id="45" name="Text 43"/>
          <p:cNvSpPr/>
          <p:nvPr/>
        </p:nvSpPr>
        <p:spPr>
          <a:xfrm>
            <a:off x="7232904" y="3950208"/>
            <a:ext cx="146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1100" noProof="0" dirty="0">
                <a:solidFill>
                  <a:srgbClr val="00CADA"/>
                </a:solidFill>
              </a:rPr>
              <a:t>→</a:t>
            </a:r>
            <a:endParaRPr lang="pt-PT" sz="1100" noProof="0" dirty="0"/>
          </a:p>
        </p:txBody>
      </p:sp>
      <p:sp>
        <p:nvSpPr>
          <p:cNvPr id="46" name="Shape 44"/>
          <p:cNvSpPr/>
          <p:nvPr/>
        </p:nvSpPr>
        <p:spPr>
          <a:xfrm>
            <a:off x="7379208" y="3401568"/>
            <a:ext cx="1572768" cy="1417320"/>
          </a:xfrm>
          <a:prstGeom prst="roundRect">
            <a:avLst>
              <a:gd name="adj" fmla="val 5161"/>
            </a:avLst>
          </a:prstGeom>
          <a:solidFill>
            <a:srgbClr val="46406B">
              <a:alpha val="4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47" name="Text 45"/>
          <p:cNvSpPr/>
          <p:nvPr/>
        </p:nvSpPr>
        <p:spPr>
          <a:xfrm>
            <a:off x="7434072" y="3456432"/>
            <a:ext cx="14630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100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 </a:t>
            </a:r>
            <a:r>
              <a:rPr lang="pt-PT" sz="1000" noProof="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hidra.Main</a:t>
            </a:r>
            <a:endParaRPr lang="pt-PT" sz="1000" noProof="0" dirty="0"/>
          </a:p>
          <a:p>
            <a:pPr marL="0" indent="0" algn="ctr">
              <a:buNone/>
            </a:pPr>
            <a:r>
              <a:rPr lang="pt-PT" sz="100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(Corre)</a:t>
            </a:r>
            <a:endParaRPr lang="pt-PT" sz="1000" noProof="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0E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164592"/>
            <a:ext cx="2286000" cy="0"/>
          </a:xfrm>
          <a:prstGeom prst="line">
            <a:avLst/>
          </a:prstGeom>
          <a:noFill/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3" name="Shape 1"/>
          <p:cNvSpPr/>
          <p:nvPr/>
        </p:nvSpPr>
        <p:spPr>
          <a:xfrm>
            <a:off x="7498080" y="347472"/>
            <a:ext cx="1371600" cy="0"/>
          </a:xfrm>
          <a:prstGeom prst="line">
            <a:avLst/>
          </a:prstGeom>
          <a:noFill/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4" name="Shape 2"/>
          <p:cNvSpPr/>
          <p:nvPr/>
        </p:nvSpPr>
        <p:spPr>
          <a:xfrm>
            <a:off x="6217920" y="502920"/>
            <a:ext cx="182880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5" name="Shape 3"/>
          <p:cNvSpPr/>
          <p:nvPr/>
        </p:nvSpPr>
        <p:spPr>
          <a:xfrm>
            <a:off x="8732520" y="137160"/>
            <a:ext cx="0" cy="2011680"/>
          </a:xfrm>
          <a:prstGeom prst="line">
            <a:avLst/>
          </a:prstGeom>
          <a:noFill/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6" name="Shape 4"/>
          <p:cNvSpPr/>
          <p:nvPr/>
        </p:nvSpPr>
        <p:spPr>
          <a:xfrm>
            <a:off x="8503920" y="320040"/>
            <a:ext cx="0" cy="164592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7" name="Shape 5"/>
          <p:cNvSpPr/>
          <p:nvPr/>
        </p:nvSpPr>
        <p:spPr>
          <a:xfrm>
            <a:off x="137160" y="4663440"/>
            <a:ext cx="2011680" cy="0"/>
          </a:xfrm>
          <a:prstGeom prst="line">
            <a:avLst/>
          </a:prstGeom>
          <a:noFill/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8" name="Shape 6"/>
          <p:cNvSpPr/>
          <p:nvPr/>
        </p:nvSpPr>
        <p:spPr>
          <a:xfrm>
            <a:off x="137160" y="4480560"/>
            <a:ext cx="137160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9" name="Shape 7"/>
          <p:cNvSpPr/>
          <p:nvPr/>
        </p:nvSpPr>
        <p:spPr>
          <a:xfrm>
            <a:off x="201168" y="3200400"/>
            <a:ext cx="0" cy="1645920"/>
          </a:xfrm>
          <a:prstGeom prst="line">
            <a:avLst/>
          </a:prstGeom>
          <a:noFill/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0" name="Shape 8"/>
          <p:cNvSpPr/>
          <p:nvPr/>
        </p:nvSpPr>
        <p:spPr>
          <a:xfrm>
            <a:off x="384048" y="3474720"/>
            <a:ext cx="0" cy="1371600"/>
          </a:xfrm>
          <a:prstGeom prst="line">
            <a:avLst/>
          </a:prstGeom>
          <a:noFill/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1" name="Shape 9"/>
          <p:cNvSpPr/>
          <p:nvPr/>
        </p:nvSpPr>
        <p:spPr>
          <a:xfrm>
            <a:off x="0" y="4983480"/>
            <a:ext cx="3657600" cy="0"/>
          </a:xfrm>
          <a:prstGeom prst="line">
            <a:avLst/>
          </a:prstGeom>
          <a:noFill/>
          <a:ln w="1524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0" y="4983480"/>
            <a:ext cx="3657600" cy="0"/>
          </a:xfrm>
          <a:prstGeom prst="line">
            <a:avLst/>
          </a:prstGeom>
          <a:noFill/>
          <a:ln w="1524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3" name="Shape 11"/>
          <p:cNvSpPr/>
          <p:nvPr/>
        </p:nvSpPr>
        <p:spPr>
          <a:xfrm>
            <a:off x="73152" y="320040"/>
            <a:ext cx="54864" cy="54864"/>
          </a:xfrm>
          <a:prstGeom prst="ellipse">
            <a:avLst/>
          </a:prstGeom>
          <a:solidFill>
            <a:srgbClr val="00CADA">
              <a:alpha val="60000"/>
            </a:srgbClr>
          </a:solidFill>
          <a:ln w="1270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4" name="Shape 12"/>
          <p:cNvSpPr/>
          <p:nvPr/>
        </p:nvSpPr>
        <p:spPr>
          <a:xfrm>
            <a:off x="228600" y="228600"/>
            <a:ext cx="54864" cy="54864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5" name="Shape 13"/>
          <p:cNvSpPr/>
          <p:nvPr/>
        </p:nvSpPr>
        <p:spPr>
          <a:xfrm>
            <a:off x="8686800" y="4480560"/>
            <a:ext cx="54864" cy="54864"/>
          </a:xfrm>
          <a:prstGeom prst="ellipse">
            <a:avLst/>
          </a:prstGeom>
          <a:solidFill>
            <a:srgbClr val="00CADA">
              <a:alpha val="60000"/>
            </a:srgbClr>
          </a:solidFill>
          <a:ln w="1270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6" name="Shape 14"/>
          <p:cNvSpPr/>
          <p:nvPr/>
        </p:nvSpPr>
        <p:spPr>
          <a:xfrm>
            <a:off x="8823960" y="4617720"/>
            <a:ext cx="54864" cy="54864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7" name="Shape 15"/>
          <p:cNvSpPr/>
          <p:nvPr/>
        </p:nvSpPr>
        <p:spPr>
          <a:xfrm>
            <a:off x="6537960" y="128016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8" name="Shape 16"/>
          <p:cNvSpPr/>
          <p:nvPr/>
        </p:nvSpPr>
        <p:spPr>
          <a:xfrm>
            <a:off x="8851392" y="128016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9" name="Shape 17"/>
          <p:cNvSpPr/>
          <p:nvPr/>
        </p:nvSpPr>
        <p:spPr>
          <a:xfrm>
            <a:off x="8851392" y="214884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0" name="Shape 18"/>
          <p:cNvSpPr/>
          <p:nvPr/>
        </p:nvSpPr>
        <p:spPr>
          <a:xfrm>
            <a:off x="118872" y="443484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1" name="Shape 19"/>
          <p:cNvSpPr/>
          <p:nvPr/>
        </p:nvSpPr>
        <p:spPr>
          <a:xfrm>
            <a:off x="118872" y="470916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2" name="Shape 20"/>
          <p:cNvSpPr/>
          <p:nvPr/>
        </p:nvSpPr>
        <p:spPr>
          <a:xfrm>
            <a:off x="2121408" y="4681728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3" name="Text 21"/>
          <p:cNvSpPr/>
          <p:nvPr/>
        </p:nvSpPr>
        <p:spPr>
          <a:xfrm>
            <a:off x="502920" y="16459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600" b="1" noProof="0" dirty="0" err="1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hidra.flex</a:t>
            </a:r>
            <a:endParaRPr lang="pt-PT" sz="1600" noProof="0" dirty="0"/>
          </a:p>
        </p:txBody>
      </p:sp>
      <p:sp>
        <p:nvSpPr>
          <p:cNvPr id="24" name="Shape 22"/>
          <p:cNvSpPr/>
          <p:nvPr/>
        </p:nvSpPr>
        <p:spPr>
          <a:xfrm>
            <a:off x="502920" y="475488"/>
            <a:ext cx="8138160" cy="0"/>
          </a:xfrm>
          <a:prstGeom prst="line">
            <a:avLst/>
          </a:prstGeom>
          <a:noFill/>
          <a:ln w="12700">
            <a:solidFill>
              <a:srgbClr val="00CADA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5" name="Text 23"/>
          <p:cNvSpPr/>
          <p:nvPr/>
        </p:nvSpPr>
        <p:spPr>
          <a:xfrm>
            <a:off x="502920" y="530352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1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ficheiro </a:t>
            </a:r>
            <a:r>
              <a:rPr lang="pt-PT" sz="1150" noProof="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hidra.flex</a:t>
            </a:r>
            <a:r>
              <a:rPr lang="pt-PT" sz="11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tem 4 secções obrigatórias que o </a:t>
            </a:r>
            <a:r>
              <a:rPr lang="pt-PT" sz="1150" noProof="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jFlex</a:t>
            </a:r>
            <a:r>
              <a:rPr lang="pt-PT" sz="11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interpreta para gerar o AnaLex.java:</a:t>
            </a:r>
            <a:endParaRPr lang="pt-PT" sz="1150" noProof="0" dirty="0"/>
          </a:p>
        </p:txBody>
      </p:sp>
      <p:sp>
        <p:nvSpPr>
          <p:cNvPr id="26" name="Text 24"/>
          <p:cNvSpPr/>
          <p:nvPr/>
        </p:nvSpPr>
        <p:spPr>
          <a:xfrm>
            <a:off x="274320" y="10241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100" b="1" noProof="0" dirty="0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Package</a:t>
            </a:r>
            <a:endParaRPr lang="pt-PT" sz="1100" noProof="0" dirty="0"/>
          </a:p>
        </p:txBody>
      </p:sp>
      <p:sp>
        <p:nvSpPr>
          <p:cNvPr id="27" name="Shape 25"/>
          <p:cNvSpPr/>
          <p:nvPr/>
        </p:nvSpPr>
        <p:spPr>
          <a:xfrm>
            <a:off x="274320" y="1298448"/>
            <a:ext cx="4069080" cy="0"/>
          </a:xfrm>
          <a:prstGeom prst="line">
            <a:avLst/>
          </a:prstGeom>
          <a:noFill/>
          <a:ln w="12700">
            <a:solidFill>
              <a:srgbClr val="00CADA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8" name="Shape 26"/>
          <p:cNvSpPr/>
          <p:nvPr/>
        </p:nvSpPr>
        <p:spPr>
          <a:xfrm>
            <a:off x="274320" y="1353312"/>
            <a:ext cx="4069080" cy="914400"/>
          </a:xfrm>
          <a:prstGeom prst="roundRect">
            <a:avLst>
              <a:gd name="adj" fmla="val 6000"/>
            </a:avLst>
          </a:prstGeom>
          <a:solidFill>
            <a:srgbClr val="08061A"/>
          </a:solidFill>
          <a:ln w="12700">
            <a:solidFill>
              <a:srgbClr val="46406B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9" name="Text 27"/>
          <p:cNvSpPr/>
          <p:nvPr/>
        </p:nvSpPr>
        <p:spPr>
          <a:xfrm>
            <a:off x="384048" y="140817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850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 hidra;</a:t>
            </a:r>
            <a:endParaRPr lang="pt-PT" sz="850" noProof="0" dirty="0"/>
          </a:p>
        </p:txBody>
      </p:sp>
      <p:sp>
        <p:nvSpPr>
          <p:cNvPr id="30" name="Text 28"/>
          <p:cNvSpPr/>
          <p:nvPr/>
        </p:nvSpPr>
        <p:spPr>
          <a:xfrm>
            <a:off x="274320" y="2304288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Declara o package Java. Garante que o </a:t>
            </a:r>
            <a:r>
              <a:rPr lang="pt-PT" sz="950" noProof="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AnaLex</a:t>
            </a:r>
            <a:r>
              <a:rPr lang="pt-PT" sz="9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gerado pertence ao mesmo espaço de nomes que as tabelas.</a:t>
            </a:r>
            <a:endParaRPr lang="pt-PT" sz="950" noProof="0" dirty="0"/>
          </a:p>
        </p:txBody>
      </p:sp>
      <p:sp>
        <p:nvSpPr>
          <p:cNvPr id="31" name="Text 29"/>
          <p:cNvSpPr/>
          <p:nvPr/>
        </p:nvSpPr>
        <p:spPr>
          <a:xfrm>
            <a:off x="4754880" y="10241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100" b="1" noProof="0" dirty="0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Opções </a:t>
            </a:r>
            <a:r>
              <a:rPr lang="pt-PT" sz="1100" b="1" noProof="0" dirty="0" err="1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jFlex</a:t>
            </a:r>
            <a:endParaRPr lang="pt-PT" sz="1100" noProof="0" dirty="0"/>
          </a:p>
        </p:txBody>
      </p:sp>
      <p:sp>
        <p:nvSpPr>
          <p:cNvPr id="32" name="Shape 30"/>
          <p:cNvSpPr/>
          <p:nvPr/>
        </p:nvSpPr>
        <p:spPr>
          <a:xfrm>
            <a:off x="4754880" y="1298448"/>
            <a:ext cx="4069080" cy="0"/>
          </a:xfrm>
          <a:prstGeom prst="line">
            <a:avLst/>
          </a:prstGeom>
          <a:noFill/>
          <a:ln w="12700">
            <a:solidFill>
              <a:srgbClr val="00CADA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33" name="Shape 31"/>
          <p:cNvSpPr/>
          <p:nvPr/>
        </p:nvSpPr>
        <p:spPr>
          <a:xfrm>
            <a:off x="4754880" y="1353312"/>
            <a:ext cx="4069080" cy="914400"/>
          </a:xfrm>
          <a:prstGeom prst="roundRect">
            <a:avLst>
              <a:gd name="adj" fmla="val 6000"/>
            </a:avLst>
          </a:prstGeom>
          <a:solidFill>
            <a:srgbClr val="08061A"/>
          </a:solidFill>
          <a:ln w="12700">
            <a:solidFill>
              <a:srgbClr val="46406B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34" name="Text 32"/>
          <p:cNvSpPr/>
          <p:nvPr/>
        </p:nvSpPr>
        <p:spPr>
          <a:xfrm>
            <a:off x="4864608" y="140817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850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%%</a:t>
            </a:r>
            <a:endParaRPr lang="pt-PT" sz="850" noProof="0" dirty="0"/>
          </a:p>
        </p:txBody>
      </p:sp>
      <p:sp>
        <p:nvSpPr>
          <p:cNvPr id="35" name="Text 33"/>
          <p:cNvSpPr/>
          <p:nvPr/>
        </p:nvSpPr>
        <p:spPr>
          <a:xfrm>
            <a:off x="4864608" y="159105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850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</a:t>
            </a:r>
            <a:r>
              <a:rPr lang="pt-PT" sz="850" noProof="0" dirty="0" err="1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r>
              <a:rPr lang="pt-PT" sz="850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PT" sz="850" noProof="0" dirty="0" err="1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AnaLex</a:t>
            </a:r>
            <a:endParaRPr lang="pt-PT" sz="850" noProof="0" dirty="0"/>
          </a:p>
        </p:txBody>
      </p:sp>
      <p:sp>
        <p:nvSpPr>
          <p:cNvPr id="36" name="Text 34"/>
          <p:cNvSpPr/>
          <p:nvPr/>
        </p:nvSpPr>
        <p:spPr>
          <a:xfrm>
            <a:off x="4864608" y="177393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850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</a:t>
            </a:r>
            <a:r>
              <a:rPr lang="pt-PT" sz="850" noProof="0" dirty="0" err="1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unicode</a:t>
            </a:r>
            <a:endParaRPr lang="pt-PT" sz="850" noProof="0" dirty="0"/>
          </a:p>
        </p:txBody>
      </p:sp>
      <p:sp>
        <p:nvSpPr>
          <p:cNvPr id="37" name="Text 35"/>
          <p:cNvSpPr/>
          <p:nvPr/>
        </p:nvSpPr>
        <p:spPr>
          <a:xfrm>
            <a:off x="4864608" y="195681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850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</a:t>
            </a:r>
            <a:r>
              <a:rPr lang="pt-PT" sz="850" noProof="0" dirty="0" err="1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</a:t>
            </a:r>
            <a:endParaRPr lang="pt-PT" sz="850" noProof="0" dirty="0"/>
          </a:p>
        </p:txBody>
      </p:sp>
      <p:sp>
        <p:nvSpPr>
          <p:cNvPr id="38" name="Text 36"/>
          <p:cNvSpPr/>
          <p:nvPr/>
        </p:nvSpPr>
        <p:spPr>
          <a:xfrm>
            <a:off x="4864608" y="213969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850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</a:t>
            </a:r>
            <a:r>
              <a:rPr lang="pt-PT" sz="850" noProof="0" dirty="0" err="1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pt-PT" sz="850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PT" sz="850" noProof="0" dirty="0" err="1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TokenInfo</a:t>
            </a:r>
            <a:endParaRPr lang="pt-PT" sz="850" noProof="0" dirty="0"/>
          </a:p>
        </p:txBody>
      </p:sp>
      <p:sp>
        <p:nvSpPr>
          <p:cNvPr id="39" name="Text 37"/>
          <p:cNvSpPr/>
          <p:nvPr/>
        </p:nvSpPr>
        <p:spPr>
          <a:xfrm>
            <a:off x="4864608" y="232257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850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%{ ... tabelas ... %}</a:t>
            </a:r>
            <a:endParaRPr lang="pt-PT" sz="850" noProof="0" dirty="0"/>
          </a:p>
        </p:txBody>
      </p:sp>
      <p:sp>
        <p:nvSpPr>
          <p:cNvPr id="40" name="Text 38"/>
          <p:cNvSpPr/>
          <p:nvPr/>
        </p:nvSpPr>
        <p:spPr>
          <a:xfrm>
            <a:off x="4754880" y="2304288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 o </a:t>
            </a:r>
            <a:r>
              <a:rPr lang="pt-PT" sz="950" noProof="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jFlex</a:t>
            </a:r>
            <a:r>
              <a:rPr lang="pt-PT" sz="9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nome da classe, suporte UTF-8, contador de linhas e injeta o código das tabelas.</a:t>
            </a:r>
            <a:endParaRPr lang="pt-PT" sz="950" noProof="0" dirty="0"/>
          </a:p>
        </p:txBody>
      </p:sp>
      <p:sp>
        <p:nvSpPr>
          <p:cNvPr id="41" name="Text 39"/>
          <p:cNvSpPr/>
          <p:nvPr/>
        </p:nvSpPr>
        <p:spPr>
          <a:xfrm>
            <a:off x="274320" y="31089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100" b="1" noProof="0" dirty="0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Padrões</a:t>
            </a:r>
            <a:endParaRPr lang="pt-PT" sz="1100" noProof="0" dirty="0"/>
          </a:p>
        </p:txBody>
      </p:sp>
      <p:sp>
        <p:nvSpPr>
          <p:cNvPr id="42" name="Shape 40"/>
          <p:cNvSpPr/>
          <p:nvPr/>
        </p:nvSpPr>
        <p:spPr>
          <a:xfrm>
            <a:off x="274320" y="3383280"/>
            <a:ext cx="4069080" cy="0"/>
          </a:xfrm>
          <a:prstGeom prst="line">
            <a:avLst/>
          </a:prstGeom>
          <a:noFill/>
          <a:ln w="12700">
            <a:solidFill>
              <a:srgbClr val="00CADA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43" name="Shape 41"/>
          <p:cNvSpPr/>
          <p:nvPr/>
        </p:nvSpPr>
        <p:spPr>
          <a:xfrm>
            <a:off x="274320" y="3438144"/>
            <a:ext cx="4069080" cy="914400"/>
          </a:xfrm>
          <a:prstGeom prst="roundRect">
            <a:avLst>
              <a:gd name="adj" fmla="val 6000"/>
            </a:avLst>
          </a:prstGeom>
          <a:solidFill>
            <a:srgbClr val="08061A"/>
          </a:solidFill>
          <a:ln w="12700">
            <a:solidFill>
              <a:srgbClr val="46406B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44" name="Text 42"/>
          <p:cNvSpPr/>
          <p:nvPr/>
        </p:nvSpPr>
        <p:spPr>
          <a:xfrm>
            <a:off x="384048" y="349300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850" noProof="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Digito  = [0-9]</a:t>
            </a:r>
            <a:endParaRPr lang="pt-PT" sz="850" noProof="0" dirty="0"/>
          </a:p>
        </p:txBody>
      </p:sp>
      <p:sp>
        <p:nvSpPr>
          <p:cNvPr id="45" name="Text 43"/>
          <p:cNvSpPr/>
          <p:nvPr/>
        </p:nvSpPr>
        <p:spPr>
          <a:xfrm>
            <a:off x="384048" y="367588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850" noProof="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Letra   = [a-</a:t>
            </a:r>
            <a:r>
              <a:rPr lang="pt-PT" sz="850" noProof="0" dirty="0" err="1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</a:t>
            </a:r>
            <a:r>
              <a:rPr lang="pt-PT" sz="850" noProof="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-Z_]</a:t>
            </a:r>
            <a:endParaRPr lang="pt-PT" sz="850" noProof="0" dirty="0"/>
          </a:p>
        </p:txBody>
      </p:sp>
      <p:sp>
        <p:nvSpPr>
          <p:cNvPr id="46" name="Text 44"/>
          <p:cNvSpPr/>
          <p:nvPr/>
        </p:nvSpPr>
        <p:spPr>
          <a:xfrm>
            <a:off x="384048" y="385876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850" noProof="0" dirty="0" err="1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Ident</a:t>
            </a:r>
            <a:r>
              <a:rPr lang="pt-PT" sz="850" noProof="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= {Letra}({Letra}|{Digito})*</a:t>
            </a:r>
            <a:endParaRPr lang="pt-PT" sz="850" noProof="0" dirty="0"/>
          </a:p>
        </p:txBody>
      </p:sp>
      <p:sp>
        <p:nvSpPr>
          <p:cNvPr id="47" name="Text 45"/>
          <p:cNvSpPr/>
          <p:nvPr/>
        </p:nvSpPr>
        <p:spPr>
          <a:xfrm>
            <a:off x="384048" y="404164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850" noProof="0" dirty="0" err="1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LitReal</a:t>
            </a:r>
            <a:r>
              <a:rPr lang="pt-PT" sz="850" noProof="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{Digito}+\.{Digito}+</a:t>
            </a:r>
            <a:endParaRPr lang="pt-PT" sz="850" noProof="0" dirty="0"/>
          </a:p>
        </p:txBody>
      </p:sp>
      <p:sp>
        <p:nvSpPr>
          <p:cNvPr id="48" name="Text 46"/>
          <p:cNvSpPr/>
          <p:nvPr/>
        </p:nvSpPr>
        <p:spPr>
          <a:xfrm>
            <a:off x="274320" y="4389120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macros reutilizáveis com nomes descritivos — como variáveis para expressões regulares.</a:t>
            </a:r>
            <a:endParaRPr lang="pt-PT" sz="950" noProof="0" dirty="0"/>
          </a:p>
        </p:txBody>
      </p:sp>
      <p:sp>
        <p:nvSpPr>
          <p:cNvPr id="49" name="Text 47"/>
          <p:cNvSpPr/>
          <p:nvPr/>
        </p:nvSpPr>
        <p:spPr>
          <a:xfrm>
            <a:off x="4754880" y="31089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100" b="1" noProof="0" dirty="0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Regras</a:t>
            </a:r>
            <a:endParaRPr lang="pt-PT" sz="1100" noProof="0" dirty="0"/>
          </a:p>
        </p:txBody>
      </p:sp>
      <p:sp>
        <p:nvSpPr>
          <p:cNvPr id="50" name="Shape 48"/>
          <p:cNvSpPr/>
          <p:nvPr/>
        </p:nvSpPr>
        <p:spPr>
          <a:xfrm>
            <a:off x="4754880" y="3383280"/>
            <a:ext cx="4069080" cy="0"/>
          </a:xfrm>
          <a:prstGeom prst="line">
            <a:avLst/>
          </a:prstGeom>
          <a:noFill/>
          <a:ln w="12700">
            <a:solidFill>
              <a:srgbClr val="00CADA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51" name="Shape 49"/>
          <p:cNvSpPr/>
          <p:nvPr/>
        </p:nvSpPr>
        <p:spPr>
          <a:xfrm>
            <a:off x="4754880" y="3438144"/>
            <a:ext cx="4069080" cy="914400"/>
          </a:xfrm>
          <a:prstGeom prst="roundRect">
            <a:avLst>
              <a:gd name="adj" fmla="val 6000"/>
            </a:avLst>
          </a:prstGeom>
          <a:solidFill>
            <a:srgbClr val="08061A"/>
          </a:solidFill>
          <a:ln w="12700">
            <a:solidFill>
              <a:srgbClr val="46406B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52" name="Text 50"/>
          <p:cNvSpPr/>
          <p:nvPr/>
        </p:nvSpPr>
        <p:spPr>
          <a:xfrm>
            <a:off x="4864608" y="349300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850" noProof="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{Branco}  { /* ignora */ }</a:t>
            </a:r>
            <a:endParaRPr lang="pt-PT" sz="850" noProof="0" dirty="0"/>
          </a:p>
        </p:txBody>
      </p:sp>
      <p:sp>
        <p:nvSpPr>
          <p:cNvPr id="53" name="Text 51"/>
          <p:cNvSpPr/>
          <p:nvPr/>
        </p:nvSpPr>
        <p:spPr>
          <a:xfrm>
            <a:off x="4864608" y="367588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850" noProof="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pt-PT" sz="850" noProof="0" dirty="0" err="1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Ident</a:t>
            </a:r>
            <a:r>
              <a:rPr lang="pt-PT" sz="850" noProof="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  { </a:t>
            </a:r>
            <a:r>
              <a:rPr lang="pt-PT" sz="850" noProof="0" dirty="0" err="1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pt-PT" sz="850" noProof="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PT" sz="850" noProof="0" dirty="0" err="1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processarIdent</a:t>
            </a:r>
            <a:r>
              <a:rPr lang="pt-PT" sz="850" noProof="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(); }</a:t>
            </a:r>
            <a:endParaRPr lang="pt-PT" sz="850" noProof="0" dirty="0"/>
          </a:p>
        </p:txBody>
      </p:sp>
      <p:sp>
        <p:nvSpPr>
          <p:cNvPr id="54" name="Text 52"/>
          <p:cNvSpPr/>
          <p:nvPr/>
        </p:nvSpPr>
        <p:spPr>
          <a:xfrm>
            <a:off x="4864608" y="385876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850" noProof="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"**"   { </a:t>
            </a:r>
            <a:r>
              <a:rPr lang="pt-PT" sz="850" noProof="0" dirty="0" err="1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pt-PT" sz="850" noProof="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PT" sz="850" noProof="0" dirty="0" err="1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</a:t>
            </a:r>
            <a:r>
              <a:rPr lang="pt-PT" sz="850" noProof="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(POTENCIA); }</a:t>
            </a:r>
            <a:endParaRPr lang="pt-PT" sz="850" noProof="0" dirty="0"/>
          </a:p>
        </p:txBody>
      </p:sp>
      <p:sp>
        <p:nvSpPr>
          <p:cNvPr id="55" name="Text 53"/>
          <p:cNvSpPr/>
          <p:nvPr/>
        </p:nvSpPr>
        <p:spPr>
          <a:xfrm>
            <a:off x="4864608" y="404164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850" noProof="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[^]     { </a:t>
            </a:r>
            <a:r>
              <a:rPr lang="pt-PT" sz="850" noProof="0" dirty="0" err="1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pt-PT" sz="850" noProof="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PT" sz="850" noProof="0" dirty="0" err="1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</a:t>
            </a:r>
            <a:r>
              <a:rPr lang="pt-PT" sz="850" noProof="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(DESCONHECIDO); }</a:t>
            </a:r>
            <a:endParaRPr lang="pt-PT" sz="850" noProof="0" dirty="0"/>
          </a:p>
        </p:txBody>
      </p:sp>
      <p:sp>
        <p:nvSpPr>
          <p:cNvPr id="56" name="Text 54"/>
          <p:cNvSpPr/>
          <p:nvPr/>
        </p:nvSpPr>
        <p:spPr>
          <a:xfrm>
            <a:off x="4754880" y="4389120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parte central: cada regra associa um padrão a um </a:t>
            </a:r>
            <a:r>
              <a:rPr lang="pt-PT" sz="950" noProof="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</a:t>
            </a:r>
            <a:r>
              <a:rPr lang="pt-PT" sz="9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devolvido. O mais específico tem prioridade.</a:t>
            </a:r>
            <a:endParaRPr lang="pt-PT" sz="950" noProof="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0E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164592"/>
            <a:ext cx="2286000" cy="0"/>
          </a:xfrm>
          <a:prstGeom prst="line">
            <a:avLst/>
          </a:prstGeom>
          <a:noFill/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3" name="Shape 1"/>
          <p:cNvSpPr/>
          <p:nvPr/>
        </p:nvSpPr>
        <p:spPr>
          <a:xfrm>
            <a:off x="7498080" y="347472"/>
            <a:ext cx="1371600" cy="0"/>
          </a:xfrm>
          <a:prstGeom prst="line">
            <a:avLst/>
          </a:prstGeom>
          <a:noFill/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4" name="Shape 2"/>
          <p:cNvSpPr/>
          <p:nvPr/>
        </p:nvSpPr>
        <p:spPr>
          <a:xfrm>
            <a:off x="6217920" y="502920"/>
            <a:ext cx="182880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5" name="Shape 3"/>
          <p:cNvSpPr/>
          <p:nvPr/>
        </p:nvSpPr>
        <p:spPr>
          <a:xfrm>
            <a:off x="8732520" y="137160"/>
            <a:ext cx="0" cy="2011680"/>
          </a:xfrm>
          <a:prstGeom prst="line">
            <a:avLst/>
          </a:prstGeom>
          <a:noFill/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6" name="Shape 4"/>
          <p:cNvSpPr/>
          <p:nvPr/>
        </p:nvSpPr>
        <p:spPr>
          <a:xfrm>
            <a:off x="8503920" y="320040"/>
            <a:ext cx="0" cy="164592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7" name="Shape 5"/>
          <p:cNvSpPr/>
          <p:nvPr/>
        </p:nvSpPr>
        <p:spPr>
          <a:xfrm>
            <a:off x="137160" y="4663440"/>
            <a:ext cx="2011680" cy="0"/>
          </a:xfrm>
          <a:prstGeom prst="line">
            <a:avLst/>
          </a:prstGeom>
          <a:noFill/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8" name="Shape 6"/>
          <p:cNvSpPr/>
          <p:nvPr/>
        </p:nvSpPr>
        <p:spPr>
          <a:xfrm>
            <a:off x="137160" y="4480560"/>
            <a:ext cx="137160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9" name="Shape 7"/>
          <p:cNvSpPr/>
          <p:nvPr/>
        </p:nvSpPr>
        <p:spPr>
          <a:xfrm>
            <a:off x="201168" y="3200400"/>
            <a:ext cx="0" cy="1645920"/>
          </a:xfrm>
          <a:prstGeom prst="line">
            <a:avLst/>
          </a:prstGeom>
          <a:noFill/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0" name="Shape 8"/>
          <p:cNvSpPr/>
          <p:nvPr/>
        </p:nvSpPr>
        <p:spPr>
          <a:xfrm>
            <a:off x="384048" y="3474720"/>
            <a:ext cx="0" cy="1371600"/>
          </a:xfrm>
          <a:prstGeom prst="line">
            <a:avLst/>
          </a:prstGeom>
          <a:noFill/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1" name="Shape 9"/>
          <p:cNvSpPr/>
          <p:nvPr/>
        </p:nvSpPr>
        <p:spPr>
          <a:xfrm>
            <a:off x="0" y="4983480"/>
            <a:ext cx="3657600" cy="0"/>
          </a:xfrm>
          <a:prstGeom prst="line">
            <a:avLst/>
          </a:prstGeom>
          <a:noFill/>
          <a:ln w="1524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0" y="4983480"/>
            <a:ext cx="3657600" cy="0"/>
          </a:xfrm>
          <a:prstGeom prst="line">
            <a:avLst/>
          </a:prstGeom>
          <a:noFill/>
          <a:ln w="1524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3" name="Shape 11"/>
          <p:cNvSpPr/>
          <p:nvPr/>
        </p:nvSpPr>
        <p:spPr>
          <a:xfrm>
            <a:off x="73152" y="320040"/>
            <a:ext cx="54864" cy="54864"/>
          </a:xfrm>
          <a:prstGeom prst="ellipse">
            <a:avLst/>
          </a:prstGeom>
          <a:solidFill>
            <a:srgbClr val="00CADA">
              <a:alpha val="60000"/>
            </a:srgbClr>
          </a:solidFill>
          <a:ln w="1270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4" name="Shape 12"/>
          <p:cNvSpPr/>
          <p:nvPr/>
        </p:nvSpPr>
        <p:spPr>
          <a:xfrm>
            <a:off x="228600" y="228600"/>
            <a:ext cx="54864" cy="54864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5" name="Shape 13"/>
          <p:cNvSpPr/>
          <p:nvPr/>
        </p:nvSpPr>
        <p:spPr>
          <a:xfrm>
            <a:off x="8686800" y="4480560"/>
            <a:ext cx="54864" cy="54864"/>
          </a:xfrm>
          <a:prstGeom prst="ellipse">
            <a:avLst/>
          </a:prstGeom>
          <a:solidFill>
            <a:srgbClr val="00CADA">
              <a:alpha val="60000"/>
            </a:srgbClr>
          </a:solidFill>
          <a:ln w="1270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6" name="Shape 14"/>
          <p:cNvSpPr/>
          <p:nvPr/>
        </p:nvSpPr>
        <p:spPr>
          <a:xfrm>
            <a:off x="8823960" y="4617720"/>
            <a:ext cx="54864" cy="54864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7" name="Shape 15"/>
          <p:cNvSpPr/>
          <p:nvPr/>
        </p:nvSpPr>
        <p:spPr>
          <a:xfrm>
            <a:off x="6537960" y="128016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8" name="Shape 16"/>
          <p:cNvSpPr/>
          <p:nvPr/>
        </p:nvSpPr>
        <p:spPr>
          <a:xfrm>
            <a:off x="8851392" y="128016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9" name="Shape 17"/>
          <p:cNvSpPr/>
          <p:nvPr/>
        </p:nvSpPr>
        <p:spPr>
          <a:xfrm>
            <a:off x="8851392" y="214884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0" name="Shape 18"/>
          <p:cNvSpPr/>
          <p:nvPr/>
        </p:nvSpPr>
        <p:spPr>
          <a:xfrm>
            <a:off x="118872" y="443484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1" name="Shape 19"/>
          <p:cNvSpPr/>
          <p:nvPr/>
        </p:nvSpPr>
        <p:spPr>
          <a:xfrm>
            <a:off x="118872" y="470916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2" name="Shape 20"/>
          <p:cNvSpPr/>
          <p:nvPr/>
        </p:nvSpPr>
        <p:spPr>
          <a:xfrm>
            <a:off x="2121408" y="4681728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3" name="Shape 21"/>
          <p:cNvSpPr/>
          <p:nvPr/>
        </p:nvSpPr>
        <p:spPr>
          <a:xfrm rot="5400000">
            <a:off x="2560320" y="2148840"/>
            <a:ext cx="268834" cy="384048"/>
          </a:xfrm>
          <a:prstGeom prst="rtTriangle">
            <a:avLst/>
          </a:prstGeom>
          <a:solidFill>
            <a:srgbClr val="00CADA"/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4" name="Text 22"/>
          <p:cNvSpPr/>
          <p:nvPr/>
        </p:nvSpPr>
        <p:spPr>
          <a:xfrm>
            <a:off x="3090672" y="2029968"/>
            <a:ext cx="5669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pt-PT" sz="3400" noProof="0" dirty="0"/>
          </a:p>
        </p:txBody>
      </p:sp>
      <p:sp>
        <p:nvSpPr>
          <p:cNvPr id="25" name="Text 23"/>
          <p:cNvSpPr/>
          <p:nvPr/>
        </p:nvSpPr>
        <p:spPr>
          <a:xfrm>
            <a:off x="3063240" y="2061971"/>
            <a:ext cx="5669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3400" b="1" noProof="0" dirty="0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LINGUAGEM HIDRA</a:t>
            </a:r>
            <a:endParaRPr lang="pt-PT" sz="3400" noProof="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0E2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08C1F76-1277-0AED-170A-B42913502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835339C-DD0F-B6A8-CC7C-07929261DACA}"/>
              </a:ext>
            </a:extLst>
          </p:cNvPr>
          <p:cNvSpPr/>
          <p:nvPr/>
        </p:nvSpPr>
        <p:spPr>
          <a:xfrm>
            <a:off x="6583680" y="164592"/>
            <a:ext cx="2286000" cy="0"/>
          </a:xfrm>
          <a:prstGeom prst="line">
            <a:avLst/>
          </a:prstGeom>
          <a:noFill/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A18165B-6CB4-DE86-AF19-D68E7A70C7A5}"/>
              </a:ext>
            </a:extLst>
          </p:cNvPr>
          <p:cNvSpPr/>
          <p:nvPr/>
        </p:nvSpPr>
        <p:spPr>
          <a:xfrm>
            <a:off x="7498080" y="347472"/>
            <a:ext cx="1371600" cy="0"/>
          </a:xfrm>
          <a:prstGeom prst="line">
            <a:avLst/>
          </a:prstGeom>
          <a:noFill/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C698AFD-1F97-5EB4-C163-01F8BF9904BD}"/>
              </a:ext>
            </a:extLst>
          </p:cNvPr>
          <p:cNvSpPr/>
          <p:nvPr/>
        </p:nvSpPr>
        <p:spPr>
          <a:xfrm>
            <a:off x="6217920" y="502920"/>
            <a:ext cx="182880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F3FFF53-797E-E50C-238D-B440914579A9}"/>
              </a:ext>
            </a:extLst>
          </p:cNvPr>
          <p:cNvSpPr/>
          <p:nvPr/>
        </p:nvSpPr>
        <p:spPr>
          <a:xfrm>
            <a:off x="8732520" y="137160"/>
            <a:ext cx="0" cy="2011680"/>
          </a:xfrm>
          <a:prstGeom prst="line">
            <a:avLst/>
          </a:prstGeom>
          <a:noFill/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EFA28688-2656-D92E-D0FA-22E788EC91AA}"/>
              </a:ext>
            </a:extLst>
          </p:cNvPr>
          <p:cNvSpPr/>
          <p:nvPr/>
        </p:nvSpPr>
        <p:spPr>
          <a:xfrm>
            <a:off x="8503920" y="320040"/>
            <a:ext cx="0" cy="164592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F08CBECE-1B05-8AB3-AF99-21BD405172E8}"/>
              </a:ext>
            </a:extLst>
          </p:cNvPr>
          <p:cNvSpPr/>
          <p:nvPr/>
        </p:nvSpPr>
        <p:spPr>
          <a:xfrm>
            <a:off x="137160" y="4663440"/>
            <a:ext cx="2011680" cy="0"/>
          </a:xfrm>
          <a:prstGeom prst="line">
            <a:avLst/>
          </a:prstGeom>
          <a:noFill/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CEA96539-06A9-6415-A54C-76180F217EDE}"/>
              </a:ext>
            </a:extLst>
          </p:cNvPr>
          <p:cNvSpPr/>
          <p:nvPr/>
        </p:nvSpPr>
        <p:spPr>
          <a:xfrm>
            <a:off x="137160" y="4480560"/>
            <a:ext cx="137160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63231BA2-8A4E-E2AF-27B6-D9ABECEB64E3}"/>
              </a:ext>
            </a:extLst>
          </p:cNvPr>
          <p:cNvSpPr/>
          <p:nvPr/>
        </p:nvSpPr>
        <p:spPr>
          <a:xfrm>
            <a:off x="201168" y="3200400"/>
            <a:ext cx="0" cy="1645920"/>
          </a:xfrm>
          <a:prstGeom prst="line">
            <a:avLst/>
          </a:prstGeom>
          <a:noFill/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2D37BF8C-CB12-7ABD-EBCA-9A1AD2BFB16E}"/>
              </a:ext>
            </a:extLst>
          </p:cNvPr>
          <p:cNvSpPr/>
          <p:nvPr/>
        </p:nvSpPr>
        <p:spPr>
          <a:xfrm>
            <a:off x="384048" y="3474720"/>
            <a:ext cx="0" cy="1371600"/>
          </a:xfrm>
          <a:prstGeom prst="line">
            <a:avLst/>
          </a:prstGeom>
          <a:noFill/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06058566-65AD-AFDB-E68B-7DA9B12DF046}"/>
              </a:ext>
            </a:extLst>
          </p:cNvPr>
          <p:cNvSpPr/>
          <p:nvPr/>
        </p:nvSpPr>
        <p:spPr>
          <a:xfrm>
            <a:off x="0" y="4983480"/>
            <a:ext cx="3657600" cy="0"/>
          </a:xfrm>
          <a:prstGeom prst="line">
            <a:avLst/>
          </a:prstGeom>
          <a:noFill/>
          <a:ln w="1524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E5D52880-957A-92EF-76AA-6A9FD6701EBE}"/>
              </a:ext>
            </a:extLst>
          </p:cNvPr>
          <p:cNvSpPr/>
          <p:nvPr/>
        </p:nvSpPr>
        <p:spPr>
          <a:xfrm>
            <a:off x="5486400" y="4983480"/>
            <a:ext cx="3657600" cy="0"/>
          </a:xfrm>
          <a:prstGeom prst="line">
            <a:avLst/>
          </a:prstGeom>
          <a:noFill/>
          <a:ln w="1524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04415515-E117-0A53-CB8C-8BE15F420F44}"/>
              </a:ext>
            </a:extLst>
          </p:cNvPr>
          <p:cNvSpPr/>
          <p:nvPr/>
        </p:nvSpPr>
        <p:spPr>
          <a:xfrm>
            <a:off x="73152" y="320040"/>
            <a:ext cx="54864" cy="54864"/>
          </a:xfrm>
          <a:prstGeom prst="ellipse">
            <a:avLst/>
          </a:prstGeom>
          <a:solidFill>
            <a:srgbClr val="00CADA">
              <a:alpha val="60000"/>
            </a:srgbClr>
          </a:solidFill>
          <a:ln w="1270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46A75157-970C-F8B3-A5A0-B610456B9A6C}"/>
              </a:ext>
            </a:extLst>
          </p:cNvPr>
          <p:cNvSpPr/>
          <p:nvPr/>
        </p:nvSpPr>
        <p:spPr>
          <a:xfrm>
            <a:off x="228600" y="228600"/>
            <a:ext cx="54864" cy="54864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E54A805B-F77D-5ABE-C9DA-FF0B0AF68135}"/>
              </a:ext>
            </a:extLst>
          </p:cNvPr>
          <p:cNvSpPr/>
          <p:nvPr/>
        </p:nvSpPr>
        <p:spPr>
          <a:xfrm>
            <a:off x="8686800" y="4480560"/>
            <a:ext cx="54864" cy="54864"/>
          </a:xfrm>
          <a:prstGeom prst="ellipse">
            <a:avLst/>
          </a:prstGeom>
          <a:solidFill>
            <a:srgbClr val="00CADA">
              <a:alpha val="60000"/>
            </a:srgbClr>
          </a:solidFill>
          <a:ln w="1270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0711EB2A-2CF3-3FF6-9269-CCE94013B34C}"/>
              </a:ext>
            </a:extLst>
          </p:cNvPr>
          <p:cNvSpPr/>
          <p:nvPr/>
        </p:nvSpPr>
        <p:spPr>
          <a:xfrm>
            <a:off x="8823960" y="4617720"/>
            <a:ext cx="54864" cy="54864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B1426D7B-E2A8-6D7E-DCC2-6B61B346B2C3}"/>
              </a:ext>
            </a:extLst>
          </p:cNvPr>
          <p:cNvSpPr/>
          <p:nvPr/>
        </p:nvSpPr>
        <p:spPr>
          <a:xfrm>
            <a:off x="6537960" y="128016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BEBB06B0-0466-3D2F-B0DE-5FED2F6E04E1}"/>
              </a:ext>
            </a:extLst>
          </p:cNvPr>
          <p:cNvSpPr/>
          <p:nvPr/>
        </p:nvSpPr>
        <p:spPr>
          <a:xfrm>
            <a:off x="8851392" y="128016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4B3FC691-7A93-376F-2A1B-EB4A47695484}"/>
              </a:ext>
            </a:extLst>
          </p:cNvPr>
          <p:cNvSpPr/>
          <p:nvPr/>
        </p:nvSpPr>
        <p:spPr>
          <a:xfrm>
            <a:off x="8851392" y="214884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1C5FC8B8-3F0A-F80F-44B7-E411FB385559}"/>
              </a:ext>
            </a:extLst>
          </p:cNvPr>
          <p:cNvSpPr/>
          <p:nvPr/>
        </p:nvSpPr>
        <p:spPr>
          <a:xfrm>
            <a:off x="118872" y="443484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D762AB34-B4B1-F201-CACE-32F3E064632D}"/>
              </a:ext>
            </a:extLst>
          </p:cNvPr>
          <p:cNvSpPr/>
          <p:nvPr/>
        </p:nvSpPr>
        <p:spPr>
          <a:xfrm>
            <a:off x="118872" y="470916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23E5E024-BCAF-1D95-ADC5-1DF4F0D65D75}"/>
              </a:ext>
            </a:extLst>
          </p:cNvPr>
          <p:cNvSpPr/>
          <p:nvPr/>
        </p:nvSpPr>
        <p:spPr>
          <a:xfrm>
            <a:off x="2121408" y="4681728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55C42724-1582-C15B-D7AE-AC468E7A3E12}"/>
              </a:ext>
            </a:extLst>
          </p:cNvPr>
          <p:cNvSpPr/>
          <p:nvPr/>
        </p:nvSpPr>
        <p:spPr>
          <a:xfrm>
            <a:off x="502919" y="298512"/>
            <a:ext cx="8138160" cy="457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PT" b="1" dirty="0">
                <a:solidFill>
                  <a:schemeClr val="accent5"/>
                </a:solidFill>
              </a:rPr>
              <a:t>Princípios de Design </a:t>
            </a:r>
            <a:endParaRPr lang="pt-PT" dirty="0">
              <a:solidFill>
                <a:schemeClr val="accent5"/>
              </a:solidFill>
            </a:endParaRPr>
          </a:p>
          <a:p>
            <a:r>
              <a:rPr lang="pt-BR" dirty="0">
                <a:solidFill>
                  <a:schemeClr val="bg1"/>
                </a:solidFill>
              </a:rPr>
              <a:t> </a:t>
            </a:r>
            <a:endParaRPr lang="pt-PT" sz="1300" noProof="0" dirty="0">
              <a:solidFill>
                <a:schemeClr val="bg1"/>
              </a:solidFill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0DD38A94-3352-CBB7-236C-8293A01DEC67}"/>
              </a:ext>
            </a:extLst>
          </p:cNvPr>
          <p:cNvSpPr/>
          <p:nvPr/>
        </p:nvSpPr>
        <p:spPr>
          <a:xfrm>
            <a:off x="512065" y="504576"/>
            <a:ext cx="81381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Hidra foi projectada segundo quatro princípios fundamentais: </a:t>
            </a:r>
          </a:p>
          <a:p>
            <a:endParaRPr lang="pt-BR" sz="13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pt-BR" sz="1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Vocabulário em Português: Todas as palavras-chave, mensagens de erro e construções sintácticas estão em Português Europeu. O programador nunca precisa de recorrer ao inglês para escrever um programa. </a:t>
            </a:r>
          </a:p>
          <a:p>
            <a:endParaRPr lang="pt-BR" sz="13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pt-BR" sz="1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Case insensitive: A linguagem não distingue maiúsculas de minúsculas. As palavras Para, PARA e para são equivalentes, reduzindo erros de principiantes.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pt-BR" sz="13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pt-BR" sz="1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Sintaxe familiar: A estrutura de blocos com chavetas, a declaração explícita de tipos e as estruturas de controlo seguem convenções conhecidas das linguagens C e Java, facilitando a transição posterior.</a:t>
            </a:r>
          </a:p>
          <a:p>
            <a:r>
              <a:rPr lang="pt-BR" sz="1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pt-BR" sz="1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Pedagógica por natureza: Cada construção da linguagem foi pensada para ser legível em voz alta e compreensível sem documentação. Um programa em Hidra deve poder ser lido como um texto normal em Português. </a:t>
            </a: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3E3E26CC-8089-E8AE-6020-9C34B14043EF}"/>
              </a:ext>
            </a:extLst>
          </p:cNvPr>
          <p:cNvSpPr/>
          <p:nvPr/>
        </p:nvSpPr>
        <p:spPr>
          <a:xfrm>
            <a:off x="4663440" y="2514600"/>
            <a:ext cx="4023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pt-PT" sz="1200" noProof="0" dirty="0"/>
          </a:p>
        </p:txBody>
      </p:sp>
    </p:spTree>
    <p:extLst>
      <p:ext uri="{BB962C8B-B14F-4D97-AF65-F5344CB8AC3E}">
        <p14:creationId xmlns:p14="http://schemas.microsoft.com/office/powerpoint/2010/main" val="24736010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0E2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0F2E4F-8D04-A6A5-6440-10CD05BC0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CB87D8C-7C38-908A-90C4-101C633394E4}"/>
              </a:ext>
            </a:extLst>
          </p:cNvPr>
          <p:cNvSpPr/>
          <p:nvPr/>
        </p:nvSpPr>
        <p:spPr>
          <a:xfrm>
            <a:off x="6583680" y="164592"/>
            <a:ext cx="2286000" cy="0"/>
          </a:xfrm>
          <a:prstGeom prst="line">
            <a:avLst/>
          </a:prstGeom>
          <a:noFill/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0D2090A-87BD-0F96-75F1-10F39085F0B9}"/>
              </a:ext>
            </a:extLst>
          </p:cNvPr>
          <p:cNvSpPr/>
          <p:nvPr/>
        </p:nvSpPr>
        <p:spPr>
          <a:xfrm>
            <a:off x="7498080" y="347472"/>
            <a:ext cx="1371600" cy="0"/>
          </a:xfrm>
          <a:prstGeom prst="line">
            <a:avLst/>
          </a:prstGeom>
          <a:noFill/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404D02F5-1B2D-EBCC-ECE1-93CB4EB073C1}"/>
              </a:ext>
            </a:extLst>
          </p:cNvPr>
          <p:cNvSpPr/>
          <p:nvPr/>
        </p:nvSpPr>
        <p:spPr>
          <a:xfrm>
            <a:off x="6217920" y="502920"/>
            <a:ext cx="182880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71B17E4-21B3-E9D9-111E-2D9254AF8FF3}"/>
              </a:ext>
            </a:extLst>
          </p:cNvPr>
          <p:cNvSpPr/>
          <p:nvPr/>
        </p:nvSpPr>
        <p:spPr>
          <a:xfrm>
            <a:off x="8732520" y="137160"/>
            <a:ext cx="0" cy="2011680"/>
          </a:xfrm>
          <a:prstGeom prst="line">
            <a:avLst/>
          </a:prstGeom>
          <a:noFill/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FEDB1069-23B9-177F-7387-8585BC0A07CB}"/>
              </a:ext>
            </a:extLst>
          </p:cNvPr>
          <p:cNvSpPr/>
          <p:nvPr/>
        </p:nvSpPr>
        <p:spPr>
          <a:xfrm>
            <a:off x="8503920" y="320040"/>
            <a:ext cx="0" cy="164592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AB1B6AF0-838A-B730-D7D9-4EA8B61FDA68}"/>
              </a:ext>
            </a:extLst>
          </p:cNvPr>
          <p:cNvSpPr/>
          <p:nvPr/>
        </p:nvSpPr>
        <p:spPr>
          <a:xfrm>
            <a:off x="137160" y="4663440"/>
            <a:ext cx="2011680" cy="0"/>
          </a:xfrm>
          <a:prstGeom prst="line">
            <a:avLst/>
          </a:prstGeom>
          <a:noFill/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B1708BDB-0124-92A1-AACC-78ADE1DD15FE}"/>
              </a:ext>
            </a:extLst>
          </p:cNvPr>
          <p:cNvSpPr/>
          <p:nvPr/>
        </p:nvSpPr>
        <p:spPr>
          <a:xfrm>
            <a:off x="137160" y="4480560"/>
            <a:ext cx="137160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0E0D3900-36CE-3DD5-2B01-67D6A3C88FE0}"/>
              </a:ext>
            </a:extLst>
          </p:cNvPr>
          <p:cNvSpPr/>
          <p:nvPr/>
        </p:nvSpPr>
        <p:spPr>
          <a:xfrm>
            <a:off x="201168" y="3200400"/>
            <a:ext cx="0" cy="1645920"/>
          </a:xfrm>
          <a:prstGeom prst="line">
            <a:avLst/>
          </a:prstGeom>
          <a:noFill/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4E839FA6-B70D-50A6-1172-827A73B042EC}"/>
              </a:ext>
            </a:extLst>
          </p:cNvPr>
          <p:cNvSpPr/>
          <p:nvPr/>
        </p:nvSpPr>
        <p:spPr>
          <a:xfrm>
            <a:off x="384048" y="3474720"/>
            <a:ext cx="0" cy="1371600"/>
          </a:xfrm>
          <a:prstGeom prst="line">
            <a:avLst/>
          </a:prstGeom>
          <a:noFill/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D2879AB2-8A32-C8C1-5932-C2279C19C0EE}"/>
              </a:ext>
            </a:extLst>
          </p:cNvPr>
          <p:cNvSpPr/>
          <p:nvPr/>
        </p:nvSpPr>
        <p:spPr>
          <a:xfrm>
            <a:off x="0" y="4983480"/>
            <a:ext cx="3657600" cy="0"/>
          </a:xfrm>
          <a:prstGeom prst="line">
            <a:avLst/>
          </a:prstGeom>
          <a:noFill/>
          <a:ln w="1524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F8B0220B-6F41-9816-47F2-7C9AC00C431B}"/>
              </a:ext>
            </a:extLst>
          </p:cNvPr>
          <p:cNvSpPr/>
          <p:nvPr/>
        </p:nvSpPr>
        <p:spPr>
          <a:xfrm>
            <a:off x="5486400" y="4983480"/>
            <a:ext cx="3657600" cy="0"/>
          </a:xfrm>
          <a:prstGeom prst="line">
            <a:avLst/>
          </a:prstGeom>
          <a:noFill/>
          <a:ln w="1524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5CA71108-A2BF-76D5-70B3-B7CDB163BA2E}"/>
              </a:ext>
            </a:extLst>
          </p:cNvPr>
          <p:cNvSpPr/>
          <p:nvPr/>
        </p:nvSpPr>
        <p:spPr>
          <a:xfrm>
            <a:off x="73152" y="320040"/>
            <a:ext cx="54864" cy="54864"/>
          </a:xfrm>
          <a:prstGeom prst="ellipse">
            <a:avLst/>
          </a:prstGeom>
          <a:solidFill>
            <a:srgbClr val="00CADA">
              <a:alpha val="60000"/>
            </a:srgbClr>
          </a:solidFill>
          <a:ln w="1270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EDD7780F-8CAB-C6BE-CC4C-527336C1D3C2}"/>
              </a:ext>
            </a:extLst>
          </p:cNvPr>
          <p:cNvSpPr/>
          <p:nvPr/>
        </p:nvSpPr>
        <p:spPr>
          <a:xfrm>
            <a:off x="228600" y="228600"/>
            <a:ext cx="54864" cy="54864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53705C07-6791-5786-003F-8F21E8308CBD}"/>
              </a:ext>
            </a:extLst>
          </p:cNvPr>
          <p:cNvSpPr/>
          <p:nvPr/>
        </p:nvSpPr>
        <p:spPr>
          <a:xfrm>
            <a:off x="8686800" y="4480560"/>
            <a:ext cx="54864" cy="54864"/>
          </a:xfrm>
          <a:prstGeom prst="ellipse">
            <a:avLst/>
          </a:prstGeom>
          <a:solidFill>
            <a:srgbClr val="00CADA">
              <a:alpha val="60000"/>
            </a:srgbClr>
          </a:solidFill>
          <a:ln w="1270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7ED80C76-E688-DF05-6FC9-A3EC74B3FAD1}"/>
              </a:ext>
            </a:extLst>
          </p:cNvPr>
          <p:cNvSpPr/>
          <p:nvPr/>
        </p:nvSpPr>
        <p:spPr>
          <a:xfrm>
            <a:off x="8823960" y="4617720"/>
            <a:ext cx="54864" cy="54864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E43B37C2-7024-7A50-1501-69B728534B67}"/>
              </a:ext>
            </a:extLst>
          </p:cNvPr>
          <p:cNvSpPr/>
          <p:nvPr/>
        </p:nvSpPr>
        <p:spPr>
          <a:xfrm>
            <a:off x="6537960" y="128016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3BBA9E22-6858-467B-097E-BC7B49EAFB1A}"/>
              </a:ext>
            </a:extLst>
          </p:cNvPr>
          <p:cNvSpPr/>
          <p:nvPr/>
        </p:nvSpPr>
        <p:spPr>
          <a:xfrm>
            <a:off x="8851392" y="128016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DE67FC24-9080-B644-9BE5-60FD54036A67}"/>
              </a:ext>
            </a:extLst>
          </p:cNvPr>
          <p:cNvSpPr/>
          <p:nvPr/>
        </p:nvSpPr>
        <p:spPr>
          <a:xfrm>
            <a:off x="8851392" y="214884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26C8B1B3-0DF3-BC9C-583C-36E8AF95BA5F}"/>
              </a:ext>
            </a:extLst>
          </p:cNvPr>
          <p:cNvSpPr/>
          <p:nvPr/>
        </p:nvSpPr>
        <p:spPr>
          <a:xfrm>
            <a:off x="118872" y="443484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4BE2256F-CC8A-90EC-A9E5-282039CA4B19}"/>
              </a:ext>
            </a:extLst>
          </p:cNvPr>
          <p:cNvSpPr/>
          <p:nvPr/>
        </p:nvSpPr>
        <p:spPr>
          <a:xfrm>
            <a:off x="118872" y="470916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C2DED6EB-E1FF-525C-AF05-EF252B3B874B}"/>
              </a:ext>
            </a:extLst>
          </p:cNvPr>
          <p:cNvSpPr/>
          <p:nvPr/>
        </p:nvSpPr>
        <p:spPr>
          <a:xfrm>
            <a:off x="2121408" y="4681728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9C49F83C-EAA2-95FC-036F-D6559F7B01C5}"/>
              </a:ext>
            </a:extLst>
          </p:cNvPr>
          <p:cNvSpPr/>
          <p:nvPr/>
        </p:nvSpPr>
        <p:spPr>
          <a:xfrm>
            <a:off x="502919" y="298512"/>
            <a:ext cx="8138160" cy="457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PT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Palavras Reservadas </a:t>
            </a:r>
            <a:endParaRPr lang="pt-PT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BR" dirty="0">
                <a:solidFill>
                  <a:schemeClr val="bg1"/>
                </a:solidFill>
              </a:rPr>
              <a:t> </a:t>
            </a:r>
            <a:endParaRPr lang="pt-PT" sz="1300" noProof="0" dirty="0">
              <a:solidFill>
                <a:schemeClr val="bg1"/>
              </a:solidFill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490E4CA8-3784-3D65-DFBC-91BC9DB5E30E}"/>
              </a:ext>
            </a:extLst>
          </p:cNvPr>
          <p:cNvSpPr/>
          <p:nvPr/>
        </p:nvSpPr>
        <p:spPr>
          <a:xfrm>
            <a:off x="512065" y="504576"/>
            <a:ext cx="81381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 palavras reservadas são identificadores com significado fixo na gramática da linguagem. Não podem ser usadas como nomes de variáveis, funções ou classes. O AnaLex as reconhece antes de qualquer identificador: quando encontra uma sequência de letras, consulta primeiro a tabela de palavras reservadas; só se a busca falhar é que a sequência é tratada como identificador. </a:t>
            </a:r>
          </a:p>
          <a:p>
            <a:r>
              <a:rPr lang="pt-BR" sz="1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Dado que a linguagem é insensível a maiúsculas e minúsculas, todas as comparações são feitas após converter o lexema para minúsculas. </a:t>
            </a:r>
          </a:p>
          <a:p>
            <a:endParaRPr lang="pt-BR" sz="13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20A55A53-37DC-F446-E468-F561433D36AC}"/>
              </a:ext>
            </a:extLst>
          </p:cNvPr>
          <p:cNvSpPr/>
          <p:nvPr/>
        </p:nvSpPr>
        <p:spPr>
          <a:xfrm>
            <a:off x="4663440" y="2514600"/>
            <a:ext cx="4023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pt-PT" sz="1200" noProof="0" dirty="0"/>
          </a:p>
        </p:txBody>
      </p:sp>
    </p:spTree>
    <p:extLst>
      <p:ext uri="{BB962C8B-B14F-4D97-AF65-F5344CB8AC3E}">
        <p14:creationId xmlns:p14="http://schemas.microsoft.com/office/powerpoint/2010/main" val="29073748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0E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164592"/>
            <a:ext cx="2286000" cy="0"/>
          </a:xfrm>
          <a:prstGeom prst="line">
            <a:avLst/>
          </a:prstGeom>
          <a:noFill/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3" name="Shape 1"/>
          <p:cNvSpPr/>
          <p:nvPr/>
        </p:nvSpPr>
        <p:spPr>
          <a:xfrm>
            <a:off x="7498080" y="347472"/>
            <a:ext cx="1371600" cy="0"/>
          </a:xfrm>
          <a:prstGeom prst="line">
            <a:avLst/>
          </a:prstGeom>
          <a:noFill/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4" name="Shape 2"/>
          <p:cNvSpPr/>
          <p:nvPr/>
        </p:nvSpPr>
        <p:spPr>
          <a:xfrm>
            <a:off x="6217920" y="502920"/>
            <a:ext cx="182880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5" name="Shape 3"/>
          <p:cNvSpPr/>
          <p:nvPr/>
        </p:nvSpPr>
        <p:spPr>
          <a:xfrm>
            <a:off x="8732520" y="137160"/>
            <a:ext cx="0" cy="2011680"/>
          </a:xfrm>
          <a:prstGeom prst="line">
            <a:avLst/>
          </a:prstGeom>
          <a:noFill/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6" name="Shape 4"/>
          <p:cNvSpPr/>
          <p:nvPr/>
        </p:nvSpPr>
        <p:spPr>
          <a:xfrm>
            <a:off x="8503920" y="320040"/>
            <a:ext cx="0" cy="164592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7" name="Shape 5"/>
          <p:cNvSpPr/>
          <p:nvPr/>
        </p:nvSpPr>
        <p:spPr>
          <a:xfrm>
            <a:off x="137160" y="4663440"/>
            <a:ext cx="2011680" cy="0"/>
          </a:xfrm>
          <a:prstGeom prst="line">
            <a:avLst/>
          </a:prstGeom>
          <a:noFill/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8" name="Shape 6"/>
          <p:cNvSpPr/>
          <p:nvPr/>
        </p:nvSpPr>
        <p:spPr>
          <a:xfrm>
            <a:off x="137160" y="4480560"/>
            <a:ext cx="137160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9" name="Shape 7"/>
          <p:cNvSpPr/>
          <p:nvPr/>
        </p:nvSpPr>
        <p:spPr>
          <a:xfrm>
            <a:off x="201168" y="3200400"/>
            <a:ext cx="0" cy="1645920"/>
          </a:xfrm>
          <a:prstGeom prst="line">
            <a:avLst/>
          </a:prstGeom>
          <a:noFill/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0" name="Shape 8"/>
          <p:cNvSpPr/>
          <p:nvPr/>
        </p:nvSpPr>
        <p:spPr>
          <a:xfrm>
            <a:off x="384048" y="3474720"/>
            <a:ext cx="0" cy="1371600"/>
          </a:xfrm>
          <a:prstGeom prst="line">
            <a:avLst/>
          </a:prstGeom>
          <a:noFill/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1" name="Shape 9"/>
          <p:cNvSpPr/>
          <p:nvPr/>
        </p:nvSpPr>
        <p:spPr>
          <a:xfrm>
            <a:off x="0" y="4983480"/>
            <a:ext cx="3657600" cy="0"/>
          </a:xfrm>
          <a:prstGeom prst="line">
            <a:avLst/>
          </a:prstGeom>
          <a:noFill/>
          <a:ln w="1524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0" y="4983480"/>
            <a:ext cx="3657600" cy="0"/>
          </a:xfrm>
          <a:prstGeom prst="line">
            <a:avLst/>
          </a:prstGeom>
          <a:noFill/>
          <a:ln w="1524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3" name="Shape 11"/>
          <p:cNvSpPr/>
          <p:nvPr/>
        </p:nvSpPr>
        <p:spPr>
          <a:xfrm>
            <a:off x="73152" y="320040"/>
            <a:ext cx="54864" cy="54864"/>
          </a:xfrm>
          <a:prstGeom prst="ellipse">
            <a:avLst/>
          </a:prstGeom>
          <a:solidFill>
            <a:srgbClr val="00CADA">
              <a:alpha val="60000"/>
            </a:srgbClr>
          </a:solidFill>
          <a:ln w="1270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4" name="Shape 12"/>
          <p:cNvSpPr/>
          <p:nvPr/>
        </p:nvSpPr>
        <p:spPr>
          <a:xfrm>
            <a:off x="228600" y="228600"/>
            <a:ext cx="54864" cy="54864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5" name="Shape 13"/>
          <p:cNvSpPr/>
          <p:nvPr/>
        </p:nvSpPr>
        <p:spPr>
          <a:xfrm>
            <a:off x="8686800" y="4480560"/>
            <a:ext cx="54864" cy="54864"/>
          </a:xfrm>
          <a:prstGeom prst="ellipse">
            <a:avLst/>
          </a:prstGeom>
          <a:solidFill>
            <a:srgbClr val="00CADA">
              <a:alpha val="60000"/>
            </a:srgbClr>
          </a:solidFill>
          <a:ln w="1270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6" name="Shape 14"/>
          <p:cNvSpPr/>
          <p:nvPr/>
        </p:nvSpPr>
        <p:spPr>
          <a:xfrm>
            <a:off x="8823960" y="4617720"/>
            <a:ext cx="54864" cy="54864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7" name="Shape 15"/>
          <p:cNvSpPr/>
          <p:nvPr/>
        </p:nvSpPr>
        <p:spPr>
          <a:xfrm>
            <a:off x="6537960" y="128016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8" name="Shape 16"/>
          <p:cNvSpPr/>
          <p:nvPr/>
        </p:nvSpPr>
        <p:spPr>
          <a:xfrm>
            <a:off x="8851392" y="128016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9" name="Shape 17"/>
          <p:cNvSpPr/>
          <p:nvPr/>
        </p:nvSpPr>
        <p:spPr>
          <a:xfrm>
            <a:off x="8851392" y="214884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0" name="Shape 18"/>
          <p:cNvSpPr/>
          <p:nvPr/>
        </p:nvSpPr>
        <p:spPr>
          <a:xfrm>
            <a:off x="118872" y="443484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1" name="Shape 19"/>
          <p:cNvSpPr/>
          <p:nvPr/>
        </p:nvSpPr>
        <p:spPr>
          <a:xfrm>
            <a:off x="118872" y="470916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2" name="Shape 20"/>
          <p:cNvSpPr/>
          <p:nvPr/>
        </p:nvSpPr>
        <p:spPr>
          <a:xfrm>
            <a:off x="2121408" y="4681728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3" name="Text 21"/>
          <p:cNvSpPr/>
          <p:nvPr/>
        </p:nvSpPr>
        <p:spPr>
          <a:xfrm>
            <a:off x="502920" y="2011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300" b="1" noProof="0" dirty="0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Palavras Reservadas:</a:t>
            </a:r>
            <a:endParaRPr lang="pt-PT" sz="1300" noProof="0" dirty="0"/>
          </a:p>
        </p:txBody>
      </p:sp>
      <p:sp>
        <p:nvSpPr>
          <p:cNvPr id="24" name="Shape 22"/>
          <p:cNvSpPr/>
          <p:nvPr/>
        </p:nvSpPr>
        <p:spPr>
          <a:xfrm>
            <a:off x="502920" y="502920"/>
            <a:ext cx="8138160" cy="0"/>
          </a:xfrm>
          <a:prstGeom prst="line">
            <a:avLst/>
          </a:prstGeom>
          <a:noFill/>
          <a:ln w="12700">
            <a:solidFill>
              <a:srgbClr val="00CADA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5" name="Text 23"/>
          <p:cNvSpPr/>
          <p:nvPr/>
        </p:nvSpPr>
        <p:spPr>
          <a:xfrm>
            <a:off x="502920" y="566928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1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São palavras com significado especial na linguagem Hidra. Não podem ser usadas como nomes de variáveis. A linguagem é insensível a maiúsculas/minúsculas — 'Para' equivale a 'para'.</a:t>
            </a:r>
            <a:endParaRPr lang="pt-PT" sz="1150" noProof="0" dirty="0"/>
          </a:p>
        </p:txBody>
      </p:sp>
      <p:sp>
        <p:nvSpPr>
          <p:cNvPr id="26" name="Text 24"/>
          <p:cNvSpPr/>
          <p:nvPr/>
        </p:nvSpPr>
        <p:spPr>
          <a:xfrm>
            <a:off x="274320" y="129844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00" b="1" noProof="0" dirty="0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Lexema</a:t>
            </a:r>
            <a:endParaRPr lang="pt-PT" sz="1000" noProof="0" dirty="0"/>
          </a:p>
        </p:txBody>
      </p:sp>
      <p:sp>
        <p:nvSpPr>
          <p:cNvPr id="27" name="Text 25"/>
          <p:cNvSpPr/>
          <p:nvPr/>
        </p:nvSpPr>
        <p:spPr>
          <a:xfrm>
            <a:off x="1965960" y="12984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00" b="1" noProof="0" dirty="0" err="1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</a:t>
            </a:r>
            <a:endParaRPr lang="pt-PT" sz="1000" noProof="0" dirty="0"/>
          </a:p>
        </p:txBody>
      </p:sp>
      <p:sp>
        <p:nvSpPr>
          <p:cNvPr id="28" name="Text 26"/>
          <p:cNvSpPr/>
          <p:nvPr/>
        </p:nvSpPr>
        <p:spPr>
          <a:xfrm>
            <a:off x="4023360" y="12984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00" b="1" noProof="0" dirty="0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</a:t>
            </a:r>
            <a:endParaRPr lang="pt-PT" sz="1000" noProof="0" dirty="0"/>
          </a:p>
        </p:txBody>
      </p:sp>
      <p:sp>
        <p:nvSpPr>
          <p:cNvPr id="29" name="Text 27"/>
          <p:cNvSpPr/>
          <p:nvPr/>
        </p:nvSpPr>
        <p:spPr>
          <a:xfrm>
            <a:off x="5897880" y="12984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00" b="1" noProof="0" dirty="0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</a:t>
            </a:r>
            <a:endParaRPr lang="pt-PT" sz="1000" noProof="0" dirty="0"/>
          </a:p>
        </p:txBody>
      </p:sp>
      <p:sp>
        <p:nvSpPr>
          <p:cNvPr id="30" name="Shape 28"/>
          <p:cNvSpPr/>
          <p:nvPr/>
        </p:nvSpPr>
        <p:spPr>
          <a:xfrm>
            <a:off x="274320" y="1572768"/>
            <a:ext cx="8595360" cy="0"/>
          </a:xfrm>
          <a:prstGeom prst="line">
            <a:avLst/>
          </a:prstGeom>
          <a:noFill/>
          <a:ln w="12700">
            <a:solidFill>
              <a:srgbClr val="00CADA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31" name="Shape 29"/>
          <p:cNvSpPr/>
          <p:nvPr/>
        </p:nvSpPr>
        <p:spPr>
          <a:xfrm>
            <a:off x="256032" y="1627632"/>
            <a:ext cx="8631936" cy="338328"/>
          </a:xfrm>
          <a:prstGeom prst="rect">
            <a:avLst/>
          </a:prstGeom>
          <a:solidFill>
            <a:srgbClr val="46406B">
              <a:alpha val="20000"/>
            </a:srgbClr>
          </a:solidFill>
          <a:ln w="12700">
            <a:solidFill>
              <a:srgbClr val="46406B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32" name="Text 30"/>
          <p:cNvSpPr/>
          <p:nvPr/>
        </p:nvSpPr>
        <p:spPr>
          <a:xfrm>
            <a:off x="274320" y="166420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5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 / </a:t>
            </a:r>
            <a:r>
              <a:rPr lang="pt-PT" sz="950" noProof="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senao</a:t>
            </a:r>
            <a:endParaRPr lang="pt-PT" sz="950" noProof="0" dirty="0"/>
          </a:p>
        </p:txBody>
      </p:sp>
      <p:sp>
        <p:nvSpPr>
          <p:cNvPr id="33" name="Text 31"/>
          <p:cNvSpPr/>
          <p:nvPr/>
        </p:nvSpPr>
        <p:spPr>
          <a:xfrm>
            <a:off x="1965960" y="16642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5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 / SENAO</a:t>
            </a:r>
            <a:endParaRPr lang="pt-PT" sz="950" noProof="0" dirty="0"/>
          </a:p>
        </p:txBody>
      </p:sp>
      <p:sp>
        <p:nvSpPr>
          <p:cNvPr id="34" name="Text 32"/>
          <p:cNvSpPr/>
          <p:nvPr/>
        </p:nvSpPr>
        <p:spPr>
          <a:xfrm>
            <a:off x="4023360" y="16642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50" noProof="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</a:t>
            </a:r>
            <a:r>
              <a:rPr lang="pt-PT" sz="9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r>
              <a:rPr lang="pt-PT" sz="950" noProof="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else</a:t>
            </a:r>
            <a:endParaRPr lang="pt-PT" sz="950" noProof="0" dirty="0"/>
          </a:p>
        </p:txBody>
      </p:sp>
      <p:sp>
        <p:nvSpPr>
          <p:cNvPr id="35" name="Text 33"/>
          <p:cNvSpPr/>
          <p:nvPr/>
        </p:nvSpPr>
        <p:spPr>
          <a:xfrm>
            <a:off x="5897880" y="16642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Controlo de fluxo</a:t>
            </a:r>
            <a:endParaRPr lang="pt-PT" sz="950" noProof="0" dirty="0"/>
          </a:p>
        </p:txBody>
      </p:sp>
      <p:sp>
        <p:nvSpPr>
          <p:cNvPr id="36" name="Text 34"/>
          <p:cNvSpPr/>
          <p:nvPr/>
        </p:nvSpPr>
        <p:spPr>
          <a:xfrm>
            <a:off x="274320" y="20116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5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</a:t>
            </a:r>
            <a:endParaRPr lang="pt-PT" sz="950" noProof="0" dirty="0"/>
          </a:p>
        </p:txBody>
      </p:sp>
      <p:sp>
        <p:nvSpPr>
          <p:cNvPr id="37" name="Text 35"/>
          <p:cNvSpPr/>
          <p:nvPr/>
        </p:nvSpPr>
        <p:spPr>
          <a:xfrm>
            <a:off x="1965960" y="2011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5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</a:t>
            </a:r>
            <a:endParaRPr lang="pt-PT" sz="950" noProof="0" dirty="0"/>
          </a:p>
        </p:txBody>
      </p:sp>
      <p:sp>
        <p:nvSpPr>
          <p:cNvPr id="38" name="Text 36"/>
          <p:cNvSpPr/>
          <p:nvPr/>
        </p:nvSpPr>
        <p:spPr>
          <a:xfrm>
            <a:off x="4023360" y="20116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</a:t>
            </a:r>
            <a:endParaRPr lang="pt-PT" sz="950" noProof="0" dirty="0"/>
          </a:p>
        </p:txBody>
      </p:sp>
      <p:sp>
        <p:nvSpPr>
          <p:cNvPr id="39" name="Text 37"/>
          <p:cNvSpPr/>
          <p:nvPr/>
        </p:nvSpPr>
        <p:spPr>
          <a:xfrm>
            <a:off x="5897880" y="2011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Controlo de fluxo</a:t>
            </a:r>
            <a:endParaRPr lang="pt-PT" sz="950" noProof="0" dirty="0"/>
          </a:p>
        </p:txBody>
      </p:sp>
      <p:sp>
        <p:nvSpPr>
          <p:cNvPr id="40" name="Shape 38"/>
          <p:cNvSpPr/>
          <p:nvPr/>
        </p:nvSpPr>
        <p:spPr>
          <a:xfrm>
            <a:off x="256032" y="2322576"/>
            <a:ext cx="8631936" cy="338328"/>
          </a:xfrm>
          <a:prstGeom prst="rect">
            <a:avLst/>
          </a:prstGeom>
          <a:solidFill>
            <a:srgbClr val="46406B">
              <a:alpha val="20000"/>
            </a:srgbClr>
          </a:solidFill>
          <a:ln w="12700">
            <a:solidFill>
              <a:srgbClr val="46406B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41" name="Text 39"/>
          <p:cNvSpPr/>
          <p:nvPr/>
        </p:nvSpPr>
        <p:spPr>
          <a:xfrm>
            <a:off x="274320" y="23591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5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enquanto</a:t>
            </a:r>
            <a:endParaRPr lang="pt-PT" sz="950" noProof="0" dirty="0"/>
          </a:p>
        </p:txBody>
      </p:sp>
      <p:sp>
        <p:nvSpPr>
          <p:cNvPr id="42" name="Text 40"/>
          <p:cNvSpPr/>
          <p:nvPr/>
        </p:nvSpPr>
        <p:spPr>
          <a:xfrm>
            <a:off x="1965960" y="23591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5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ENQUANTO</a:t>
            </a:r>
            <a:endParaRPr lang="pt-PT" sz="950" noProof="0" dirty="0"/>
          </a:p>
        </p:txBody>
      </p:sp>
      <p:sp>
        <p:nvSpPr>
          <p:cNvPr id="43" name="Text 41"/>
          <p:cNvSpPr/>
          <p:nvPr/>
        </p:nvSpPr>
        <p:spPr>
          <a:xfrm>
            <a:off x="4023360" y="23591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50" noProof="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</a:t>
            </a:r>
            <a:endParaRPr lang="pt-PT" sz="950" noProof="0" dirty="0"/>
          </a:p>
        </p:txBody>
      </p:sp>
      <p:sp>
        <p:nvSpPr>
          <p:cNvPr id="44" name="Text 42"/>
          <p:cNvSpPr/>
          <p:nvPr/>
        </p:nvSpPr>
        <p:spPr>
          <a:xfrm>
            <a:off x="5897880" y="23591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Controlo de fluxo</a:t>
            </a:r>
            <a:endParaRPr lang="pt-PT" sz="950" noProof="0" dirty="0"/>
          </a:p>
        </p:txBody>
      </p:sp>
      <p:sp>
        <p:nvSpPr>
          <p:cNvPr id="45" name="Text 43"/>
          <p:cNvSpPr/>
          <p:nvPr/>
        </p:nvSpPr>
        <p:spPr>
          <a:xfrm>
            <a:off x="274320" y="270662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5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quebrar</a:t>
            </a:r>
            <a:endParaRPr lang="pt-PT" sz="950" noProof="0" dirty="0"/>
          </a:p>
        </p:txBody>
      </p:sp>
      <p:sp>
        <p:nvSpPr>
          <p:cNvPr id="46" name="Text 44"/>
          <p:cNvSpPr/>
          <p:nvPr/>
        </p:nvSpPr>
        <p:spPr>
          <a:xfrm>
            <a:off x="1965960" y="2706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5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QUEBRAR</a:t>
            </a:r>
            <a:endParaRPr lang="pt-PT" sz="950" noProof="0" dirty="0"/>
          </a:p>
        </p:txBody>
      </p:sp>
      <p:sp>
        <p:nvSpPr>
          <p:cNvPr id="47" name="Text 45"/>
          <p:cNvSpPr/>
          <p:nvPr/>
        </p:nvSpPr>
        <p:spPr>
          <a:xfrm>
            <a:off x="4023360" y="270662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</a:t>
            </a:r>
            <a:endParaRPr lang="pt-PT" sz="950" noProof="0" dirty="0"/>
          </a:p>
        </p:txBody>
      </p:sp>
      <p:sp>
        <p:nvSpPr>
          <p:cNvPr id="48" name="Text 46"/>
          <p:cNvSpPr/>
          <p:nvPr/>
        </p:nvSpPr>
        <p:spPr>
          <a:xfrm>
            <a:off x="5897880" y="270662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Controlo de fluxo</a:t>
            </a:r>
            <a:endParaRPr lang="pt-PT" sz="950" noProof="0" dirty="0"/>
          </a:p>
        </p:txBody>
      </p:sp>
      <p:sp>
        <p:nvSpPr>
          <p:cNvPr id="49" name="Shape 47"/>
          <p:cNvSpPr/>
          <p:nvPr/>
        </p:nvSpPr>
        <p:spPr>
          <a:xfrm>
            <a:off x="256032" y="3017520"/>
            <a:ext cx="8631936" cy="338328"/>
          </a:xfrm>
          <a:prstGeom prst="rect">
            <a:avLst/>
          </a:prstGeom>
          <a:solidFill>
            <a:srgbClr val="46406B">
              <a:alpha val="20000"/>
            </a:srgbClr>
          </a:solidFill>
          <a:ln w="12700">
            <a:solidFill>
              <a:srgbClr val="46406B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50" name="Text 48"/>
          <p:cNvSpPr/>
          <p:nvPr/>
        </p:nvSpPr>
        <p:spPr>
          <a:xfrm>
            <a:off x="274320" y="305409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5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continuar</a:t>
            </a:r>
            <a:endParaRPr lang="pt-PT" sz="950" noProof="0" dirty="0"/>
          </a:p>
        </p:txBody>
      </p:sp>
      <p:sp>
        <p:nvSpPr>
          <p:cNvPr id="51" name="Text 49"/>
          <p:cNvSpPr/>
          <p:nvPr/>
        </p:nvSpPr>
        <p:spPr>
          <a:xfrm>
            <a:off x="1965960" y="30540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5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CONTINUAR</a:t>
            </a:r>
            <a:endParaRPr lang="pt-PT" sz="950" noProof="0" dirty="0"/>
          </a:p>
        </p:txBody>
      </p:sp>
      <p:sp>
        <p:nvSpPr>
          <p:cNvPr id="52" name="Text 50"/>
          <p:cNvSpPr/>
          <p:nvPr/>
        </p:nvSpPr>
        <p:spPr>
          <a:xfrm>
            <a:off x="4023360" y="305409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</a:t>
            </a:r>
            <a:endParaRPr lang="pt-PT" sz="950" noProof="0" dirty="0"/>
          </a:p>
        </p:txBody>
      </p:sp>
      <p:sp>
        <p:nvSpPr>
          <p:cNvPr id="53" name="Text 51"/>
          <p:cNvSpPr/>
          <p:nvPr/>
        </p:nvSpPr>
        <p:spPr>
          <a:xfrm>
            <a:off x="5897880" y="305409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Controlo de fluxo</a:t>
            </a:r>
            <a:endParaRPr lang="pt-PT" sz="950" noProof="0" dirty="0"/>
          </a:p>
        </p:txBody>
      </p:sp>
      <p:sp>
        <p:nvSpPr>
          <p:cNvPr id="54" name="Text 52"/>
          <p:cNvSpPr/>
          <p:nvPr/>
        </p:nvSpPr>
        <p:spPr>
          <a:xfrm>
            <a:off x="274320" y="34015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5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tente / capture</a:t>
            </a:r>
            <a:endParaRPr lang="pt-PT" sz="950" noProof="0" dirty="0"/>
          </a:p>
        </p:txBody>
      </p:sp>
      <p:sp>
        <p:nvSpPr>
          <p:cNvPr id="55" name="Text 53"/>
          <p:cNvSpPr/>
          <p:nvPr/>
        </p:nvSpPr>
        <p:spPr>
          <a:xfrm>
            <a:off x="1965960" y="34015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5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TENTE / CAPTURE</a:t>
            </a:r>
            <a:endParaRPr lang="pt-PT" sz="950" noProof="0" dirty="0"/>
          </a:p>
        </p:txBody>
      </p:sp>
      <p:sp>
        <p:nvSpPr>
          <p:cNvPr id="56" name="Text 54"/>
          <p:cNvSpPr/>
          <p:nvPr/>
        </p:nvSpPr>
        <p:spPr>
          <a:xfrm>
            <a:off x="4023360" y="34015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50" noProof="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</a:t>
            </a:r>
            <a:r>
              <a:rPr lang="pt-PT" sz="9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r>
              <a:rPr lang="pt-PT" sz="950" noProof="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</a:t>
            </a:r>
            <a:endParaRPr lang="pt-PT" sz="950" noProof="0" dirty="0"/>
          </a:p>
        </p:txBody>
      </p:sp>
      <p:sp>
        <p:nvSpPr>
          <p:cNvPr id="57" name="Text 55"/>
          <p:cNvSpPr/>
          <p:nvPr/>
        </p:nvSpPr>
        <p:spPr>
          <a:xfrm>
            <a:off x="5897880" y="34015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Tratamento de erros</a:t>
            </a:r>
            <a:endParaRPr lang="pt-PT" sz="950" noProof="0" dirty="0"/>
          </a:p>
        </p:txBody>
      </p:sp>
      <p:sp>
        <p:nvSpPr>
          <p:cNvPr id="58" name="Shape 56"/>
          <p:cNvSpPr/>
          <p:nvPr/>
        </p:nvSpPr>
        <p:spPr>
          <a:xfrm>
            <a:off x="256032" y="3712464"/>
            <a:ext cx="8631936" cy="338328"/>
          </a:xfrm>
          <a:prstGeom prst="rect">
            <a:avLst/>
          </a:prstGeom>
          <a:solidFill>
            <a:srgbClr val="46406B">
              <a:alpha val="20000"/>
            </a:srgbClr>
          </a:solidFill>
          <a:ln w="12700">
            <a:solidFill>
              <a:srgbClr val="46406B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59" name="Text 57"/>
          <p:cNvSpPr/>
          <p:nvPr/>
        </p:nvSpPr>
        <p:spPr>
          <a:xfrm>
            <a:off x="274320" y="37490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5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mostrar / ler</a:t>
            </a:r>
            <a:endParaRPr lang="pt-PT" sz="950" noProof="0" dirty="0"/>
          </a:p>
        </p:txBody>
      </p:sp>
      <p:sp>
        <p:nvSpPr>
          <p:cNvPr id="60" name="Text 58"/>
          <p:cNvSpPr/>
          <p:nvPr/>
        </p:nvSpPr>
        <p:spPr>
          <a:xfrm>
            <a:off x="1965960" y="3749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5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MOSTRAR / LER</a:t>
            </a:r>
            <a:endParaRPr lang="pt-PT" sz="950" noProof="0" dirty="0"/>
          </a:p>
        </p:txBody>
      </p:sp>
      <p:sp>
        <p:nvSpPr>
          <p:cNvPr id="61" name="Text 59"/>
          <p:cNvSpPr/>
          <p:nvPr/>
        </p:nvSpPr>
        <p:spPr>
          <a:xfrm>
            <a:off x="4023360" y="3749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50" noProof="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println</a:t>
            </a:r>
            <a:r>
              <a:rPr lang="pt-PT" sz="9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Scanner</a:t>
            </a:r>
            <a:endParaRPr lang="pt-PT" sz="950" noProof="0" dirty="0"/>
          </a:p>
        </p:txBody>
      </p:sp>
      <p:sp>
        <p:nvSpPr>
          <p:cNvPr id="62" name="Text 60"/>
          <p:cNvSpPr/>
          <p:nvPr/>
        </p:nvSpPr>
        <p:spPr>
          <a:xfrm>
            <a:off x="5897880" y="37490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E/S padrão</a:t>
            </a:r>
            <a:endParaRPr lang="pt-PT" sz="950" noProof="0" dirty="0"/>
          </a:p>
        </p:txBody>
      </p:sp>
      <p:sp>
        <p:nvSpPr>
          <p:cNvPr id="63" name="Text 61"/>
          <p:cNvSpPr/>
          <p:nvPr/>
        </p:nvSpPr>
        <p:spPr>
          <a:xfrm>
            <a:off x="274320" y="4096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5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verdadeiro/falso</a:t>
            </a:r>
            <a:endParaRPr lang="pt-PT" sz="950" noProof="0" dirty="0"/>
          </a:p>
        </p:txBody>
      </p:sp>
      <p:sp>
        <p:nvSpPr>
          <p:cNvPr id="64" name="Text 62"/>
          <p:cNvSpPr/>
          <p:nvPr/>
        </p:nvSpPr>
        <p:spPr>
          <a:xfrm>
            <a:off x="1965960" y="409651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5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VERDADEIRO/FALSO</a:t>
            </a:r>
            <a:endParaRPr lang="pt-PT" sz="950" noProof="0" dirty="0"/>
          </a:p>
        </p:txBody>
      </p:sp>
      <p:sp>
        <p:nvSpPr>
          <p:cNvPr id="65" name="Text 63"/>
          <p:cNvSpPr/>
          <p:nvPr/>
        </p:nvSpPr>
        <p:spPr>
          <a:xfrm>
            <a:off x="4023360" y="4096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50" noProof="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</a:t>
            </a:r>
            <a:r>
              <a:rPr lang="pt-PT" sz="9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false</a:t>
            </a:r>
            <a:endParaRPr lang="pt-PT" sz="950" noProof="0" dirty="0"/>
          </a:p>
        </p:txBody>
      </p:sp>
      <p:sp>
        <p:nvSpPr>
          <p:cNvPr id="66" name="Text 64"/>
          <p:cNvSpPr/>
          <p:nvPr/>
        </p:nvSpPr>
        <p:spPr>
          <a:xfrm>
            <a:off x="5897880" y="40965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Literal lógico</a:t>
            </a:r>
            <a:endParaRPr lang="pt-PT" sz="950" noProof="0" dirty="0"/>
          </a:p>
        </p:txBody>
      </p:sp>
      <p:sp>
        <p:nvSpPr>
          <p:cNvPr id="67" name="Shape 65"/>
          <p:cNvSpPr/>
          <p:nvPr/>
        </p:nvSpPr>
        <p:spPr>
          <a:xfrm>
            <a:off x="256032" y="4407408"/>
            <a:ext cx="8631936" cy="338328"/>
          </a:xfrm>
          <a:prstGeom prst="rect">
            <a:avLst/>
          </a:prstGeom>
          <a:solidFill>
            <a:srgbClr val="46406B">
              <a:alpha val="20000"/>
            </a:srgbClr>
          </a:solidFill>
          <a:ln w="12700">
            <a:solidFill>
              <a:srgbClr val="46406B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68" name="Text 66"/>
          <p:cNvSpPr/>
          <p:nvPr/>
        </p:nvSpPr>
        <p:spPr>
          <a:xfrm>
            <a:off x="274320" y="444398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5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classe / </a:t>
            </a:r>
            <a:r>
              <a:rPr lang="pt-PT" sz="950" noProof="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funcao</a:t>
            </a:r>
            <a:endParaRPr lang="pt-PT" sz="950" noProof="0" dirty="0"/>
          </a:p>
        </p:txBody>
      </p:sp>
      <p:sp>
        <p:nvSpPr>
          <p:cNvPr id="69" name="Text 67"/>
          <p:cNvSpPr/>
          <p:nvPr/>
        </p:nvSpPr>
        <p:spPr>
          <a:xfrm>
            <a:off x="1965960" y="444398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5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CLASSE / FUNCAO</a:t>
            </a:r>
            <a:endParaRPr lang="pt-PT" sz="950" noProof="0" dirty="0"/>
          </a:p>
        </p:txBody>
      </p:sp>
      <p:sp>
        <p:nvSpPr>
          <p:cNvPr id="70" name="Text 68"/>
          <p:cNvSpPr/>
          <p:nvPr/>
        </p:nvSpPr>
        <p:spPr>
          <a:xfrm>
            <a:off x="4023360" y="44439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50" noProof="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r>
              <a:rPr lang="pt-PT" sz="9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r>
              <a:rPr lang="pt-PT" sz="950" noProof="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</a:t>
            </a:r>
            <a:endParaRPr lang="pt-PT" sz="950" noProof="0" dirty="0"/>
          </a:p>
        </p:txBody>
      </p:sp>
      <p:sp>
        <p:nvSpPr>
          <p:cNvPr id="71" name="Text 69"/>
          <p:cNvSpPr/>
          <p:nvPr/>
        </p:nvSpPr>
        <p:spPr>
          <a:xfrm>
            <a:off x="5897880" y="444398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</a:t>
            </a:r>
            <a:endParaRPr lang="pt-PT" sz="950" noProof="0" dirty="0"/>
          </a:p>
        </p:txBody>
      </p:sp>
      <p:sp>
        <p:nvSpPr>
          <p:cNvPr id="72" name="Text 70"/>
          <p:cNvSpPr/>
          <p:nvPr/>
        </p:nvSpPr>
        <p:spPr>
          <a:xfrm>
            <a:off x="502920" y="48006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00" i="1" noProof="0" dirty="0">
                <a:solidFill>
                  <a:srgbClr val="AFAF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Total: 24 palavras reservadas</a:t>
            </a:r>
            <a:endParaRPr lang="pt-PT" sz="90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0E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164592"/>
            <a:ext cx="2286000" cy="0"/>
          </a:xfrm>
          <a:prstGeom prst="line">
            <a:avLst/>
          </a:prstGeom>
          <a:noFill/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3" name="Shape 1"/>
          <p:cNvSpPr/>
          <p:nvPr/>
        </p:nvSpPr>
        <p:spPr>
          <a:xfrm>
            <a:off x="7498080" y="347472"/>
            <a:ext cx="1371600" cy="0"/>
          </a:xfrm>
          <a:prstGeom prst="line">
            <a:avLst/>
          </a:prstGeom>
          <a:noFill/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4" name="Shape 2"/>
          <p:cNvSpPr/>
          <p:nvPr/>
        </p:nvSpPr>
        <p:spPr>
          <a:xfrm>
            <a:off x="6217920" y="502920"/>
            <a:ext cx="182880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5" name="Shape 3"/>
          <p:cNvSpPr/>
          <p:nvPr/>
        </p:nvSpPr>
        <p:spPr>
          <a:xfrm>
            <a:off x="8732520" y="137160"/>
            <a:ext cx="0" cy="2011680"/>
          </a:xfrm>
          <a:prstGeom prst="line">
            <a:avLst/>
          </a:prstGeom>
          <a:noFill/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6" name="Shape 4"/>
          <p:cNvSpPr/>
          <p:nvPr/>
        </p:nvSpPr>
        <p:spPr>
          <a:xfrm>
            <a:off x="8503920" y="320040"/>
            <a:ext cx="0" cy="164592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7" name="Shape 5"/>
          <p:cNvSpPr/>
          <p:nvPr/>
        </p:nvSpPr>
        <p:spPr>
          <a:xfrm>
            <a:off x="137160" y="4663440"/>
            <a:ext cx="2011680" cy="0"/>
          </a:xfrm>
          <a:prstGeom prst="line">
            <a:avLst/>
          </a:prstGeom>
          <a:noFill/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8" name="Shape 6"/>
          <p:cNvSpPr/>
          <p:nvPr/>
        </p:nvSpPr>
        <p:spPr>
          <a:xfrm>
            <a:off x="137160" y="4480560"/>
            <a:ext cx="137160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9" name="Shape 7"/>
          <p:cNvSpPr/>
          <p:nvPr/>
        </p:nvSpPr>
        <p:spPr>
          <a:xfrm>
            <a:off x="201168" y="3200400"/>
            <a:ext cx="0" cy="1645920"/>
          </a:xfrm>
          <a:prstGeom prst="line">
            <a:avLst/>
          </a:prstGeom>
          <a:noFill/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0" name="Shape 8"/>
          <p:cNvSpPr/>
          <p:nvPr/>
        </p:nvSpPr>
        <p:spPr>
          <a:xfrm>
            <a:off x="384048" y="3474720"/>
            <a:ext cx="0" cy="1371600"/>
          </a:xfrm>
          <a:prstGeom prst="line">
            <a:avLst/>
          </a:prstGeom>
          <a:noFill/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1" name="Shape 9"/>
          <p:cNvSpPr/>
          <p:nvPr/>
        </p:nvSpPr>
        <p:spPr>
          <a:xfrm>
            <a:off x="0" y="4983480"/>
            <a:ext cx="3657600" cy="0"/>
          </a:xfrm>
          <a:prstGeom prst="line">
            <a:avLst/>
          </a:prstGeom>
          <a:noFill/>
          <a:ln w="1524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0" y="4983480"/>
            <a:ext cx="3657600" cy="0"/>
          </a:xfrm>
          <a:prstGeom prst="line">
            <a:avLst/>
          </a:prstGeom>
          <a:noFill/>
          <a:ln w="1524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3" name="Shape 11"/>
          <p:cNvSpPr/>
          <p:nvPr/>
        </p:nvSpPr>
        <p:spPr>
          <a:xfrm>
            <a:off x="73152" y="320040"/>
            <a:ext cx="54864" cy="54864"/>
          </a:xfrm>
          <a:prstGeom prst="ellipse">
            <a:avLst/>
          </a:prstGeom>
          <a:solidFill>
            <a:srgbClr val="00CADA">
              <a:alpha val="60000"/>
            </a:srgbClr>
          </a:solidFill>
          <a:ln w="1270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4" name="Shape 12"/>
          <p:cNvSpPr/>
          <p:nvPr/>
        </p:nvSpPr>
        <p:spPr>
          <a:xfrm>
            <a:off x="228600" y="228600"/>
            <a:ext cx="54864" cy="54864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5" name="Shape 13"/>
          <p:cNvSpPr/>
          <p:nvPr/>
        </p:nvSpPr>
        <p:spPr>
          <a:xfrm>
            <a:off x="8686800" y="4480560"/>
            <a:ext cx="54864" cy="54864"/>
          </a:xfrm>
          <a:prstGeom prst="ellipse">
            <a:avLst/>
          </a:prstGeom>
          <a:solidFill>
            <a:srgbClr val="00CADA">
              <a:alpha val="60000"/>
            </a:srgbClr>
          </a:solidFill>
          <a:ln w="1270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6" name="Shape 14"/>
          <p:cNvSpPr/>
          <p:nvPr/>
        </p:nvSpPr>
        <p:spPr>
          <a:xfrm>
            <a:off x="8823960" y="4617720"/>
            <a:ext cx="54864" cy="54864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7" name="Shape 15"/>
          <p:cNvSpPr/>
          <p:nvPr/>
        </p:nvSpPr>
        <p:spPr>
          <a:xfrm>
            <a:off x="6537960" y="128016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8" name="Shape 16"/>
          <p:cNvSpPr/>
          <p:nvPr/>
        </p:nvSpPr>
        <p:spPr>
          <a:xfrm>
            <a:off x="8851392" y="128016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9" name="Shape 17"/>
          <p:cNvSpPr/>
          <p:nvPr/>
        </p:nvSpPr>
        <p:spPr>
          <a:xfrm>
            <a:off x="8851392" y="214884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0" name="Shape 18"/>
          <p:cNvSpPr/>
          <p:nvPr/>
        </p:nvSpPr>
        <p:spPr>
          <a:xfrm>
            <a:off x="118872" y="443484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1" name="Shape 19"/>
          <p:cNvSpPr/>
          <p:nvPr/>
        </p:nvSpPr>
        <p:spPr>
          <a:xfrm>
            <a:off x="118872" y="470916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2" name="Shape 20"/>
          <p:cNvSpPr/>
          <p:nvPr/>
        </p:nvSpPr>
        <p:spPr>
          <a:xfrm>
            <a:off x="2121408" y="4681728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3" name="Text 21"/>
          <p:cNvSpPr/>
          <p:nvPr/>
        </p:nvSpPr>
        <p:spPr>
          <a:xfrm>
            <a:off x="502920" y="20116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300" b="1" noProof="0" dirty="0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Operadores</a:t>
            </a:r>
            <a:endParaRPr lang="pt-PT" sz="1300" noProof="0" dirty="0"/>
          </a:p>
        </p:txBody>
      </p:sp>
      <p:sp>
        <p:nvSpPr>
          <p:cNvPr id="24" name="Shape 22"/>
          <p:cNvSpPr/>
          <p:nvPr/>
        </p:nvSpPr>
        <p:spPr>
          <a:xfrm>
            <a:off x="502920" y="475488"/>
            <a:ext cx="3931920" cy="0"/>
          </a:xfrm>
          <a:prstGeom prst="line">
            <a:avLst/>
          </a:prstGeom>
          <a:noFill/>
          <a:ln w="12700">
            <a:solidFill>
              <a:srgbClr val="00CADA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5" name="Text 23"/>
          <p:cNvSpPr/>
          <p:nvPr/>
        </p:nvSpPr>
        <p:spPr>
          <a:xfrm>
            <a:off x="502920" y="54864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100" noProof="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+= -= *= /=</a:t>
            </a:r>
            <a:endParaRPr lang="pt-PT" sz="1100" noProof="0" dirty="0"/>
          </a:p>
        </p:txBody>
      </p:sp>
      <p:sp>
        <p:nvSpPr>
          <p:cNvPr id="26" name="Text 24"/>
          <p:cNvSpPr/>
          <p:nvPr/>
        </p:nvSpPr>
        <p:spPr>
          <a:xfrm>
            <a:off x="2834640" y="54864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Atribuição</a:t>
            </a:r>
            <a:endParaRPr lang="pt-PT" sz="1050" noProof="0" dirty="0"/>
          </a:p>
        </p:txBody>
      </p:sp>
      <p:sp>
        <p:nvSpPr>
          <p:cNvPr id="27" name="Text 25"/>
          <p:cNvSpPr/>
          <p:nvPr/>
        </p:nvSpPr>
        <p:spPr>
          <a:xfrm>
            <a:off x="502920" y="10241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100" noProof="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− * / ** %</a:t>
            </a:r>
            <a:endParaRPr lang="pt-PT" sz="1100" noProof="0" dirty="0"/>
          </a:p>
        </p:txBody>
      </p:sp>
      <p:sp>
        <p:nvSpPr>
          <p:cNvPr id="28" name="Text 26"/>
          <p:cNvSpPr/>
          <p:nvPr/>
        </p:nvSpPr>
        <p:spPr>
          <a:xfrm>
            <a:off x="2834640" y="102412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Aritméticos</a:t>
            </a:r>
            <a:endParaRPr lang="pt-PT" sz="1050" noProof="0" dirty="0"/>
          </a:p>
        </p:txBody>
      </p:sp>
      <p:sp>
        <p:nvSpPr>
          <p:cNvPr id="29" name="Text 27"/>
          <p:cNvSpPr/>
          <p:nvPr/>
        </p:nvSpPr>
        <p:spPr>
          <a:xfrm>
            <a:off x="502920" y="149961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100" noProof="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 != &gt; &lt; &gt;= &lt;=</a:t>
            </a:r>
            <a:endParaRPr lang="pt-PT" sz="1100" noProof="0" dirty="0"/>
          </a:p>
        </p:txBody>
      </p:sp>
      <p:sp>
        <p:nvSpPr>
          <p:cNvPr id="30" name="Text 28"/>
          <p:cNvSpPr/>
          <p:nvPr/>
        </p:nvSpPr>
        <p:spPr>
          <a:xfrm>
            <a:off x="2834640" y="1499616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Comparação</a:t>
            </a:r>
            <a:endParaRPr lang="pt-PT" sz="1050" noProof="0" dirty="0"/>
          </a:p>
        </p:txBody>
      </p:sp>
      <p:sp>
        <p:nvSpPr>
          <p:cNvPr id="31" name="Text 29"/>
          <p:cNvSpPr/>
          <p:nvPr/>
        </p:nvSpPr>
        <p:spPr>
          <a:xfrm>
            <a:off x="502920" y="197510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100" noProof="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&amp;&amp; || !</a:t>
            </a:r>
            <a:endParaRPr lang="pt-PT" sz="1100" noProof="0" dirty="0"/>
          </a:p>
        </p:txBody>
      </p:sp>
      <p:sp>
        <p:nvSpPr>
          <p:cNvPr id="32" name="Text 30"/>
          <p:cNvSpPr/>
          <p:nvPr/>
        </p:nvSpPr>
        <p:spPr>
          <a:xfrm>
            <a:off x="2834640" y="1975104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Lógicos</a:t>
            </a:r>
            <a:endParaRPr lang="pt-PT" sz="1050" noProof="0" dirty="0"/>
          </a:p>
        </p:txBody>
      </p:sp>
      <p:sp>
        <p:nvSpPr>
          <p:cNvPr id="33" name="Text 31"/>
          <p:cNvSpPr/>
          <p:nvPr/>
        </p:nvSpPr>
        <p:spPr>
          <a:xfrm>
            <a:off x="502920" y="245059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100" noProof="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++ −−</a:t>
            </a:r>
            <a:endParaRPr lang="pt-PT" sz="1100" noProof="0" dirty="0"/>
          </a:p>
        </p:txBody>
      </p:sp>
      <p:sp>
        <p:nvSpPr>
          <p:cNvPr id="34" name="Text 32"/>
          <p:cNvSpPr/>
          <p:nvPr/>
        </p:nvSpPr>
        <p:spPr>
          <a:xfrm>
            <a:off x="2834640" y="245059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50" noProof="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</a:t>
            </a:r>
            <a:r>
              <a:rPr lang="pt-PT" sz="10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</a:t>
            </a:r>
            <a:r>
              <a:rPr lang="pt-PT" sz="1050" noProof="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Decr</a:t>
            </a:r>
            <a:endParaRPr lang="pt-PT" sz="1050" noProof="0" dirty="0"/>
          </a:p>
        </p:txBody>
      </p:sp>
      <p:sp>
        <p:nvSpPr>
          <p:cNvPr id="35" name="Text 33"/>
          <p:cNvSpPr/>
          <p:nvPr/>
        </p:nvSpPr>
        <p:spPr>
          <a:xfrm>
            <a:off x="4800600" y="20116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300" b="1" noProof="0" dirty="0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Delimitadores</a:t>
            </a:r>
            <a:endParaRPr lang="pt-PT" sz="1300" noProof="0" dirty="0"/>
          </a:p>
        </p:txBody>
      </p:sp>
      <p:sp>
        <p:nvSpPr>
          <p:cNvPr id="36" name="Shape 34"/>
          <p:cNvSpPr/>
          <p:nvPr/>
        </p:nvSpPr>
        <p:spPr>
          <a:xfrm>
            <a:off x="4800600" y="475488"/>
            <a:ext cx="3977640" cy="0"/>
          </a:xfrm>
          <a:prstGeom prst="line">
            <a:avLst/>
          </a:prstGeom>
          <a:noFill/>
          <a:ln w="12700">
            <a:solidFill>
              <a:srgbClr val="00CADA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37" name="Text 35"/>
          <p:cNvSpPr/>
          <p:nvPr/>
        </p:nvSpPr>
        <p:spPr>
          <a:xfrm>
            <a:off x="4800600" y="5486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100" noProof="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 )</a:t>
            </a:r>
            <a:endParaRPr lang="pt-PT" sz="1100" noProof="0" dirty="0"/>
          </a:p>
        </p:txBody>
      </p:sp>
      <p:sp>
        <p:nvSpPr>
          <p:cNvPr id="38" name="Text 36"/>
          <p:cNvSpPr/>
          <p:nvPr/>
        </p:nvSpPr>
        <p:spPr>
          <a:xfrm>
            <a:off x="5760720" y="5486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Parênteses — agrupamento</a:t>
            </a:r>
            <a:endParaRPr lang="pt-PT" sz="1050" noProof="0" dirty="0"/>
          </a:p>
        </p:txBody>
      </p:sp>
      <p:sp>
        <p:nvSpPr>
          <p:cNvPr id="39" name="Text 37"/>
          <p:cNvSpPr/>
          <p:nvPr/>
        </p:nvSpPr>
        <p:spPr>
          <a:xfrm>
            <a:off x="4800600" y="102412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100" noProof="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}</a:t>
            </a:r>
            <a:endParaRPr lang="pt-PT" sz="1100" noProof="0" dirty="0"/>
          </a:p>
        </p:txBody>
      </p:sp>
      <p:sp>
        <p:nvSpPr>
          <p:cNvPr id="40" name="Text 38"/>
          <p:cNvSpPr/>
          <p:nvPr/>
        </p:nvSpPr>
        <p:spPr>
          <a:xfrm>
            <a:off x="5760720" y="102412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Chavetas — bloco de código</a:t>
            </a:r>
            <a:endParaRPr lang="pt-PT" sz="1050" noProof="0" dirty="0"/>
          </a:p>
        </p:txBody>
      </p:sp>
      <p:sp>
        <p:nvSpPr>
          <p:cNvPr id="41" name="Text 39"/>
          <p:cNvSpPr/>
          <p:nvPr/>
        </p:nvSpPr>
        <p:spPr>
          <a:xfrm>
            <a:off x="4800600" y="1499616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100" noProof="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]</a:t>
            </a:r>
            <a:endParaRPr lang="pt-PT" sz="1100" noProof="0" dirty="0"/>
          </a:p>
        </p:txBody>
      </p:sp>
      <p:sp>
        <p:nvSpPr>
          <p:cNvPr id="42" name="Text 40"/>
          <p:cNvSpPr/>
          <p:nvPr/>
        </p:nvSpPr>
        <p:spPr>
          <a:xfrm>
            <a:off x="5760720" y="149961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Colchetes — </a:t>
            </a:r>
            <a:r>
              <a:rPr lang="pt-PT" sz="1050" noProof="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arrays</a:t>
            </a:r>
            <a:endParaRPr lang="pt-PT" sz="1050" noProof="0" dirty="0"/>
          </a:p>
        </p:txBody>
      </p:sp>
      <p:sp>
        <p:nvSpPr>
          <p:cNvPr id="43" name="Text 41"/>
          <p:cNvSpPr/>
          <p:nvPr/>
        </p:nvSpPr>
        <p:spPr>
          <a:xfrm>
            <a:off x="4800600" y="19751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100" noProof="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,</a:t>
            </a:r>
            <a:endParaRPr lang="pt-PT" sz="1100" noProof="0" dirty="0"/>
          </a:p>
        </p:txBody>
      </p:sp>
      <p:sp>
        <p:nvSpPr>
          <p:cNvPr id="44" name="Text 42"/>
          <p:cNvSpPr/>
          <p:nvPr/>
        </p:nvSpPr>
        <p:spPr>
          <a:xfrm>
            <a:off x="5760720" y="197510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Fim instrução / separador</a:t>
            </a:r>
            <a:endParaRPr lang="pt-PT" sz="1050" noProof="0" dirty="0"/>
          </a:p>
        </p:txBody>
      </p:sp>
      <p:sp>
        <p:nvSpPr>
          <p:cNvPr id="45" name="Text 43"/>
          <p:cNvSpPr/>
          <p:nvPr/>
        </p:nvSpPr>
        <p:spPr>
          <a:xfrm>
            <a:off x="4800600" y="245059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100" noProof="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" '</a:t>
            </a:r>
            <a:endParaRPr lang="pt-PT" sz="1100" noProof="0" dirty="0"/>
          </a:p>
        </p:txBody>
      </p:sp>
      <p:sp>
        <p:nvSpPr>
          <p:cNvPr id="46" name="Text 44"/>
          <p:cNvSpPr/>
          <p:nvPr/>
        </p:nvSpPr>
        <p:spPr>
          <a:xfrm>
            <a:off x="5760720" y="245059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/ aspas / apóstrofe</a:t>
            </a:r>
            <a:endParaRPr lang="pt-PT" sz="1050" noProof="0" dirty="0"/>
          </a:p>
        </p:txBody>
      </p:sp>
      <p:sp>
        <p:nvSpPr>
          <p:cNvPr id="47" name="Shape 45"/>
          <p:cNvSpPr/>
          <p:nvPr/>
        </p:nvSpPr>
        <p:spPr>
          <a:xfrm>
            <a:off x="274320" y="2999232"/>
            <a:ext cx="8595360" cy="0"/>
          </a:xfrm>
          <a:prstGeom prst="line">
            <a:avLst/>
          </a:prstGeom>
          <a:noFill/>
          <a:ln w="12700">
            <a:solidFill>
              <a:srgbClr val="00CAD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48" name="Text 46"/>
          <p:cNvSpPr/>
          <p:nvPr/>
        </p:nvSpPr>
        <p:spPr>
          <a:xfrm>
            <a:off x="502920" y="30906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300" b="1" noProof="0" dirty="0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Literais e Identificadores</a:t>
            </a:r>
            <a:endParaRPr lang="pt-PT" sz="1300" noProof="0" dirty="0"/>
          </a:p>
        </p:txBody>
      </p:sp>
      <p:sp>
        <p:nvSpPr>
          <p:cNvPr id="49" name="Text 47"/>
          <p:cNvSpPr/>
          <p:nvPr/>
        </p:nvSpPr>
        <p:spPr>
          <a:xfrm>
            <a:off x="502920" y="34290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00" b="1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LIT_INTEIRO:</a:t>
            </a:r>
            <a:endParaRPr lang="pt-PT" sz="1000" noProof="0" dirty="0"/>
          </a:p>
        </p:txBody>
      </p:sp>
      <p:sp>
        <p:nvSpPr>
          <p:cNvPr id="50" name="Text 48"/>
          <p:cNvSpPr/>
          <p:nvPr/>
        </p:nvSpPr>
        <p:spPr>
          <a:xfrm>
            <a:off x="2377440" y="342900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50" noProof="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[0-9]+</a:t>
            </a:r>
            <a:endParaRPr lang="pt-PT" sz="950" noProof="0" dirty="0"/>
          </a:p>
        </p:txBody>
      </p:sp>
      <p:sp>
        <p:nvSpPr>
          <p:cNvPr id="51" name="Text 49"/>
          <p:cNvSpPr/>
          <p:nvPr/>
        </p:nvSpPr>
        <p:spPr>
          <a:xfrm>
            <a:off x="502920" y="39044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00" b="1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LIT_REAL:</a:t>
            </a:r>
            <a:endParaRPr lang="pt-PT" sz="1000" noProof="0" dirty="0"/>
          </a:p>
        </p:txBody>
      </p:sp>
      <p:sp>
        <p:nvSpPr>
          <p:cNvPr id="52" name="Text 50"/>
          <p:cNvSpPr/>
          <p:nvPr/>
        </p:nvSpPr>
        <p:spPr>
          <a:xfrm>
            <a:off x="2377440" y="390448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50" noProof="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[0-9]+\.[0-9]+</a:t>
            </a:r>
            <a:endParaRPr lang="pt-PT" sz="950" noProof="0" dirty="0"/>
          </a:p>
        </p:txBody>
      </p:sp>
      <p:sp>
        <p:nvSpPr>
          <p:cNvPr id="53" name="Text 51"/>
          <p:cNvSpPr/>
          <p:nvPr/>
        </p:nvSpPr>
        <p:spPr>
          <a:xfrm>
            <a:off x="502920" y="437997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00" b="1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LIT_TEXTO:</a:t>
            </a:r>
            <a:endParaRPr lang="pt-PT" sz="1000" noProof="0" dirty="0"/>
          </a:p>
        </p:txBody>
      </p:sp>
      <p:sp>
        <p:nvSpPr>
          <p:cNvPr id="54" name="Text 52"/>
          <p:cNvSpPr/>
          <p:nvPr/>
        </p:nvSpPr>
        <p:spPr>
          <a:xfrm>
            <a:off x="2377440" y="437997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50" noProof="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"[^\"]*"</a:t>
            </a:r>
            <a:endParaRPr lang="pt-PT" sz="950" noProof="0" dirty="0"/>
          </a:p>
        </p:txBody>
      </p:sp>
      <p:sp>
        <p:nvSpPr>
          <p:cNvPr id="55" name="Text 53"/>
          <p:cNvSpPr/>
          <p:nvPr/>
        </p:nvSpPr>
        <p:spPr>
          <a:xfrm>
            <a:off x="4800600" y="34290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00" b="1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LIT_CARACTERE:</a:t>
            </a:r>
            <a:endParaRPr lang="pt-PT" sz="1000" noProof="0" dirty="0"/>
          </a:p>
        </p:txBody>
      </p:sp>
      <p:sp>
        <p:nvSpPr>
          <p:cNvPr id="56" name="Text 54"/>
          <p:cNvSpPr/>
          <p:nvPr/>
        </p:nvSpPr>
        <p:spPr>
          <a:xfrm>
            <a:off x="6675120" y="342900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50" noProof="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'.'</a:t>
            </a:r>
            <a:endParaRPr lang="pt-PT" sz="950" noProof="0" dirty="0"/>
          </a:p>
        </p:txBody>
      </p:sp>
      <p:sp>
        <p:nvSpPr>
          <p:cNvPr id="57" name="Text 55"/>
          <p:cNvSpPr/>
          <p:nvPr/>
        </p:nvSpPr>
        <p:spPr>
          <a:xfrm>
            <a:off x="4800600" y="39044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00" b="1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IDENTIFICADOR:</a:t>
            </a:r>
            <a:endParaRPr lang="pt-PT" sz="1000" noProof="0" dirty="0"/>
          </a:p>
        </p:txBody>
      </p:sp>
      <p:sp>
        <p:nvSpPr>
          <p:cNvPr id="58" name="Text 56"/>
          <p:cNvSpPr/>
          <p:nvPr/>
        </p:nvSpPr>
        <p:spPr>
          <a:xfrm>
            <a:off x="6675120" y="390448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50" noProof="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[a-</a:t>
            </a:r>
            <a:r>
              <a:rPr lang="pt-PT" sz="950" noProof="0" dirty="0" err="1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</a:t>
            </a:r>
            <a:r>
              <a:rPr lang="pt-PT" sz="950" noProof="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-ZÀ-ÿ_][a-zA-ZÀ-ÿ0-9_]*</a:t>
            </a:r>
            <a:endParaRPr lang="pt-PT" sz="950" noProof="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0E2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B934E0-D40A-F5D2-6B3C-A38752904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6CD6021-556B-0BCD-6526-975A305AFD72}"/>
              </a:ext>
            </a:extLst>
          </p:cNvPr>
          <p:cNvSpPr/>
          <p:nvPr/>
        </p:nvSpPr>
        <p:spPr>
          <a:xfrm>
            <a:off x="6583680" y="164592"/>
            <a:ext cx="2286000" cy="0"/>
          </a:xfrm>
          <a:prstGeom prst="line">
            <a:avLst/>
          </a:prstGeom>
          <a:noFill/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DD80223-6ECC-1EE4-1AE7-60477B8CFA7A}"/>
              </a:ext>
            </a:extLst>
          </p:cNvPr>
          <p:cNvSpPr/>
          <p:nvPr/>
        </p:nvSpPr>
        <p:spPr>
          <a:xfrm>
            <a:off x="7498080" y="347472"/>
            <a:ext cx="1371600" cy="0"/>
          </a:xfrm>
          <a:prstGeom prst="line">
            <a:avLst/>
          </a:prstGeom>
          <a:noFill/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AECD368-1B92-5341-2F57-E0EBD55E5FC9}"/>
              </a:ext>
            </a:extLst>
          </p:cNvPr>
          <p:cNvSpPr/>
          <p:nvPr/>
        </p:nvSpPr>
        <p:spPr>
          <a:xfrm>
            <a:off x="6217920" y="502920"/>
            <a:ext cx="182880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A707330-AC3C-3550-617C-6B1E2D8C9B6D}"/>
              </a:ext>
            </a:extLst>
          </p:cNvPr>
          <p:cNvSpPr/>
          <p:nvPr/>
        </p:nvSpPr>
        <p:spPr>
          <a:xfrm>
            <a:off x="8732520" y="137160"/>
            <a:ext cx="0" cy="2011680"/>
          </a:xfrm>
          <a:prstGeom prst="line">
            <a:avLst/>
          </a:prstGeom>
          <a:noFill/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5916E0A8-FEFE-C268-B5C0-F421DD884A58}"/>
              </a:ext>
            </a:extLst>
          </p:cNvPr>
          <p:cNvSpPr/>
          <p:nvPr/>
        </p:nvSpPr>
        <p:spPr>
          <a:xfrm>
            <a:off x="8503920" y="320040"/>
            <a:ext cx="0" cy="164592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8F2E0DB-4308-9DD1-C5E7-F571752AAE28}"/>
              </a:ext>
            </a:extLst>
          </p:cNvPr>
          <p:cNvSpPr/>
          <p:nvPr/>
        </p:nvSpPr>
        <p:spPr>
          <a:xfrm>
            <a:off x="137160" y="4663440"/>
            <a:ext cx="2011680" cy="0"/>
          </a:xfrm>
          <a:prstGeom prst="line">
            <a:avLst/>
          </a:prstGeom>
          <a:noFill/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AA962FC6-D83E-AED6-DF1B-AE207E54F380}"/>
              </a:ext>
            </a:extLst>
          </p:cNvPr>
          <p:cNvSpPr/>
          <p:nvPr/>
        </p:nvSpPr>
        <p:spPr>
          <a:xfrm>
            <a:off x="137160" y="4480560"/>
            <a:ext cx="137160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97FC0419-DEE5-498A-5020-BA2C35E21259}"/>
              </a:ext>
            </a:extLst>
          </p:cNvPr>
          <p:cNvSpPr/>
          <p:nvPr/>
        </p:nvSpPr>
        <p:spPr>
          <a:xfrm>
            <a:off x="201168" y="3200400"/>
            <a:ext cx="0" cy="1645920"/>
          </a:xfrm>
          <a:prstGeom prst="line">
            <a:avLst/>
          </a:prstGeom>
          <a:noFill/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D10D6C33-4DEF-968E-1D92-B7059B805FD0}"/>
              </a:ext>
            </a:extLst>
          </p:cNvPr>
          <p:cNvSpPr/>
          <p:nvPr/>
        </p:nvSpPr>
        <p:spPr>
          <a:xfrm>
            <a:off x="384048" y="3474720"/>
            <a:ext cx="0" cy="1371600"/>
          </a:xfrm>
          <a:prstGeom prst="line">
            <a:avLst/>
          </a:prstGeom>
          <a:noFill/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04900E4E-A323-E57E-DB83-D72D82E6A790}"/>
              </a:ext>
            </a:extLst>
          </p:cNvPr>
          <p:cNvSpPr/>
          <p:nvPr/>
        </p:nvSpPr>
        <p:spPr>
          <a:xfrm>
            <a:off x="0" y="4983480"/>
            <a:ext cx="3657600" cy="0"/>
          </a:xfrm>
          <a:prstGeom prst="line">
            <a:avLst/>
          </a:prstGeom>
          <a:noFill/>
          <a:ln w="1524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588937C9-C453-E98E-A7D8-8BEA3FABF6FD}"/>
              </a:ext>
            </a:extLst>
          </p:cNvPr>
          <p:cNvSpPr/>
          <p:nvPr/>
        </p:nvSpPr>
        <p:spPr>
          <a:xfrm>
            <a:off x="5486400" y="4983480"/>
            <a:ext cx="3657600" cy="0"/>
          </a:xfrm>
          <a:prstGeom prst="line">
            <a:avLst/>
          </a:prstGeom>
          <a:noFill/>
          <a:ln w="1524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DDA569D7-2D57-E553-0B2C-33519665A196}"/>
              </a:ext>
            </a:extLst>
          </p:cNvPr>
          <p:cNvSpPr/>
          <p:nvPr/>
        </p:nvSpPr>
        <p:spPr>
          <a:xfrm>
            <a:off x="73152" y="320040"/>
            <a:ext cx="54864" cy="54864"/>
          </a:xfrm>
          <a:prstGeom prst="ellipse">
            <a:avLst/>
          </a:prstGeom>
          <a:solidFill>
            <a:srgbClr val="00CADA">
              <a:alpha val="60000"/>
            </a:srgbClr>
          </a:solidFill>
          <a:ln w="1270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645AD4FD-9553-352E-1A5B-028CAFED53B4}"/>
              </a:ext>
            </a:extLst>
          </p:cNvPr>
          <p:cNvSpPr/>
          <p:nvPr/>
        </p:nvSpPr>
        <p:spPr>
          <a:xfrm>
            <a:off x="228600" y="228600"/>
            <a:ext cx="54864" cy="54864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98BBD9D5-F160-A89D-7AB7-7D5AA242DC88}"/>
              </a:ext>
            </a:extLst>
          </p:cNvPr>
          <p:cNvSpPr/>
          <p:nvPr/>
        </p:nvSpPr>
        <p:spPr>
          <a:xfrm>
            <a:off x="8686800" y="4480560"/>
            <a:ext cx="54864" cy="54864"/>
          </a:xfrm>
          <a:prstGeom prst="ellipse">
            <a:avLst/>
          </a:prstGeom>
          <a:solidFill>
            <a:srgbClr val="00CADA">
              <a:alpha val="60000"/>
            </a:srgbClr>
          </a:solidFill>
          <a:ln w="1270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F91C0FF3-1DBD-D110-DB95-CC8F1DEB8618}"/>
              </a:ext>
            </a:extLst>
          </p:cNvPr>
          <p:cNvSpPr/>
          <p:nvPr/>
        </p:nvSpPr>
        <p:spPr>
          <a:xfrm>
            <a:off x="8823960" y="4617720"/>
            <a:ext cx="54864" cy="54864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CB8F4C64-208C-F753-B09A-3AD15C5A4885}"/>
              </a:ext>
            </a:extLst>
          </p:cNvPr>
          <p:cNvSpPr/>
          <p:nvPr/>
        </p:nvSpPr>
        <p:spPr>
          <a:xfrm>
            <a:off x="6537960" y="128016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E7FED272-8BC0-86E6-C428-48D73BBEA627}"/>
              </a:ext>
            </a:extLst>
          </p:cNvPr>
          <p:cNvSpPr/>
          <p:nvPr/>
        </p:nvSpPr>
        <p:spPr>
          <a:xfrm>
            <a:off x="8851392" y="128016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7C4FB5A2-C429-CA4C-A834-7A57D20820A6}"/>
              </a:ext>
            </a:extLst>
          </p:cNvPr>
          <p:cNvSpPr/>
          <p:nvPr/>
        </p:nvSpPr>
        <p:spPr>
          <a:xfrm>
            <a:off x="8851392" y="214884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B269D51C-2065-5F9E-C1F4-AB84688822F3}"/>
              </a:ext>
            </a:extLst>
          </p:cNvPr>
          <p:cNvSpPr/>
          <p:nvPr/>
        </p:nvSpPr>
        <p:spPr>
          <a:xfrm>
            <a:off x="118872" y="443484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22702AF6-B43F-9FF3-104E-41D784773349}"/>
              </a:ext>
            </a:extLst>
          </p:cNvPr>
          <p:cNvSpPr/>
          <p:nvPr/>
        </p:nvSpPr>
        <p:spPr>
          <a:xfrm>
            <a:off x="118872" y="470916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CD071F7D-3ACC-E99B-8396-92F870016C6D}"/>
              </a:ext>
            </a:extLst>
          </p:cNvPr>
          <p:cNvSpPr/>
          <p:nvPr/>
        </p:nvSpPr>
        <p:spPr>
          <a:xfrm>
            <a:off x="2121408" y="4681728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3223ECDE-0414-EF3C-B7C8-583F03C7D988}"/>
              </a:ext>
            </a:extLst>
          </p:cNvPr>
          <p:cNvSpPr/>
          <p:nvPr/>
        </p:nvSpPr>
        <p:spPr>
          <a:xfrm>
            <a:off x="502919" y="298512"/>
            <a:ext cx="8138160" cy="457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PT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Estruturas de Controle </a:t>
            </a:r>
            <a:endParaRPr lang="pt-PT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BR" dirty="0">
                <a:solidFill>
                  <a:schemeClr val="bg1"/>
                </a:solidFill>
              </a:rPr>
              <a:t> </a:t>
            </a:r>
            <a:endParaRPr lang="pt-PT" sz="1300" noProof="0" dirty="0">
              <a:solidFill>
                <a:schemeClr val="bg1"/>
              </a:solidFill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E0DBB94D-1C2C-D7E1-E150-B0FFA6EE28B4}"/>
              </a:ext>
            </a:extLst>
          </p:cNvPr>
          <p:cNvSpPr/>
          <p:nvPr/>
        </p:nvSpPr>
        <p:spPr>
          <a:xfrm>
            <a:off x="512065" y="504576"/>
            <a:ext cx="81381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PT" sz="13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Condicional </a:t>
            </a:r>
          </a:p>
          <a:p>
            <a:pPr lvl="1"/>
            <a:r>
              <a:rPr lang="pt-PT" sz="1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 (vendas &gt; 1000) { </a:t>
            </a:r>
          </a:p>
          <a:p>
            <a:pPr lvl="1"/>
            <a:r>
              <a:rPr lang="pt-PT" sz="1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mostrar("Meta atingida!") </a:t>
            </a:r>
          </a:p>
          <a:p>
            <a:pPr lvl="1"/>
            <a:r>
              <a:rPr lang="pt-PT" sz="1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 </a:t>
            </a:r>
            <a:r>
              <a:rPr lang="pt-PT" sz="13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senao</a:t>
            </a:r>
            <a:r>
              <a:rPr lang="pt-PT" sz="1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{ </a:t>
            </a:r>
          </a:p>
          <a:p>
            <a:pPr lvl="1"/>
            <a:r>
              <a:rPr lang="pt-PT" sz="1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mostrar("Continua a tentar.") </a:t>
            </a:r>
          </a:p>
          <a:p>
            <a:pPr lvl="1"/>
            <a:r>
              <a:rPr lang="pt-PT" sz="1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 </a:t>
            </a:r>
          </a:p>
          <a:p>
            <a:endParaRPr lang="pt-PT" sz="13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PT" sz="13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Ciclo enquanto </a:t>
            </a:r>
          </a:p>
          <a:p>
            <a:pPr lvl="1"/>
            <a:r>
              <a:rPr lang="pt-PT" sz="1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enquanto (stock &gt; 0) { </a:t>
            </a:r>
          </a:p>
          <a:p>
            <a:pPr lvl="1"/>
            <a:r>
              <a:rPr lang="pt-PT" sz="1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stock = stock - 1 </a:t>
            </a:r>
          </a:p>
          <a:p>
            <a:pPr lvl="1"/>
            <a:r>
              <a:rPr lang="pt-PT" sz="1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 </a:t>
            </a:r>
          </a:p>
          <a:p>
            <a:endParaRPr lang="pt-PT" sz="13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PT" sz="13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Ciclo para </a:t>
            </a:r>
          </a:p>
          <a:p>
            <a:pPr lvl="1"/>
            <a:r>
              <a:rPr lang="pt-BR" sz="1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para (inteiro i = 0; i &lt; 10; i++) { </a:t>
            </a:r>
          </a:p>
          <a:p>
            <a:pPr lvl="1"/>
            <a:r>
              <a:rPr lang="pt-PT" sz="1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mostrar("Iteração: ", i) </a:t>
            </a:r>
          </a:p>
          <a:p>
            <a:pPr lvl="1"/>
            <a:r>
              <a:rPr lang="pt-PT" sz="1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 </a:t>
            </a:r>
          </a:p>
          <a:p>
            <a:endParaRPr lang="pt-BR" sz="13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8F6E70EF-FF45-CF38-6147-A3477F6024F5}"/>
              </a:ext>
            </a:extLst>
          </p:cNvPr>
          <p:cNvSpPr/>
          <p:nvPr/>
        </p:nvSpPr>
        <p:spPr>
          <a:xfrm>
            <a:off x="4663440" y="2514600"/>
            <a:ext cx="4023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pt-PT" sz="1200" noProof="0" dirty="0"/>
          </a:p>
        </p:txBody>
      </p:sp>
    </p:spTree>
    <p:extLst>
      <p:ext uri="{BB962C8B-B14F-4D97-AF65-F5344CB8AC3E}">
        <p14:creationId xmlns:p14="http://schemas.microsoft.com/office/powerpoint/2010/main" val="20918710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0E2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A9D15E-F4E2-6A00-7EB1-A4CD8A73D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8CF3A9A-7613-F816-166E-00B7E0C76808}"/>
              </a:ext>
            </a:extLst>
          </p:cNvPr>
          <p:cNvSpPr/>
          <p:nvPr/>
        </p:nvSpPr>
        <p:spPr>
          <a:xfrm>
            <a:off x="6583680" y="164592"/>
            <a:ext cx="2286000" cy="0"/>
          </a:xfrm>
          <a:prstGeom prst="line">
            <a:avLst/>
          </a:prstGeom>
          <a:noFill/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3D9C492-81B7-5E00-FE8B-089446E1687D}"/>
              </a:ext>
            </a:extLst>
          </p:cNvPr>
          <p:cNvSpPr/>
          <p:nvPr/>
        </p:nvSpPr>
        <p:spPr>
          <a:xfrm>
            <a:off x="7498080" y="347472"/>
            <a:ext cx="1371600" cy="0"/>
          </a:xfrm>
          <a:prstGeom prst="line">
            <a:avLst/>
          </a:prstGeom>
          <a:noFill/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4230C82-9275-3D0F-2A76-7552BEB50AA6}"/>
              </a:ext>
            </a:extLst>
          </p:cNvPr>
          <p:cNvSpPr/>
          <p:nvPr/>
        </p:nvSpPr>
        <p:spPr>
          <a:xfrm>
            <a:off x="6217920" y="502920"/>
            <a:ext cx="182880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E14A79B-B954-F839-AD46-D5D3D70C2470}"/>
              </a:ext>
            </a:extLst>
          </p:cNvPr>
          <p:cNvSpPr/>
          <p:nvPr/>
        </p:nvSpPr>
        <p:spPr>
          <a:xfrm>
            <a:off x="8732520" y="137160"/>
            <a:ext cx="0" cy="2011680"/>
          </a:xfrm>
          <a:prstGeom prst="line">
            <a:avLst/>
          </a:prstGeom>
          <a:noFill/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AD7B0C1-AD7F-3C8E-E681-4043DE977D71}"/>
              </a:ext>
            </a:extLst>
          </p:cNvPr>
          <p:cNvSpPr/>
          <p:nvPr/>
        </p:nvSpPr>
        <p:spPr>
          <a:xfrm>
            <a:off x="8503920" y="320040"/>
            <a:ext cx="0" cy="164592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696A5048-53B5-C6FF-69E5-06C71EDA24E7}"/>
              </a:ext>
            </a:extLst>
          </p:cNvPr>
          <p:cNvSpPr/>
          <p:nvPr/>
        </p:nvSpPr>
        <p:spPr>
          <a:xfrm>
            <a:off x="137160" y="4663440"/>
            <a:ext cx="2011680" cy="0"/>
          </a:xfrm>
          <a:prstGeom prst="line">
            <a:avLst/>
          </a:prstGeom>
          <a:noFill/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073691A0-01F0-CBAF-0809-A6351E8516C9}"/>
              </a:ext>
            </a:extLst>
          </p:cNvPr>
          <p:cNvSpPr/>
          <p:nvPr/>
        </p:nvSpPr>
        <p:spPr>
          <a:xfrm>
            <a:off x="137160" y="4480560"/>
            <a:ext cx="137160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16B006B1-81C2-6C15-F95B-5E2FF5078754}"/>
              </a:ext>
            </a:extLst>
          </p:cNvPr>
          <p:cNvSpPr/>
          <p:nvPr/>
        </p:nvSpPr>
        <p:spPr>
          <a:xfrm>
            <a:off x="201168" y="3200400"/>
            <a:ext cx="0" cy="1645920"/>
          </a:xfrm>
          <a:prstGeom prst="line">
            <a:avLst/>
          </a:prstGeom>
          <a:noFill/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928779B7-BFF7-8B5C-C14B-C04225499C40}"/>
              </a:ext>
            </a:extLst>
          </p:cNvPr>
          <p:cNvSpPr/>
          <p:nvPr/>
        </p:nvSpPr>
        <p:spPr>
          <a:xfrm>
            <a:off x="384048" y="3474720"/>
            <a:ext cx="0" cy="1371600"/>
          </a:xfrm>
          <a:prstGeom prst="line">
            <a:avLst/>
          </a:prstGeom>
          <a:noFill/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79810E1B-449A-AF0F-3A84-05B2C833C1C7}"/>
              </a:ext>
            </a:extLst>
          </p:cNvPr>
          <p:cNvSpPr/>
          <p:nvPr/>
        </p:nvSpPr>
        <p:spPr>
          <a:xfrm>
            <a:off x="0" y="4983480"/>
            <a:ext cx="3657600" cy="0"/>
          </a:xfrm>
          <a:prstGeom prst="line">
            <a:avLst/>
          </a:prstGeom>
          <a:noFill/>
          <a:ln w="1524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21B974C1-8E60-67CA-0A43-CB23E49AC059}"/>
              </a:ext>
            </a:extLst>
          </p:cNvPr>
          <p:cNvSpPr/>
          <p:nvPr/>
        </p:nvSpPr>
        <p:spPr>
          <a:xfrm>
            <a:off x="5486400" y="4983480"/>
            <a:ext cx="3657600" cy="0"/>
          </a:xfrm>
          <a:prstGeom prst="line">
            <a:avLst/>
          </a:prstGeom>
          <a:noFill/>
          <a:ln w="1524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66B4DBF4-F4B7-03B9-B19C-975F87B3AC2F}"/>
              </a:ext>
            </a:extLst>
          </p:cNvPr>
          <p:cNvSpPr/>
          <p:nvPr/>
        </p:nvSpPr>
        <p:spPr>
          <a:xfrm>
            <a:off x="73152" y="320040"/>
            <a:ext cx="54864" cy="54864"/>
          </a:xfrm>
          <a:prstGeom prst="ellipse">
            <a:avLst/>
          </a:prstGeom>
          <a:solidFill>
            <a:srgbClr val="00CADA">
              <a:alpha val="60000"/>
            </a:srgbClr>
          </a:solidFill>
          <a:ln w="1270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23229B63-29F7-0D8F-3D82-B6149FC24C57}"/>
              </a:ext>
            </a:extLst>
          </p:cNvPr>
          <p:cNvSpPr/>
          <p:nvPr/>
        </p:nvSpPr>
        <p:spPr>
          <a:xfrm>
            <a:off x="228600" y="228600"/>
            <a:ext cx="54864" cy="54864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0F7745C5-87E0-2EF2-4F85-B46FAA938D34}"/>
              </a:ext>
            </a:extLst>
          </p:cNvPr>
          <p:cNvSpPr/>
          <p:nvPr/>
        </p:nvSpPr>
        <p:spPr>
          <a:xfrm>
            <a:off x="8686800" y="4480560"/>
            <a:ext cx="54864" cy="54864"/>
          </a:xfrm>
          <a:prstGeom prst="ellipse">
            <a:avLst/>
          </a:prstGeom>
          <a:solidFill>
            <a:srgbClr val="00CADA">
              <a:alpha val="60000"/>
            </a:srgbClr>
          </a:solidFill>
          <a:ln w="1270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18A40E57-CED0-FFBE-5C3C-BFA92DC08E8B}"/>
              </a:ext>
            </a:extLst>
          </p:cNvPr>
          <p:cNvSpPr/>
          <p:nvPr/>
        </p:nvSpPr>
        <p:spPr>
          <a:xfrm>
            <a:off x="8823960" y="4617720"/>
            <a:ext cx="54864" cy="54864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61CF45D4-23AF-124C-052D-12C6703EC431}"/>
              </a:ext>
            </a:extLst>
          </p:cNvPr>
          <p:cNvSpPr/>
          <p:nvPr/>
        </p:nvSpPr>
        <p:spPr>
          <a:xfrm>
            <a:off x="6537960" y="128016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797F2D10-5E2A-3DBD-C252-E13B43A9A260}"/>
              </a:ext>
            </a:extLst>
          </p:cNvPr>
          <p:cNvSpPr/>
          <p:nvPr/>
        </p:nvSpPr>
        <p:spPr>
          <a:xfrm>
            <a:off x="8851392" y="128016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BDF6D356-0767-4FD8-273B-CF7883E8EEBA}"/>
              </a:ext>
            </a:extLst>
          </p:cNvPr>
          <p:cNvSpPr/>
          <p:nvPr/>
        </p:nvSpPr>
        <p:spPr>
          <a:xfrm>
            <a:off x="8851392" y="214884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8EEAAC06-1439-5B13-4408-E191ED8FFCB2}"/>
              </a:ext>
            </a:extLst>
          </p:cNvPr>
          <p:cNvSpPr/>
          <p:nvPr/>
        </p:nvSpPr>
        <p:spPr>
          <a:xfrm>
            <a:off x="118872" y="443484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EF1E4F60-549D-31ED-6815-D35F3944B4CD}"/>
              </a:ext>
            </a:extLst>
          </p:cNvPr>
          <p:cNvSpPr/>
          <p:nvPr/>
        </p:nvSpPr>
        <p:spPr>
          <a:xfrm>
            <a:off x="118872" y="470916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48C97A01-89F4-436C-F2B2-30979BBB4184}"/>
              </a:ext>
            </a:extLst>
          </p:cNvPr>
          <p:cNvSpPr/>
          <p:nvPr/>
        </p:nvSpPr>
        <p:spPr>
          <a:xfrm>
            <a:off x="2121408" y="4681728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C926A46D-63C6-FE63-3AF6-066559BDC483}"/>
              </a:ext>
            </a:extLst>
          </p:cNvPr>
          <p:cNvSpPr/>
          <p:nvPr/>
        </p:nvSpPr>
        <p:spPr>
          <a:xfrm>
            <a:off x="502919" y="298512"/>
            <a:ext cx="8138160" cy="457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PT" b="1" dirty="0">
                <a:solidFill>
                  <a:schemeClr val="accent1"/>
                </a:solidFill>
              </a:rPr>
              <a:t>Tratamento de Erros </a:t>
            </a:r>
            <a:endParaRPr lang="pt-BR" sz="13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BR" dirty="0">
                <a:solidFill>
                  <a:schemeClr val="bg1"/>
                </a:solidFill>
              </a:rPr>
              <a:t> </a:t>
            </a:r>
            <a:endParaRPr lang="pt-PT" sz="1300" noProof="0" dirty="0">
              <a:solidFill>
                <a:schemeClr val="bg1"/>
              </a:solidFill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A91E04F0-D788-6EDA-2FE7-D59A15E53904}"/>
              </a:ext>
            </a:extLst>
          </p:cNvPr>
          <p:cNvSpPr/>
          <p:nvPr/>
        </p:nvSpPr>
        <p:spPr>
          <a:xfrm>
            <a:off x="512065" y="504576"/>
            <a:ext cx="81381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1"/>
            <a:r>
              <a:rPr lang="pt-PT" sz="1300" dirty="0">
                <a:solidFill>
                  <a:schemeClr val="bg1"/>
                </a:solidFill>
              </a:rPr>
              <a:t>tente { </a:t>
            </a:r>
          </a:p>
          <a:p>
            <a:pPr lvl="1"/>
            <a:r>
              <a:rPr lang="pt-PT" sz="1300" dirty="0">
                <a:solidFill>
                  <a:schemeClr val="bg1"/>
                </a:solidFill>
              </a:rPr>
              <a:t>inteiro resultado = 10 / 0 </a:t>
            </a:r>
          </a:p>
          <a:p>
            <a:pPr lvl="1"/>
            <a:r>
              <a:rPr lang="pt-PT" sz="1300" dirty="0">
                <a:solidFill>
                  <a:schemeClr val="bg1"/>
                </a:solidFill>
              </a:rPr>
              <a:t>} capture (erro) { </a:t>
            </a:r>
          </a:p>
          <a:p>
            <a:pPr lvl="1"/>
            <a:r>
              <a:rPr lang="pt-BR" sz="1300" dirty="0">
                <a:solidFill>
                  <a:schemeClr val="bg1"/>
                </a:solidFill>
              </a:rPr>
              <a:t>mostrar("Erro: divisão por zero!") </a:t>
            </a:r>
          </a:p>
          <a:p>
            <a:pPr lvl="1"/>
            <a:r>
              <a:rPr lang="pt-PT" sz="1300" dirty="0">
                <a:solidFill>
                  <a:schemeClr val="bg1"/>
                </a:solidFill>
              </a:rPr>
              <a:t>} </a:t>
            </a:r>
          </a:p>
          <a:p>
            <a:endParaRPr lang="pt-PT" dirty="0">
              <a:solidFill>
                <a:schemeClr val="bg1"/>
              </a:solidFill>
            </a:endParaRPr>
          </a:p>
          <a:p>
            <a:endParaRPr lang="pt-PT" dirty="0">
              <a:solidFill>
                <a:schemeClr val="bg1"/>
              </a:solidFill>
            </a:endParaRPr>
          </a:p>
          <a:p>
            <a:r>
              <a:rPr lang="pt-PT" b="1" dirty="0">
                <a:solidFill>
                  <a:schemeClr val="accent1"/>
                </a:solidFill>
              </a:rPr>
              <a:t>Funções</a:t>
            </a:r>
            <a:r>
              <a:rPr lang="pt-PT" b="1" dirty="0">
                <a:solidFill>
                  <a:schemeClr val="bg1"/>
                </a:solidFill>
              </a:rPr>
              <a:t> </a:t>
            </a:r>
            <a:endParaRPr lang="pt-PT" dirty="0">
              <a:solidFill>
                <a:schemeClr val="bg1"/>
              </a:solidFill>
            </a:endParaRPr>
          </a:p>
          <a:p>
            <a:pPr lvl="1"/>
            <a:r>
              <a:rPr lang="pt-BR" sz="1300" dirty="0">
                <a:solidFill>
                  <a:schemeClr val="bg1"/>
                </a:solidFill>
              </a:rPr>
              <a:t>funcao calcularIva(real preco, real taxa) { </a:t>
            </a:r>
          </a:p>
          <a:p>
            <a:pPr lvl="1"/>
            <a:r>
              <a:rPr lang="pt-PT" sz="1300" dirty="0">
                <a:solidFill>
                  <a:schemeClr val="bg1"/>
                </a:solidFill>
              </a:rPr>
              <a:t>	retorna </a:t>
            </a:r>
            <a:r>
              <a:rPr lang="pt-PT" sz="1300" dirty="0" err="1">
                <a:solidFill>
                  <a:schemeClr val="bg1"/>
                </a:solidFill>
              </a:rPr>
              <a:t>preco</a:t>
            </a:r>
            <a:r>
              <a:rPr lang="pt-PT" sz="1300" dirty="0">
                <a:solidFill>
                  <a:schemeClr val="bg1"/>
                </a:solidFill>
              </a:rPr>
              <a:t> * taxa </a:t>
            </a:r>
          </a:p>
          <a:p>
            <a:pPr lvl="1"/>
            <a:r>
              <a:rPr lang="pt-PT" sz="1300" dirty="0">
                <a:solidFill>
                  <a:schemeClr val="bg1"/>
                </a:solidFill>
              </a:rPr>
              <a:t>} </a:t>
            </a:r>
          </a:p>
          <a:p>
            <a:pPr lvl="1"/>
            <a:r>
              <a:rPr lang="pt-PT" sz="1300" dirty="0">
                <a:solidFill>
                  <a:schemeClr val="bg1"/>
                </a:solidFill>
              </a:rPr>
              <a:t>real </a:t>
            </a:r>
            <a:r>
              <a:rPr lang="pt-PT" sz="1300" dirty="0" err="1">
                <a:solidFill>
                  <a:schemeClr val="bg1"/>
                </a:solidFill>
              </a:rPr>
              <a:t>valorIva</a:t>
            </a:r>
            <a:r>
              <a:rPr lang="pt-PT" sz="1300" dirty="0">
                <a:solidFill>
                  <a:schemeClr val="bg1"/>
                </a:solidFill>
              </a:rPr>
              <a:t> = </a:t>
            </a:r>
            <a:r>
              <a:rPr lang="pt-PT" sz="1300" dirty="0" err="1">
                <a:solidFill>
                  <a:schemeClr val="bg1"/>
                </a:solidFill>
              </a:rPr>
              <a:t>calcularIva</a:t>
            </a:r>
            <a:r>
              <a:rPr lang="pt-PT" sz="1300" dirty="0">
                <a:solidFill>
                  <a:schemeClr val="bg1"/>
                </a:solidFill>
              </a:rPr>
              <a:t>(100.0, 0.23) </a:t>
            </a:r>
          </a:p>
          <a:p>
            <a:pPr lvl="1"/>
            <a:r>
              <a:rPr lang="pt-PT" sz="1300" dirty="0">
                <a:solidFill>
                  <a:schemeClr val="bg1"/>
                </a:solidFill>
              </a:rPr>
              <a:t>mostrar("IVA: ", </a:t>
            </a:r>
            <a:r>
              <a:rPr lang="pt-PT" sz="1300" dirty="0" err="1">
                <a:solidFill>
                  <a:schemeClr val="bg1"/>
                </a:solidFill>
              </a:rPr>
              <a:t>valorIva</a:t>
            </a:r>
            <a:r>
              <a:rPr lang="pt-PT" sz="1300" dirty="0">
                <a:solidFill>
                  <a:schemeClr val="bg1"/>
                </a:solidFill>
              </a:rPr>
              <a:t>)  </a:t>
            </a:r>
            <a:endParaRPr lang="pt-BR" sz="13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59DA5369-F671-C63D-80A6-2C3E60FC4D9A}"/>
              </a:ext>
            </a:extLst>
          </p:cNvPr>
          <p:cNvSpPr/>
          <p:nvPr/>
        </p:nvSpPr>
        <p:spPr>
          <a:xfrm>
            <a:off x="4663440" y="2514600"/>
            <a:ext cx="4023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pt-PT" sz="1200" noProof="0" dirty="0"/>
          </a:p>
        </p:txBody>
      </p:sp>
    </p:spTree>
    <p:extLst>
      <p:ext uri="{BB962C8B-B14F-4D97-AF65-F5344CB8AC3E}">
        <p14:creationId xmlns:p14="http://schemas.microsoft.com/office/powerpoint/2010/main" val="22813071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0E2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DD8F4E-222E-FA5C-20A0-1AE7D133F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4E03A5A-49EF-69F1-2DFE-7ED9211ADB6D}"/>
              </a:ext>
            </a:extLst>
          </p:cNvPr>
          <p:cNvSpPr/>
          <p:nvPr/>
        </p:nvSpPr>
        <p:spPr>
          <a:xfrm>
            <a:off x="6583680" y="164592"/>
            <a:ext cx="2286000" cy="0"/>
          </a:xfrm>
          <a:prstGeom prst="line">
            <a:avLst/>
          </a:prstGeom>
          <a:noFill/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9B850B6-9A4E-F028-8A45-F1466B4F7FB2}"/>
              </a:ext>
            </a:extLst>
          </p:cNvPr>
          <p:cNvSpPr/>
          <p:nvPr/>
        </p:nvSpPr>
        <p:spPr>
          <a:xfrm>
            <a:off x="7498080" y="347472"/>
            <a:ext cx="1371600" cy="0"/>
          </a:xfrm>
          <a:prstGeom prst="line">
            <a:avLst/>
          </a:prstGeom>
          <a:noFill/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85167AC-9D38-4379-59A7-99A74B3B4029}"/>
              </a:ext>
            </a:extLst>
          </p:cNvPr>
          <p:cNvSpPr/>
          <p:nvPr/>
        </p:nvSpPr>
        <p:spPr>
          <a:xfrm>
            <a:off x="6217920" y="502920"/>
            <a:ext cx="182880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385B399-C477-C075-8C59-29EB8DCBA492}"/>
              </a:ext>
            </a:extLst>
          </p:cNvPr>
          <p:cNvSpPr/>
          <p:nvPr/>
        </p:nvSpPr>
        <p:spPr>
          <a:xfrm>
            <a:off x="8732520" y="137160"/>
            <a:ext cx="0" cy="2011680"/>
          </a:xfrm>
          <a:prstGeom prst="line">
            <a:avLst/>
          </a:prstGeom>
          <a:noFill/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AD39DC1E-A74B-5B29-3FCD-13FCA925BF4A}"/>
              </a:ext>
            </a:extLst>
          </p:cNvPr>
          <p:cNvSpPr/>
          <p:nvPr/>
        </p:nvSpPr>
        <p:spPr>
          <a:xfrm>
            <a:off x="8503920" y="320040"/>
            <a:ext cx="0" cy="164592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2490D89D-5630-885F-E55C-D436F66FAB67}"/>
              </a:ext>
            </a:extLst>
          </p:cNvPr>
          <p:cNvSpPr/>
          <p:nvPr/>
        </p:nvSpPr>
        <p:spPr>
          <a:xfrm>
            <a:off x="137160" y="4663440"/>
            <a:ext cx="2011680" cy="0"/>
          </a:xfrm>
          <a:prstGeom prst="line">
            <a:avLst/>
          </a:prstGeom>
          <a:noFill/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084F3FB6-1668-866A-8D74-61EC99716EC5}"/>
              </a:ext>
            </a:extLst>
          </p:cNvPr>
          <p:cNvSpPr/>
          <p:nvPr/>
        </p:nvSpPr>
        <p:spPr>
          <a:xfrm>
            <a:off x="137160" y="4480560"/>
            <a:ext cx="137160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64D60B25-5ADC-46BE-0D67-48725C5FE219}"/>
              </a:ext>
            </a:extLst>
          </p:cNvPr>
          <p:cNvSpPr/>
          <p:nvPr/>
        </p:nvSpPr>
        <p:spPr>
          <a:xfrm>
            <a:off x="201168" y="3200400"/>
            <a:ext cx="0" cy="1645920"/>
          </a:xfrm>
          <a:prstGeom prst="line">
            <a:avLst/>
          </a:prstGeom>
          <a:noFill/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39C7A463-4BAD-B74C-ED0B-637A1C6A78BE}"/>
              </a:ext>
            </a:extLst>
          </p:cNvPr>
          <p:cNvSpPr/>
          <p:nvPr/>
        </p:nvSpPr>
        <p:spPr>
          <a:xfrm>
            <a:off x="384048" y="3474720"/>
            <a:ext cx="0" cy="1371600"/>
          </a:xfrm>
          <a:prstGeom prst="line">
            <a:avLst/>
          </a:prstGeom>
          <a:noFill/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129692B4-A038-802C-29FF-79E6C7D255D0}"/>
              </a:ext>
            </a:extLst>
          </p:cNvPr>
          <p:cNvSpPr/>
          <p:nvPr/>
        </p:nvSpPr>
        <p:spPr>
          <a:xfrm>
            <a:off x="0" y="4983480"/>
            <a:ext cx="3657600" cy="0"/>
          </a:xfrm>
          <a:prstGeom prst="line">
            <a:avLst/>
          </a:prstGeom>
          <a:noFill/>
          <a:ln w="1524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38D2E662-6EC9-06BA-9352-9A51C96A3F81}"/>
              </a:ext>
            </a:extLst>
          </p:cNvPr>
          <p:cNvSpPr/>
          <p:nvPr/>
        </p:nvSpPr>
        <p:spPr>
          <a:xfrm>
            <a:off x="5486400" y="4983480"/>
            <a:ext cx="3657600" cy="0"/>
          </a:xfrm>
          <a:prstGeom prst="line">
            <a:avLst/>
          </a:prstGeom>
          <a:noFill/>
          <a:ln w="1524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88EF88DE-8ABA-6898-4713-9010BCAC59A9}"/>
              </a:ext>
            </a:extLst>
          </p:cNvPr>
          <p:cNvSpPr/>
          <p:nvPr/>
        </p:nvSpPr>
        <p:spPr>
          <a:xfrm>
            <a:off x="73152" y="320040"/>
            <a:ext cx="54864" cy="54864"/>
          </a:xfrm>
          <a:prstGeom prst="ellipse">
            <a:avLst/>
          </a:prstGeom>
          <a:solidFill>
            <a:srgbClr val="00CADA">
              <a:alpha val="60000"/>
            </a:srgbClr>
          </a:solidFill>
          <a:ln w="1270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6ABB748A-8E9E-4C93-8423-5577D1E37957}"/>
              </a:ext>
            </a:extLst>
          </p:cNvPr>
          <p:cNvSpPr/>
          <p:nvPr/>
        </p:nvSpPr>
        <p:spPr>
          <a:xfrm>
            <a:off x="228600" y="228600"/>
            <a:ext cx="54864" cy="54864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A68AB2D8-CF73-429E-9695-9C6CF055DF9D}"/>
              </a:ext>
            </a:extLst>
          </p:cNvPr>
          <p:cNvSpPr/>
          <p:nvPr/>
        </p:nvSpPr>
        <p:spPr>
          <a:xfrm>
            <a:off x="8686800" y="4480560"/>
            <a:ext cx="54864" cy="54864"/>
          </a:xfrm>
          <a:prstGeom prst="ellipse">
            <a:avLst/>
          </a:prstGeom>
          <a:solidFill>
            <a:srgbClr val="00CADA">
              <a:alpha val="60000"/>
            </a:srgbClr>
          </a:solidFill>
          <a:ln w="1270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1C0123C6-52AC-FCE4-0A46-BB0D0AE066E1}"/>
              </a:ext>
            </a:extLst>
          </p:cNvPr>
          <p:cNvSpPr/>
          <p:nvPr/>
        </p:nvSpPr>
        <p:spPr>
          <a:xfrm>
            <a:off x="8823960" y="4617720"/>
            <a:ext cx="54864" cy="54864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01FB081B-B322-99F8-FA0C-6CDEA21AA516}"/>
              </a:ext>
            </a:extLst>
          </p:cNvPr>
          <p:cNvSpPr/>
          <p:nvPr/>
        </p:nvSpPr>
        <p:spPr>
          <a:xfrm>
            <a:off x="6537960" y="128016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1A852A37-0874-93BD-B9D3-CB05B9570642}"/>
              </a:ext>
            </a:extLst>
          </p:cNvPr>
          <p:cNvSpPr/>
          <p:nvPr/>
        </p:nvSpPr>
        <p:spPr>
          <a:xfrm>
            <a:off x="8851392" y="128016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7EC976E0-F4FC-B626-5312-5637BF86269F}"/>
              </a:ext>
            </a:extLst>
          </p:cNvPr>
          <p:cNvSpPr/>
          <p:nvPr/>
        </p:nvSpPr>
        <p:spPr>
          <a:xfrm>
            <a:off x="8851392" y="214884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B857F71A-A83B-7544-9D75-A6251CDFA952}"/>
              </a:ext>
            </a:extLst>
          </p:cNvPr>
          <p:cNvSpPr/>
          <p:nvPr/>
        </p:nvSpPr>
        <p:spPr>
          <a:xfrm>
            <a:off x="118872" y="443484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7CC4B7AB-C155-7565-C004-A4A198FAAAC4}"/>
              </a:ext>
            </a:extLst>
          </p:cNvPr>
          <p:cNvSpPr/>
          <p:nvPr/>
        </p:nvSpPr>
        <p:spPr>
          <a:xfrm>
            <a:off x="118872" y="470916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C4EAAB5F-1EF7-6A88-8425-1495DBF54A6C}"/>
              </a:ext>
            </a:extLst>
          </p:cNvPr>
          <p:cNvSpPr/>
          <p:nvPr/>
        </p:nvSpPr>
        <p:spPr>
          <a:xfrm>
            <a:off x="2121408" y="4681728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0BA3E7E5-C243-F503-6081-DF5C7A2EC19F}"/>
              </a:ext>
            </a:extLst>
          </p:cNvPr>
          <p:cNvSpPr/>
          <p:nvPr/>
        </p:nvSpPr>
        <p:spPr>
          <a:xfrm>
            <a:off x="502919" y="298512"/>
            <a:ext cx="8138160" cy="457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PT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Classes e Herança </a:t>
            </a:r>
          </a:p>
          <a:p>
            <a:r>
              <a:rPr lang="pt-BR" dirty="0">
                <a:solidFill>
                  <a:schemeClr val="bg1"/>
                </a:solidFill>
              </a:rPr>
              <a:t> </a:t>
            </a:r>
            <a:endParaRPr lang="pt-PT" sz="1300" noProof="0" dirty="0">
              <a:solidFill>
                <a:schemeClr val="bg1"/>
              </a:solidFill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5ECCAA44-622A-1595-A476-8E9C2810E3B3}"/>
              </a:ext>
            </a:extLst>
          </p:cNvPr>
          <p:cNvSpPr/>
          <p:nvPr/>
        </p:nvSpPr>
        <p:spPr>
          <a:xfrm>
            <a:off x="512065" y="504576"/>
            <a:ext cx="81381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pt-PT" sz="13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pt-PT" sz="1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classe Animal { </a:t>
            </a:r>
          </a:p>
          <a:p>
            <a:pPr lvl="1"/>
            <a:r>
              <a:rPr lang="pt-PT" sz="1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texto nome </a:t>
            </a:r>
          </a:p>
          <a:p>
            <a:pPr lvl="1"/>
            <a:r>
              <a:rPr lang="pt-PT" sz="1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pt-PT" sz="13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funcao</a:t>
            </a:r>
            <a:r>
              <a:rPr lang="pt-PT" sz="1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falar() { </a:t>
            </a:r>
          </a:p>
          <a:p>
            <a:pPr lvl="1"/>
            <a:r>
              <a:rPr lang="pt-PT" sz="1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mostrar("...") </a:t>
            </a:r>
          </a:p>
          <a:p>
            <a:pPr lvl="1"/>
            <a:r>
              <a:rPr lang="pt-PT" sz="1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} </a:t>
            </a:r>
          </a:p>
          <a:p>
            <a:pPr lvl="1"/>
            <a:endParaRPr lang="pt-PT" sz="13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r>
              <a:rPr lang="pt-PT" sz="1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classe Cão herda Animal { </a:t>
            </a:r>
          </a:p>
          <a:p>
            <a:pPr lvl="2"/>
            <a:r>
              <a:rPr lang="pt-PT" sz="1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pt-PT" sz="13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funcao</a:t>
            </a:r>
            <a:r>
              <a:rPr lang="pt-PT" sz="1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falar() { </a:t>
            </a:r>
          </a:p>
          <a:p>
            <a:pPr lvl="2"/>
            <a:r>
              <a:rPr lang="pt-PT" sz="1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mostrar("Au </a:t>
            </a:r>
            <a:r>
              <a:rPr lang="pt-PT" sz="13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</a:t>
            </a:r>
            <a:r>
              <a:rPr lang="pt-PT" sz="1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!") </a:t>
            </a:r>
          </a:p>
          <a:p>
            <a:pPr lvl="2"/>
            <a:r>
              <a:rPr lang="pt-PT" sz="1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	} </a:t>
            </a:r>
          </a:p>
          <a:p>
            <a:pPr lvl="2"/>
            <a:r>
              <a:rPr lang="pt-PT" sz="1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 </a:t>
            </a:r>
          </a:p>
          <a:p>
            <a:pPr lvl="1"/>
            <a:r>
              <a:rPr lang="pt-PT" sz="13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 </a:t>
            </a:r>
            <a:endParaRPr lang="pt-BR" sz="13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BBC67801-113A-8A19-D713-9EDE97887D2C}"/>
              </a:ext>
            </a:extLst>
          </p:cNvPr>
          <p:cNvSpPr/>
          <p:nvPr/>
        </p:nvSpPr>
        <p:spPr>
          <a:xfrm>
            <a:off x="4663440" y="2514600"/>
            <a:ext cx="4023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pt-PT" sz="1200" noProof="0" dirty="0"/>
          </a:p>
        </p:txBody>
      </p:sp>
    </p:spTree>
    <p:extLst>
      <p:ext uri="{BB962C8B-B14F-4D97-AF65-F5344CB8AC3E}">
        <p14:creationId xmlns:p14="http://schemas.microsoft.com/office/powerpoint/2010/main" val="39872109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0E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164592"/>
            <a:ext cx="2286000" cy="0"/>
          </a:xfrm>
          <a:prstGeom prst="line">
            <a:avLst/>
          </a:prstGeom>
          <a:noFill/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3" name="Shape 1"/>
          <p:cNvSpPr/>
          <p:nvPr/>
        </p:nvSpPr>
        <p:spPr>
          <a:xfrm>
            <a:off x="7498080" y="347472"/>
            <a:ext cx="1371600" cy="0"/>
          </a:xfrm>
          <a:prstGeom prst="line">
            <a:avLst/>
          </a:prstGeom>
          <a:noFill/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4" name="Shape 2"/>
          <p:cNvSpPr/>
          <p:nvPr/>
        </p:nvSpPr>
        <p:spPr>
          <a:xfrm>
            <a:off x="6217920" y="502920"/>
            <a:ext cx="182880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5" name="Shape 3"/>
          <p:cNvSpPr/>
          <p:nvPr/>
        </p:nvSpPr>
        <p:spPr>
          <a:xfrm>
            <a:off x="8732520" y="137160"/>
            <a:ext cx="0" cy="2011680"/>
          </a:xfrm>
          <a:prstGeom prst="line">
            <a:avLst/>
          </a:prstGeom>
          <a:noFill/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6" name="Shape 4"/>
          <p:cNvSpPr/>
          <p:nvPr/>
        </p:nvSpPr>
        <p:spPr>
          <a:xfrm>
            <a:off x="8503920" y="320040"/>
            <a:ext cx="0" cy="164592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7" name="Shape 5"/>
          <p:cNvSpPr/>
          <p:nvPr/>
        </p:nvSpPr>
        <p:spPr>
          <a:xfrm>
            <a:off x="137160" y="4663440"/>
            <a:ext cx="2011680" cy="0"/>
          </a:xfrm>
          <a:prstGeom prst="line">
            <a:avLst/>
          </a:prstGeom>
          <a:noFill/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8" name="Shape 6"/>
          <p:cNvSpPr/>
          <p:nvPr/>
        </p:nvSpPr>
        <p:spPr>
          <a:xfrm>
            <a:off x="137160" y="4480560"/>
            <a:ext cx="137160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9" name="Shape 7"/>
          <p:cNvSpPr/>
          <p:nvPr/>
        </p:nvSpPr>
        <p:spPr>
          <a:xfrm>
            <a:off x="201168" y="3200400"/>
            <a:ext cx="0" cy="1645920"/>
          </a:xfrm>
          <a:prstGeom prst="line">
            <a:avLst/>
          </a:prstGeom>
          <a:noFill/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0" name="Shape 8"/>
          <p:cNvSpPr/>
          <p:nvPr/>
        </p:nvSpPr>
        <p:spPr>
          <a:xfrm>
            <a:off x="384048" y="3474720"/>
            <a:ext cx="0" cy="1371600"/>
          </a:xfrm>
          <a:prstGeom prst="line">
            <a:avLst/>
          </a:prstGeom>
          <a:noFill/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1" name="Shape 9"/>
          <p:cNvSpPr/>
          <p:nvPr/>
        </p:nvSpPr>
        <p:spPr>
          <a:xfrm>
            <a:off x="0" y="4983480"/>
            <a:ext cx="3657600" cy="0"/>
          </a:xfrm>
          <a:prstGeom prst="line">
            <a:avLst/>
          </a:prstGeom>
          <a:noFill/>
          <a:ln w="1524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0" y="4983480"/>
            <a:ext cx="3657600" cy="0"/>
          </a:xfrm>
          <a:prstGeom prst="line">
            <a:avLst/>
          </a:prstGeom>
          <a:noFill/>
          <a:ln w="1524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3" name="Shape 11"/>
          <p:cNvSpPr/>
          <p:nvPr/>
        </p:nvSpPr>
        <p:spPr>
          <a:xfrm>
            <a:off x="73152" y="320040"/>
            <a:ext cx="54864" cy="54864"/>
          </a:xfrm>
          <a:prstGeom prst="ellipse">
            <a:avLst/>
          </a:prstGeom>
          <a:solidFill>
            <a:srgbClr val="00CADA">
              <a:alpha val="60000"/>
            </a:srgbClr>
          </a:solidFill>
          <a:ln w="1270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4" name="Shape 12"/>
          <p:cNvSpPr/>
          <p:nvPr/>
        </p:nvSpPr>
        <p:spPr>
          <a:xfrm>
            <a:off x="228600" y="228600"/>
            <a:ext cx="54864" cy="54864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5" name="Shape 13"/>
          <p:cNvSpPr/>
          <p:nvPr/>
        </p:nvSpPr>
        <p:spPr>
          <a:xfrm>
            <a:off x="8686800" y="4480560"/>
            <a:ext cx="54864" cy="54864"/>
          </a:xfrm>
          <a:prstGeom prst="ellipse">
            <a:avLst/>
          </a:prstGeom>
          <a:solidFill>
            <a:srgbClr val="00CADA">
              <a:alpha val="60000"/>
            </a:srgbClr>
          </a:solidFill>
          <a:ln w="1270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6" name="Shape 14"/>
          <p:cNvSpPr/>
          <p:nvPr/>
        </p:nvSpPr>
        <p:spPr>
          <a:xfrm>
            <a:off x="8823960" y="4617720"/>
            <a:ext cx="54864" cy="54864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7" name="Shape 15"/>
          <p:cNvSpPr/>
          <p:nvPr/>
        </p:nvSpPr>
        <p:spPr>
          <a:xfrm>
            <a:off x="6537960" y="128016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8" name="Shape 16"/>
          <p:cNvSpPr/>
          <p:nvPr/>
        </p:nvSpPr>
        <p:spPr>
          <a:xfrm>
            <a:off x="8851392" y="128016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9" name="Shape 17"/>
          <p:cNvSpPr/>
          <p:nvPr/>
        </p:nvSpPr>
        <p:spPr>
          <a:xfrm>
            <a:off x="8851392" y="214884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0" name="Shape 18"/>
          <p:cNvSpPr/>
          <p:nvPr/>
        </p:nvSpPr>
        <p:spPr>
          <a:xfrm>
            <a:off x="118872" y="443484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1" name="Shape 19"/>
          <p:cNvSpPr/>
          <p:nvPr/>
        </p:nvSpPr>
        <p:spPr>
          <a:xfrm>
            <a:off x="118872" y="470916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2" name="Shape 20"/>
          <p:cNvSpPr/>
          <p:nvPr/>
        </p:nvSpPr>
        <p:spPr>
          <a:xfrm>
            <a:off x="2121408" y="4681728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3" name="Shape 21"/>
          <p:cNvSpPr/>
          <p:nvPr/>
        </p:nvSpPr>
        <p:spPr>
          <a:xfrm rot="5400000">
            <a:off x="2011680" y="1920240"/>
            <a:ext cx="268834" cy="384048"/>
          </a:xfrm>
          <a:prstGeom prst="rtTriangle">
            <a:avLst/>
          </a:prstGeom>
          <a:solidFill>
            <a:srgbClr val="00CADA"/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4" name="Text 22"/>
          <p:cNvSpPr/>
          <p:nvPr/>
        </p:nvSpPr>
        <p:spPr>
          <a:xfrm>
            <a:off x="2542032" y="1828800"/>
            <a:ext cx="6217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3400" b="1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DUAS</a:t>
            </a:r>
            <a:endParaRPr lang="pt-PT" sz="3400" noProof="0" dirty="0"/>
          </a:p>
        </p:txBody>
      </p:sp>
      <p:sp>
        <p:nvSpPr>
          <p:cNvPr id="25" name="Text 23"/>
          <p:cNvSpPr/>
          <p:nvPr/>
        </p:nvSpPr>
        <p:spPr>
          <a:xfrm>
            <a:off x="2542032" y="2286000"/>
            <a:ext cx="6217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3400" b="1" noProof="0" dirty="0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TABELAS HASH</a:t>
            </a:r>
            <a:endParaRPr lang="pt-PT" sz="3400" noProof="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0E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164592"/>
            <a:ext cx="2286000" cy="0"/>
          </a:xfrm>
          <a:prstGeom prst="line">
            <a:avLst/>
          </a:prstGeom>
          <a:noFill/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3" name="Shape 1"/>
          <p:cNvSpPr/>
          <p:nvPr/>
        </p:nvSpPr>
        <p:spPr>
          <a:xfrm>
            <a:off x="7498080" y="347472"/>
            <a:ext cx="1371600" cy="0"/>
          </a:xfrm>
          <a:prstGeom prst="line">
            <a:avLst/>
          </a:prstGeom>
          <a:noFill/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4" name="Shape 2"/>
          <p:cNvSpPr/>
          <p:nvPr/>
        </p:nvSpPr>
        <p:spPr>
          <a:xfrm>
            <a:off x="6217920" y="502920"/>
            <a:ext cx="182880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5" name="Shape 3"/>
          <p:cNvSpPr/>
          <p:nvPr/>
        </p:nvSpPr>
        <p:spPr>
          <a:xfrm>
            <a:off x="8732520" y="137160"/>
            <a:ext cx="0" cy="2011680"/>
          </a:xfrm>
          <a:prstGeom prst="line">
            <a:avLst/>
          </a:prstGeom>
          <a:noFill/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6" name="Shape 4"/>
          <p:cNvSpPr/>
          <p:nvPr/>
        </p:nvSpPr>
        <p:spPr>
          <a:xfrm>
            <a:off x="8503920" y="320040"/>
            <a:ext cx="0" cy="164592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7" name="Shape 5"/>
          <p:cNvSpPr/>
          <p:nvPr/>
        </p:nvSpPr>
        <p:spPr>
          <a:xfrm>
            <a:off x="137160" y="4663440"/>
            <a:ext cx="2011680" cy="0"/>
          </a:xfrm>
          <a:prstGeom prst="line">
            <a:avLst/>
          </a:prstGeom>
          <a:noFill/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8" name="Shape 6"/>
          <p:cNvSpPr/>
          <p:nvPr/>
        </p:nvSpPr>
        <p:spPr>
          <a:xfrm>
            <a:off x="137160" y="4480560"/>
            <a:ext cx="137160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9" name="Shape 7"/>
          <p:cNvSpPr/>
          <p:nvPr/>
        </p:nvSpPr>
        <p:spPr>
          <a:xfrm>
            <a:off x="201168" y="3200400"/>
            <a:ext cx="0" cy="1645920"/>
          </a:xfrm>
          <a:prstGeom prst="line">
            <a:avLst/>
          </a:prstGeom>
          <a:noFill/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0" name="Shape 8"/>
          <p:cNvSpPr/>
          <p:nvPr/>
        </p:nvSpPr>
        <p:spPr>
          <a:xfrm>
            <a:off x="384048" y="3474720"/>
            <a:ext cx="0" cy="1371600"/>
          </a:xfrm>
          <a:prstGeom prst="line">
            <a:avLst/>
          </a:prstGeom>
          <a:noFill/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1" name="Shape 9"/>
          <p:cNvSpPr/>
          <p:nvPr/>
        </p:nvSpPr>
        <p:spPr>
          <a:xfrm>
            <a:off x="0" y="4983480"/>
            <a:ext cx="3657600" cy="0"/>
          </a:xfrm>
          <a:prstGeom prst="line">
            <a:avLst/>
          </a:prstGeom>
          <a:noFill/>
          <a:ln w="1524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0" y="4983480"/>
            <a:ext cx="3657600" cy="0"/>
          </a:xfrm>
          <a:prstGeom prst="line">
            <a:avLst/>
          </a:prstGeom>
          <a:noFill/>
          <a:ln w="1524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3" name="Shape 11"/>
          <p:cNvSpPr/>
          <p:nvPr/>
        </p:nvSpPr>
        <p:spPr>
          <a:xfrm>
            <a:off x="73152" y="320040"/>
            <a:ext cx="54864" cy="54864"/>
          </a:xfrm>
          <a:prstGeom prst="ellipse">
            <a:avLst/>
          </a:prstGeom>
          <a:solidFill>
            <a:srgbClr val="00CADA">
              <a:alpha val="60000"/>
            </a:srgbClr>
          </a:solidFill>
          <a:ln w="1270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4" name="Shape 12"/>
          <p:cNvSpPr/>
          <p:nvPr/>
        </p:nvSpPr>
        <p:spPr>
          <a:xfrm>
            <a:off x="228600" y="228600"/>
            <a:ext cx="54864" cy="54864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5" name="Shape 13"/>
          <p:cNvSpPr/>
          <p:nvPr/>
        </p:nvSpPr>
        <p:spPr>
          <a:xfrm>
            <a:off x="8686800" y="4480560"/>
            <a:ext cx="54864" cy="54864"/>
          </a:xfrm>
          <a:prstGeom prst="ellipse">
            <a:avLst/>
          </a:prstGeom>
          <a:solidFill>
            <a:srgbClr val="00CADA">
              <a:alpha val="60000"/>
            </a:srgbClr>
          </a:solidFill>
          <a:ln w="1270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6" name="Shape 14"/>
          <p:cNvSpPr/>
          <p:nvPr/>
        </p:nvSpPr>
        <p:spPr>
          <a:xfrm>
            <a:off x="8823960" y="4617720"/>
            <a:ext cx="54864" cy="54864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7" name="Shape 15"/>
          <p:cNvSpPr/>
          <p:nvPr/>
        </p:nvSpPr>
        <p:spPr>
          <a:xfrm>
            <a:off x="6537960" y="128016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8" name="Shape 16"/>
          <p:cNvSpPr/>
          <p:nvPr/>
        </p:nvSpPr>
        <p:spPr>
          <a:xfrm>
            <a:off x="8851392" y="128016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9" name="Shape 17"/>
          <p:cNvSpPr/>
          <p:nvPr/>
        </p:nvSpPr>
        <p:spPr>
          <a:xfrm>
            <a:off x="8851392" y="214884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0" name="Shape 18"/>
          <p:cNvSpPr/>
          <p:nvPr/>
        </p:nvSpPr>
        <p:spPr>
          <a:xfrm>
            <a:off x="118872" y="443484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1" name="Shape 19"/>
          <p:cNvSpPr/>
          <p:nvPr/>
        </p:nvSpPr>
        <p:spPr>
          <a:xfrm>
            <a:off x="118872" y="470916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2" name="Shape 20"/>
          <p:cNvSpPr/>
          <p:nvPr/>
        </p:nvSpPr>
        <p:spPr>
          <a:xfrm>
            <a:off x="2121408" y="4681728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3" name="Text 21"/>
          <p:cNvSpPr/>
          <p:nvPr/>
        </p:nvSpPr>
        <p:spPr>
          <a:xfrm>
            <a:off x="502920" y="2011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300" b="1" noProof="0" dirty="0" err="1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TabelaPalavrasReservadas</a:t>
            </a:r>
            <a:r>
              <a:rPr lang="pt-PT" sz="1300" b="1" noProof="0" dirty="0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</a:t>
            </a:r>
            <a:r>
              <a:rPr lang="pt-PT" sz="1300" b="1" noProof="0" dirty="0" err="1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HashMap</a:t>
            </a:r>
            <a:r>
              <a:rPr lang="pt-PT" sz="1300" b="1" noProof="0" dirty="0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pt-PT" sz="1300" noProof="0" dirty="0"/>
          </a:p>
        </p:txBody>
      </p:sp>
      <p:sp>
        <p:nvSpPr>
          <p:cNvPr id="24" name="Shape 22"/>
          <p:cNvSpPr/>
          <p:nvPr/>
        </p:nvSpPr>
        <p:spPr>
          <a:xfrm>
            <a:off x="502920" y="502920"/>
            <a:ext cx="8138160" cy="0"/>
          </a:xfrm>
          <a:prstGeom prst="line">
            <a:avLst/>
          </a:prstGeom>
          <a:noFill/>
          <a:ln w="12700">
            <a:solidFill>
              <a:srgbClr val="00CADA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5" name="Text 23"/>
          <p:cNvSpPr/>
          <p:nvPr/>
        </p:nvSpPr>
        <p:spPr>
          <a:xfrm>
            <a:off x="502920" y="56692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1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Implementada como </a:t>
            </a:r>
            <a:r>
              <a:rPr lang="pt-PT" sz="1150" noProof="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HashMap</a:t>
            </a:r>
            <a:r>
              <a:rPr lang="pt-PT" sz="11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estrutura de dispersão. Carregada no início da análise e consultada a cada identificador encontrado.</a:t>
            </a:r>
            <a:endParaRPr lang="pt-PT" sz="1150" noProof="0" dirty="0"/>
          </a:p>
        </p:txBody>
      </p:sp>
      <p:sp>
        <p:nvSpPr>
          <p:cNvPr id="26" name="Text 24"/>
          <p:cNvSpPr/>
          <p:nvPr/>
        </p:nvSpPr>
        <p:spPr>
          <a:xfrm>
            <a:off x="502920" y="12344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100" b="1" noProof="0" dirty="0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Algoritmo de consulta:</a:t>
            </a:r>
            <a:endParaRPr lang="pt-PT" sz="1100" noProof="0" dirty="0"/>
          </a:p>
        </p:txBody>
      </p:sp>
      <p:sp>
        <p:nvSpPr>
          <p:cNvPr id="27" name="Text 25"/>
          <p:cNvSpPr/>
          <p:nvPr/>
        </p:nvSpPr>
        <p:spPr>
          <a:xfrm>
            <a:off x="502920" y="157276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10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Converte o lexema para minúsculas.</a:t>
            </a:r>
            <a:endParaRPr lang="pt-PT" sz="1100" noProof="0" dirty="0"/>
          </a:p>
        </p:txBody>
      </p:sp>
      <p:sp>
        <p:nvSpPr>
          <p:cNvPr id="28" name="Text 26"/>
          <p:cNvSpPr/>
          <p:nvPr/>
        </p:nvSpPr>
        <p:spPr>
          <a:xfrm>
            <a:off x="502920" y="19202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10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Pesquisa no </a:t>
            </a:r>
            <a:r>
              <a:rPr lang="pt-PT" sz="1100" noProof="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HashMap</a:t>
            </a:r>
            <a:r>
              <a:rPr lang="pt-PT" sz="110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pt-PT" sz="1100" noProof="0" dirty="0"/>
          </a:p>
        </p:txBody>
      </p:sp>
      <p:sp>
        <p:nvSpPr>
          <p:cNvPr id="29" name="Text 27"/>
          <p:cNvSpPr/>
          <p:nvPr/>
        </p:nvSpPr>
        <p:spPr>
          <a:xfrm>
            <a:off x="502920" y="226771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10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Encontrou → É reservada! Devolve o </a:t>
            </a:r>
            <a:r>
              <a:rPr lang="pt-PT" sz="1100" noProof="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</a:t>
            </a:r>
            <a:r>
              <a:rPr lang="pt-PT" sz="110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pt-PT" sz="1100" noProof="0" dirty="0"/>
          </a:p>
        </p:txBody>
      </p:sp>
      <p:sp>
        <p:nvSpPr>
          <p:cNvPr id="30" name="Text 28"/>
          <p:cNvSpPr/>
          <p:nvPr/>
        </p:nvSpPr>
        <p:spPr>
          <a:xfrm>
            <a:off x="502920" y="261518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10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Não encontrou → É um identificador do programador.</a:t>
            </a:r>
            <a:endParaRPr lang="pt-PT" sz="1100" noProof="0" dirty="0"/>
          </a:p>
        </p:txBody>
      </p:sp>
      <p:sp>
        <p:nvSpPr>
          <p:cNvPr id="31" name="Text 29"/>
          <p:cNvSpPr/>
          <p:nvPr/>
        </p:nvSpPr>
        <p:spPr>
          <a:xfrm>
            <a:off x="4800600" y="12344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100" b="1" noProof="0" dirty="0" err="1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Extracto</a:t>
            </a:r>
            <a:r>
              <a:rPr lang="pt-PT" sz="1100" b="1" noProof="0" dirty="0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 </a:t>
            </a:r>
            <a:r>
              <a:rPr lang="pt-PT" sz="1100" b="1" noProof="0" dirty="0" err="1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HashMap</a:t>
            </a:r>
            <a:r>
              <a:rPr lang="pt-PT" sz="1100" b="1" noProof="0" dirty="0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pt-PT" sz="1100" noProof="0" dirty="0"/>
          </a:p>
        </p:txBody>
      </p:sp>
      <p:sp>
        <p:nvSpPr>
          <p:cNvPr id="32" name="Shape 30"/>
          <p:cNvSpPr/>
          <p:nvPr/>
        </p:nvSpPr>
        <p:spPr>
          <a:xfrm>
            <a:off x="4800600" y="1572768"/>
            <a:ext cx="3977640" cy="2651760"/>
          </a:xfrm>
          <a:prstGeom prst="roundRect">
            <a:avLst>
              <a:gd name="adj" fmla="val 2759"/>
            </a:avLst>
          </a:prstGeom>
          <a:solidFill>
            <a:srgbClr val="08061A"/>
          </a:solidFill>
          <a:ln w="12700">
            <a:solidFill>
              <a:srgbClr val="46406B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33" name="Text 31"/>
          <p:cNvSpPr/>
          <p:nvPr/>
        </p:nvSpPr>
        <p:spPr>
          <a:xfrm>
            <a:off x="4919472" y="16642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00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"se"</a:t>
            </a:r>
            <a:endParaRPr lang="pt-PT" sz="1000" noProof="0" dirty="0"/>
          </a:p>
        </p:txBody>
      </p:sp>
      <p:sp>
        <p:nvSpPr>
          <p:cNvPr id="34" name="Text 32"/>
          <p:cNvSpPr/>
          <p:nvPr/>
        </p:nvSpPr>
        <p:spPr>
          <a:xfrm>
            <a:off x="6236208" y="1664208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0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pt-PT" sz="1000" noProof="0" dirty="0"/>
          </a:p>
        </p:txBody>
      </p:sp>
      <p:sp>
        <p:nvSpPr>
          <p:cNvPr id="35" name="Text 33"/>
          <p:cNvSpPr/>
          <p:nvPr/>
        </p:nvSpPr>
        <p:spPr>
          <a:xfrm>
            <a:off x="6473952" y="16642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00" noProof="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Token.SE</a:t>
            </a:r>
            <a:endParaRPr lang="pt-PT" sz="1000" noProof="0" dirty="0"/>
          </a:p>
        </p:txBody>
      </p:sp>
      <p:sp>
        <p:nvSpPr>
          <p:cNvPr id="36" name="Text 34"/>
          <p:cNvSpPr/>
          <p:nvPr/>
        </p:nvSpPr>
        <p:spPr>
          <a:xfrm>
            <a:off x="4919472" y="200253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00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"para"</a:t>
            </a:r>
            <a:endParaRPr lang="pt-PT" sz="1000" noProof="0" dirty="0"/>
          </a:p>
        </p:txBody>
      </p:sp>
      <p:sp>
        <p:nvSpPr>
          <p:cNvPr id="37" name="Text 35"/>
          <p:cNvSpPr/>
          <p:nvPr/>
        </p:nvSpPr>
        <p:spPr>
          <a:xfrm>
            <a:off x="6236208" y="2002536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0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pt-PT" sz="1000" noProof="0" dirty="0"/>
          </a:p>
        </p:txBody>
      </p:sp>
      <p:sp>
        <p:nvSpPr>
          <p:cNvPr id="38" name="Text 36"/>
          <p:cNvSpPr/>
          <p:nvPr/>
        </p:nvSpPr>
        <p:spPr>
          <a:xfrm>
            <a:off x="6473952" y="200253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00" noProof="0" dirty="0" err="1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Token.PARA</a:t>
            </a:r>
            <a:endParaRPr lang="pt-PT" sz="1000" noProof="0" dirty="0"/>
          </a:p>
        </p:txBody>
      </p:sp>
      <p:sp>
        <p:nvSpPr>
          <p:cNvPr id="39" name="Text 37"/>
          <p:cNvSpPr/>
          <p:nvPr/>
        </p:nvSpPr>
        <p:spPr>
          <a:xfrm>
            <a:off x="4919472" y="23408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00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"enquanto"</a:t>
            </a:r>
            <a:endParaRPr lang="pt-PT" sz="1000" noProof="0" dirty="0"/>
          </a:p>
        </p:txBody>
      </p:sp>
      <p:sp>
        <p:nvSpPr>
          <p:cNvPr id="40" name="Text 38"/>
          <p:cNvSpPr/>
          <p:nvPr/>
        </p:nvSpPr>
        <p:spPr>
          <a:xfrm>
            <a:off x="6236208" y="2340864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0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pt-PT" sz="1000" noProof="0" dirty="0"/>
          </a:p>
        </p:txBody>
      </p:sp>
      <p:sp>
        <p:nvSpPr>
          <p:cNvPr id="41" name="Text 39"/>
          <p:cNvSpPr/>
          <p:nvPr/>
        </p:nvSpPr>
        <p:spPr>
          <a:xfrm>
            <a:off x="6473952" y="23408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00" noProof="0" dirty="0" err="1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Token.ENQUANTO</a:t>
            </a:r>
            <a:endParaRPr lang="pt-PT" sz="1000" noProof="0" dirty="0"/>
          </a:p>
        </p:txBody>
      </p:sp>
      <p:sp>
        <p:nvSpPr>
          <p:cNvPr id="42" name="Text 40"/>
          <p:cNvSpPr/>
          <p:nvPr/>
        </p:nvSpPr>
        <p:spPr>
          <a:xfrm>
            <a:off x="4919472" y="26791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00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"inteiro"</a:t>
            </a:r>
            <a:endParaRPr lang="pt-PT" sz="1000" noProof="0" dirty="0"/>
          </a:p>
        </p:txBody>
      </p:sp>
      <p:sp>
        <p:nvSpPr>
          <p:cNvPr id="43" name="Text 41"/>
          <p:cNvSpPr/>
          <p:nvPr/>
        </p:nvSpPr>
        <p:spPr>
          <a:xfrm>
            <a:off x="6236208" y="2679192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0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pt-PT" sz="1000" noProof="0" dirty="0"/>
          </a:p>
        </p:txBody>
      </p:sp>
      <p:sp>
        <p:nvSpPr>
          <p:cNvPr id="44" name="Text 42"/>
          <p:cNvSpPr/>
          <p:nvPr/>
        </p:nvSpPr>
        <p:spPr>
          <a:xfrm>
            <a:off x="6473952" y="26791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00" noProof="0" dirty="0" err="1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Token.INTEIRO</a:t>
            </a:r>
            <a:endParaRPr lang="pt-PT" sz="1000" noProof="0" dirty="0"/>
          </a:p>
        </p:txBody>
      </p:sp>
      <p:sp>
        <p:nvSpPr>
          <p:cNvPr id="45" name="Text 43"/>
          <p:cNvSpPr/>
          <p:nvPr/>
        </p:nvSpPr>
        <p:spPr>
          <a:xfrm>
            <a:off x="4919472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00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"verdadeiro"</a:t>
            </a:r>
            <a:endParaRPr lang="pt-PT" sz="1000" noProof="0" dirty="0"/>
          </a:p>
        </p:txBody>
      </p:sp>
      <p:sp>
        <p:nvSpPr>
          <p:cNvPr id="46" name="Text 44"/>
          <p:cNvSpPr/>
          <p:nvPr/>
        </p:nvSpPr>
        <p:spPr>
          <a:xfrm>
            <a:off x="6236208" y="301752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0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pt-PT" sz="1000" noProof="0" dirty="0"/>
          </a:p>
        </p:txBody>
      </p:sp>
      <p:sp>
        <p:nvSpPr>
          <p:cNvPr id="47" name="Text 45"/>
          <p:cNvSpPr/>
          <p:nvPr/>
        </p:nvSpPr>
        <p:spPr>
          <a:xfrm>
            <a:off x="6473952" y="30175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00" noProof="0" dirty="0" err="1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Token.VERDADEIRO</a:t>
            </a:r>
            <a:endParaRPr lang="pt-PT" sz="1000" noProof="0" dirty="0"/>
          </a:p>
        </p:txBody>
      </p:sp>
      <p:sp>
        <p:nvSpPr>
          <p:cNvPr id="48" name="Text 46"/>
          <p:cNvSpPr/>
          <p:nvPr/>
        </p:nvSpPr>
        <p:spPr>
          <a:xfrm>
            <a:off x="4919472" y="33558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00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"mostrar"</a:t>
            </a:r>
            <a:endParaRPr lang="pt-PT" sz="1000" noProof="0" dirty="0"/>
          </a:p>
        </p:txBody>
      </p:sp>
      <p:sp>
        <p:nvSpPr>
          <p:cNvPr id="49" name="Text 47"/>
          <p:cNvSpPr/>
          <p:nvPr/>
        </p:nvSpPr>
        <p:spPr>
          <a:xfrm>
            <a:off x="6236208" y="3355848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0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pt-PT" sz="1000" noProof="0" dirty="0"/>
          </a:p>
        </p:txBody>
      </p:sp>
      <p:sp>
        <p:nvSpPr>
          <p:cNvPr id="50" name="Text 48"/>
          <p:cNvSpPr/>
          <p:nvPr/>
        </p:nvSpPr>
        <p:spPr>
          <a:xfrm>
            <a:off x="6473952" y="33558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00" noProof="0" dirty="0" err="1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Token.MOSTRAR</a:t>
            </a:r>
            <a:endParaRPr lang="pt-PT" sz="1000" noProof="0" dirty="0"/>
          </a:p>
        </p:txBody>
      </p:sp>
      <p:sp>
        <p:nvSpPr>
          <p:cNvPr id="51" name="Text 49"/>
          <p:cNvSpPr/>
          <p:nvPr/>
        </p:nvSpPr>
        <p:spPr>
          <a:xfrm>
            <a:off x="4919472" y="369417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00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"tente"</a:t>
            </a:r>
            <a:endParaRPr lang="pt-PT" sz="1000" noProof="0" dirty="0"/>
          </a:p>
        </p:txBody>
      </p:sp>
      <p:sp>
        <p:nvSpPr>
          <p:cNvPr id="52" name="Text 50"/>
          <p:cNvSpPr/>
          <p:nvPr/>
        </p:nvSpPr>
        <p:spPr>
          <a:xfrm>
            <a:off x="6236208" y="3694176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0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pt-PT" sz="1000" noProof="0" dirty="0"/>
          </a:p>
        </p:txBody>
      </p:sp>
      <p:sp>
        <p:nvSpPr>
          <p:cNvPr id="53" name="Text 51"/>
          <p:cNvSpPr/>
          <p:nvPr/>
        </p:nvSpPr>
        <p:spPr>
          <a:xfrm>
            <a:off x="6473952" y="36941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00" noProof="0" dirty="0" err="1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Token.TENTE</a:t>
            </a:r>
            <a:endParaRPr lang="pt-PT" sz="1000" noProof="0" dirty="0"/>
          </a:p>
        </p:txBody>
      </p:sp>
      <p:sp>
        <p:nvSpPr>
          <p:cNvPr id="54" name="Text 52"/>
          <p:cNvSpPr/>
          <p:nvPr/>
        </p:nvSpPr>
        <p:spPr>
          <a:xfrm>
            <a:off x="4800600" y="4279392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00" i="1" noProof="0" dirty="0">
                <a:solidFill>
                  <a:srgbClr val="AFAF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+ 17 mais  (24 palavras reservadas no total)</a:t>
            </a:r>
            <a:endParaRPr lang="pt-PT" sz="900" noProof="0" dirty="0"/>
          </a:p>
        </p:txBody>
      </p:sp>
      <p:sp>
        <p:nvSpPr>
          <p:cNvPr id="55" name="Shape 53"/>
          <p:cNvSpPr/>
          <p:nvPr/>
        </p:nvSpPr>
        <p:spPr>
          <a:xfrm>
            <a:off x="256032" y="4462272"/>
            <a:ext cx="4343400" cy="502920"/>
          </a:xfrm>
          <a:prstGeom prst="roundRect">
            <a:avLst>
              <a:gd name="adj" fmla="val 12727"/>
            </a:avLst>
          </a:prstGeom>
          <a:solidFill>
            <a:srgbClr val="46406B">
              <a:alpha val="3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56" name="Text 54"/>
          <p:cNvSpPr/>
          <p:nvPr/>
        </p:nvSpPr>
        <p:spPr>
          <a:xfrm>
            <a:off x="384048" y="4498848"/>
            <a:ext cx="40965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00" noProof="0" dirty="0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Hidra → Java: </a:t>
            </a:r>
            <a:r>
              <a:rPr lang="pt-PT" sz="900" noProof="0" dirty="0" err="1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se→if</a:t>
            </a:r>
            <a:r>
              <a:rPr lang="pt-PT" sz="900" noProof="0" dirty="0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pt-PT" sz="900" noProof="0" dirty="0" err="1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para→for</a:t>
            </a:r>
            <a:r>
              <a:rPr lang="pt-PT" sz="900" noProof="0" dirty="0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pt-PT" sz="900" noProof="0" dirty="0" err="1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enquanto→while</a:t>
            </a:r>
            <a:r>
              <a:rPr lang="pt-PT" sz="900" noProof="0" dirty="0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pt-PT" sz="900" noProof="0" dirty="0" err="1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inteiro→int</a:t>
            </a:r>
            <a:r>
              <a:rPr lang="pt-PT" sz="900" noProof="0" dirty="0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pt-PT" sz="900" noProof="0" dirty="0" err="1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real→double</a:t>
            </a:r>
            <a:r>
              <a:rPr lang="pt-PT" sz="900" noProof="0" dirty="0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pt-PT" sz="900" noProof="0" dirty="0" err="1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tente→try</a:t>
            </a:r>
            <a:r>
              <a:rPr lang="pt-PT" sz="900" noProof="0" dirty="0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pt-PT" sz="900" noProof="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0E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164592"/>
            <a:ext cx="2286000" cy="0"/>
          </a:xfrm>
          <a:prstGeom prst="line">
            <a:avLst/>
          </a:prstGeom>
          <a:noFill/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3" name="Shape 1"/>
          <p:cNvSpPr/>
          <p:nvPr/>
        </p:nvSpPr>
        <p:spPr>
          <a:xfrm>
            <a:off x="7498080" y="347472"/>
            <a:ext cx="1371600" cy="0"/>
          </a:xfrm>
          <a:prstGeom prst="line">
            <a:avLst/>
          </a:prstGeom>
          <a:noFill/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4" name="Shape 2"/>
          <p:cNvSpPr/>
          <p:nvPr/>
        </p:nvSpPr>
        <p:spPr>
          <a:xfrm>
            <a:off x="6217920" y="502920"/>
            <a:ext cx="182880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5" name="Shape 3"/>
          <p:cNvSpPr/>
          <p:nvPr/>
        </p:nvSpPr>
        <p:spPr>
          <a:xfrm>
            <a:off x="8732520" y="137160"/>
            <a:ext cx="0" cy="2011680"/>
          </a:xfrm>
          <a:prstGeom prst="line">
            <a:avLst/>
          </a:prstGeom>
          <a:noFill/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6" name="Shape 4"/>
          <p:cNvSpPr/>
          <p:nvPr/>
        </p:nvSpPr>
        <p:spPr>
          <a:xfrm>
            <a:off x="8503920" y="320040"/>
            <a:ext cx="0" cy="164592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7" name="Shape 5"/>
          <p:cNvSpPr/>
          <p:nvPr/>
        </p:nvSpPr>
        <p:spPr>
          <a:xfrm>
            <a:off x="137160" y="4663440"/>
            <a:ext cx="2011680" cy="0"/>
          </a:xfrm>
          <a:prstGeom prst="line">
            <a:avLst/>
          </a:prstGeom>
          <a:noFill/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8" name="Shape 6"/>
          <p:cNvSpPr/>
          <p:nvPr/>
        </p:nvSpPr>
        <p:spPr>
          <a:xfrm>
            <a:off x="137160" y="4480560"/>
            <a:ext cx="137160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9" name="Shape 7"/>
          <p:cNvSpPr/>
          <p:nvPr/>
        </p:nvSpPr>
        <p:spPr>
          <a:xfrm>
            <a:off x="201168" y="3200400"/>
            <a:ext cx="0" cy="1645920"/>
          </a:xfrm>
          <a:prstGeom prst="line">
            <a:avLst/>
          </a:prstGeom>
          <a:noFill/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0" name="Shape 8"/>
          <p:cNvSpPr/>
          <p:nvPr/>
        </p:nvSpPr>
        <p:spPr>
          <a:xfrm>
            <a:off x="384048" y="3474720"/>
            <a:ext cx="0" cy="1371600"/>
          </a:xfrm>
          <a:prstGeom prst="line">
            <a:avLst/>
          </a:prstGeom>
          <a:noFill/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1" name="Shape 9"/>
          <p:cNvSpPr/>
          <p:nvPr/>
        </p:nvSpPr>
        <p:spPr>
          <a:xfrm>
            <a:off x="0" y="4983480"/>
            <a:ext cx="3657600" cy="0"/>
          </a:xfrm>
          <a:prstGeom prst="line">
            <a:avLst/>
          </a:prstGeom>
          <a:noFill/>
          <a:ln w="1524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0" y="4983480"/>
            <a:ext cx="3657600" cy="0"/>
          </a:xfrm>
          <a:prstGeom prst="line">
            <a:avLst/>
          </a:prstGeom>
          <a:noFill/>
          <a:ln w="1524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3" name="Shape 11"/>
          <p:cNvSpPr/>
          <p:nvPr/>
        </p:nvSpPr>
        <p:spPr>
          <a:xfrm>
            <a:off x="73152" y="320040"/>
            <a:ext cx="54864" cy="54864"/>
          </a:xfrm>
          <a:prstGeom prst="ellipse">
            <a:avLst/>
          </a:prstGeom>
          <a:solidFill>
            <a:srgbClr val="00CADA">
              <a:alpha val="60000"/>
            </a:srgbClr>
          </a:solidFill>
          <a:ln w="1270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4" name="Shape 12"/>
          <p:cNvSpPr/>
          <p:nvPr/>
        </p:nvSpPr>
        <p:spPr>
          <a:xfrm>
            <a:off x="228600" y="228600"/>
            <a:ext cx="54864" cy="54864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5" name="Shape 13"/>
          <p:cNvSpPr/>
          <p:nvPr/>
        </p:nvSpPr>
        <p:spPr>
          <a:xfrm>
            <a:off x="8686800" y="4480560"/>
            <a:ext cx="54864" cy="54864"/>
          </a:xfrm>
          <a:prstGeom prst="ellipse">
            <a:avLst/>
          </a:prstGeom>
          <a:solidFill>
            <a:srgbClr val="00CADA">
              <a:alpha val="60000"/>
            </a:srgbClr>
          </a:solidFill>
          <a:ln w="1270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6" name="Shape 14"/>
          <p:cNvSpPr/>
          <p:nvPr/>
        </p:nvSpPr>
        <p:spPr>
          <a:xfrm>
            <a:off x="8823960" y="4617720"/>
            <a:ext cx="54864" cy="54864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7" name="Shape 15"/>
          <p:cNvSpPr/>
          <p:nvPr/>
        </p:nvSpPr>
        <p:spPr>
          <a:xfrm>
            <a:off x="6537960" y="128016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8" name="Shape 16"/>
          <p:cNvSpPr/>
          <p:nvPr/>
        </p:nvSpPr>
        <p:spPr>
          <a:xfrm>
            <a:off x="8851392" y="128016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9" name="Shape 17"/>
          <p:cNvSpPr/>
          <p:nvPr/>
        </p:nvSpPr>
        <p:spPr>
          <a:xfrm>
            <a:off x="8851392" y="214884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0" name="Shape 18"/>
          <p:cNvSpPr/>
          <p:nvPr/>
        </p:nvSpPr>
        <p:spPr>
          <a:xfrm>
            <a:off x="118872" y="443484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1" name="Shape 19"/>
          <p:cNvSpPr/>
          <p:nvPr/>
        </p:nvSpPr>
        <p:spPr>
          <a:xfrm>
            <a:off x="118872" y="470916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2" name="Shape 20"/>
          <p:cNvSpPr/>
          <p:nvPr/>
        </p:nvSpPr>
        <p:spPr>
          <a:xfrm>
            <a:off x="2121408" y="4681728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3" name="Text 21"/>
          <p:cNvSpPr/>
          <p:nvPr/>
        </p:nvSpPr>
        <p:spPr>
          <a:xfrm>
            <a:off x="502920" y="2011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300" b="1" noProof="0" dirty="0" err="1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TabelaSimbolos</a:t>
            </a:r>
            <a:r>
              <a:rPr lang="pt-PT" sz="1300" b="1" noProof="0" dirty="0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</a:t>
            </a:r>
            <a:r>
              <a:rPr lang="pt-PT" sz="1300" b="1" noProof="0" dirty="0" err="1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HashMap</a:t>
            </a:r>
            <a:r>
              <a:rPr lang="pt-PT" sz="1300" b="1" noProof="0" dirty="0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pt-PT" sz="1300" noProof="0" dirty="0"/>
          </a:p>
        </p:txBody>
      </p:sp>
      <p:sp>
        <p:nvSpPr>
          <p:cNvPr id="24" name="Shape 22"/>
          <p:cNvSpPr/>
          <p:nvPr/>
        </p:nvSpPr>
        <p:spPr>
          <a:xfrm>
            <a:off x="502920" y="502920"/>
            <a:ext cx="8138160" cy="0"/>
          </a:xfrm>
          <a:prstGeom prst="line">
            <a:avLst/>
          </a:prstGeom>
          <a:noFill/>
          <a:ln w="12700">
            <a:solidFill>
              <a:srgbClr val="00CADA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5" name="Text 23"/>
          <p:cNvSpPr/>
          <p:nvPr/>
        </p:nvSpPr>
        <p:spPr>
          <a:xfrm>
            <a:off x="502920" y="56692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1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Também implementada como </a:t>
            </a:r>
            <a:r>
              <a:rPr lang="pt-PT" sz="1150" noProof="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HashMap</a:t>
            </a:r>
            <a:r>
              <a:rPr lang="pt-PT" sz="11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Ao contrário da tabela de reservadas (estática), esta tabela cresce dinamicamente durante a análise — cada novo identificador encontrado é inserido automaticamente.</a:t>
            </a:r>
            <a:endParaRPr lang="pt-PT" sz="1150" noProof="0" dirty="0"/>
          </a:p>
        </p:txBody>
      </p:sp>
      <p:sp>
        <p:nvSpPr>
          <p:cNvPr id="26" name="Text 24"/>
          <p:cNvSpPr/>
          <p:nvPr/>
        </p:nvSpPr>
        <p:spPr>
          <a:xfrm>
            <a:off x="502920" y="135331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100" b="1" noProof="0" dirty="0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Algoritmo de inserção/busca:</a:t>
            </a:r>
            <a:endParaRPr lang="pt-PT" sz="1100" noProof="0" dirty="0"/>
          </a:p>
        </p:txBody>
      </p:sp>
      <p:sp>
        <p:nvSpPr>
          <p:cNvPr id="27" name="Text 25"/>
          <p:cNvSpPr/>
          <p:nvPr/>
        </p:nvSpPr>
        <p:spPr>
          <a:xfrm>
            <a:off x="502920" y="16916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10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Identificador NÃO é palavra reservada.</a:t>
            </a:r>
            <a:endParaRPr lang="pt-PT" sz="1100" noProof="0" dirty="0"/>
          </a:p>
        </p:txBody>
      </p:sp>
      <p:sp>
        <p:nvSpPr>
          <p:cNvPr id="28" name="Text 26"/>
          <p:cNvSpPr/>
          <p:nvPr/>
        </p:nvSpPr>
        <p:spPr>
          <a:xfrm>
            <a:off x="502920" y="203911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10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Pesquisa na </a:t>
            </a:r>
            <a:r>
              <a:rPr lang="pt-PT" sz="1100" noProof="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TabelaSimbolos</a:t>
            </a:r>
            <a:r>
              <a:rPr lang="pt-PT" sz="110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pt-PT" sz="1100" noProof="0" dirty="0"/>
          </a:p>
        </p:txBody>
      </p:sp>
      <p:sp>
        <p:nvSpPr>
          <p:cNvPr id="29" name="Text 27"/>
          <p:cNvSpPr/>
          <p:nvPr/>
        </p:nvSpPr>
        <p:spPr>
          <a:xfrm>
            <a:off x="502920" y="238658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10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Existe → devolve o </a:t>
            </a:r>
            <a:r>
              <a:rPr lang="pt-PT" sz="1100" noProof="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</a:t>
            </a:r>
            <a:r>
              <a:rPr lang="pt-PT" sz="110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sem duplicar.</a:t>
            </a:r>
            <a:endParaRPr lang="pt-PT" sz="1100" noProof="0" dirty="0"/>
          </a:p>
        </p:txBody>
      </p:sp>
      <p:sp>
        <p:nvSpPr>
          <p:cNvPr id="30" name="Text 28"/>
          <p:cNvSpPr/>
          <p:nvPr/>
        </p:nvSpPr>
        <p:spPr>
          <a:xfrm>
            <a:off x="502920" y="273405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10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Não existe → insere (nome + 1ª linha).</a:t>
            </a:r>
            <a:endParaRPr lang="pt-PT" sz="1100" noProof="0" dirty="0"/>
          </a:p>
        </p:txBody>
      </p:sp>
      <p:sp>
        <p:nvSpPr>
          <p:cNvPr id="31" name="Text 29"/>
          <p:cNvSpPr/>
          <p:nvPr/>
        </p:nvSpPr>
        <p:spPr>
          <a:xfrm>
            <a:off x="4800600" y="1353312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100" b="1" noProof="0" dirty="0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 gerada pelo programa de teste:</a:t>
            </a:r>
            <a:endParaRPr lang="pt-PT" sz="1100" noProof="0" dirty="0"/>
          </a:p>
        </p:txBody>
      </p:sp>
      <p:sp>
        <p:nvSpPr>
          <p:cNvPr id="32" name="Shape 30"/>
          <p:cNvSpPr/>
          <p:nvPr/>
        </p:nvSpPr>
        <p:spPr>
          <a:xfrm>
            <a:off x="4800600" y="1691640"/>
            <a:ext cx="3977640" cy="2743200"/>
          </a:xfrm>
          <a:prstGeom prst="roundRect">
            <a:avLst>
              <a:gd name="adj" fmla="val 2667"/>
            </a:avLst>
          </a:prstGeom>
          <a:solidFill>
            <a:srgbClr val="08061A"/>
          </a:solidFill>
          <a:ln w="12700">
            <a:solidFill>
              <a:srgbClr val="46406B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33" name="Text 31"/>
          <p:cNvSpPr/>
          <p:nvPr/>
        </p:nvSpPr>
        <p:spPr>
          <a:xfrm>
            <a:off x="4892040" y="1764792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00" b="1" noProof="0" dirty="0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Identificador</a:t>
            </a:r>
            <a:endParaRPr lang="pt-PT" sz="900" noProof="0" dirty="0"/>
          </a:p>
        </p:txBody>
      </p:sp>
      <p:sp>
        <p:nvSpPr>
          <p:cNvPr id="34" name="Text 32"/>
          <p:cNvSpPr/>
          <p:nvPr/>
        </p:nvSpPr>
        <p:spPr>
          <a:xfrm>
            <a:off x="6446520" y="1764792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00" b="1" noProof="0" dirty="0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Linha</a:t>
            </a:r>
            <a:endParaRPr lang="pt-PT" sz="900" noProof="0" dirty="0"/>
          </a:p>
        </p:txBody>
      </p:sp>
      <p:sp>
        <p:nvSpPr>
          <p:cNvPr id="35" name="Text 33"/>
          <p:cNvSpPr/>
          <p:nvPr/>
        </p:nvSpPr>
        <p:spPr>
          <a:xfrm>
            <a:off x="7296912" y="1764792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00" b="1" noProof="0" dirty="0" err="1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</a:t>
            </a:r>
            <a:endParaRPr lang="pt-PT" sz="900" noProof="0" dirty="0"/>
          </a:p>
        </p:txBody>
      </p:sp>
      <p:sp>
        <p:nvSpPr>
          <p:cNvPr id="36" name="Shape 34"/>
          <p:cNvSpPr/>
          <p:nvPr/>
        </p:nvSpPr>
        <p:spPr>
          <a:xfrm>
            <a:off x="4892040" y="2011680"/>
            <a:ext cx="3749040" cy="0"/>
          </a:xfrm>
          <a:prstGeom prst="line">
            <a:avLst/>
          </a:prstGeom>
          <a:noFill/>
          <a:ln w="12700">
            <a:solidFill>
              <a:srgbClr val="00CADA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37" name="Shape 35"/>
          <p:cNvSpPr/>
          <p:nvPr/>
        </p:nvSpPr>
        <p:spPr>
          <a:xfrm>
            <a:off x="4892040" y="2075688"/>
            <a:ext cx="3749040" cy="301752"/>
          </a:xfrm>
          <a:prstGeom prst="rect">
            <a:avLst/>
          </a:prstGeom>
          <a:solidFill>
            <a:srgbClr val="46406B">
              <a:alpha val="20000"/>
            </a:srgbClr>
          </a:solidFill>
          <a:ln w="12700">
            <a:solidFill>
              <a:srgbClr val="46406B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38" name="Text 36"/>
          <p:cNvSpPr/>
          <p:nvPr/>
        </p:nvSpPr>
        <p:spPr>
          <a:xfrm>
            <a:off x="4919472" y="209397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00" noProof="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gestaovendas</a:t>
            </a:r>
            <a:endParaRPr lang="pt-PT" sz="900" noProof="0" dirty="0"/>
          </a:p>
        </p:txBody>
      </p:sp>
      <p:sp>
        <p:nvSpPr>
          <p:cNvPr id="39" name="Text 37"/>
          <p:cNvSpPr/>
          <p:nvPr/>
        </p:nvSpPr>
        <p:spPr>
          <a:xfrm>
            <a:off x="6446520" y="209397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900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pt-PT" sz="900" noProof="0" dirty="0"/>
          </a:p>
        </p:txBody>
      </p:sp>
      <p:sp>
        <p:nvSpPr>
          <p:cNvPr id="40" name="Text 38"/>
          <p:cNvSpPr/>
          <p:nvPr/>
        </p:nvSpPr>
        <p:spPr>
          <a:xfrm>
            <a:off x="7296912" y="209397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00" noProof="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IDENTIFICADOR</a:t>
            </a:r>
            <a:endParaRPr lang="pt-PT" sz="900" noProof="0" dirty="0"/>
          </a:p>
        </p:txBody>
      </p:sp>
      <p:sp>
        <p:nvSpPr>
          <p:cNvPr id="41" name="Shape 39"/>
          <p:cNvSpPr/>
          <p:nvPr/>
        </p:nvSpPr>
        <p:spPr>
          <a:xfrm>
            <a:off x="4892040" y="2395728"/>
            <a:ext cx="3749040" cy="301752"/>
          </a:xfrm>
          <a:prstGeom prst="rect">
            <a:avLst/>
          </a:prstGeom>
          <a:solidFill>
            <a:srgbClr val="08061A">
              <a:alpha val="20000"/>
            </a:srgbClr>
          </a:solidFill>
          <a:ln w="12700">
            <a:solidFill>
              <a:srgbClr val="08061A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42" name="Text 40"/>
          <p:cNvSpPr/>
          <p:nvPr/>
        </p:nvSpPr>
        <p:spPr>
          <a:xfrm>
            <a:off x="4919472" y="241401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00" noProof="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</a:t>
            </a:r>
            <a:endParaRPr lang="pt-PT" sz="900" noProof="0" dirty="0"/>
          </a:p>
        </p:txBody>
      </p:sp>
      <p:sp>
        <p:nvSpPr>
          <p:cNvPr id="43" name="Text 41"/>
          <p:cNvSpPr/>
          <p:nvPr/>
        </p:nvSpPr>
        <p:spPr>
          <a:xfrm>
            <a:off x="6446520" y="2414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900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pt-PT" sz="900" noProof="0" dirty="0"/>
          </a:p>
        </p:txBody>
      </p:sp>
      <p:sp>
        <p:nvSpPr>
          <p:cNvPr id="44" name="Text 42"/>
          <p:cNvSpPr/>
          <p:nvPr/>
        </p:nvSpPr>
        <p:spPr>
          <a:xfrm>
            <a:off x="7296912" y="241401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00" noProof="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IDENTIFICADOR</a:t>
            </a:r>
            <a:endParaRPr lang="pt-PT" sz="900" noProof="0" dirty="0"/>
          </a:p>
        </p:txBody>
      </p:sp>
      <p:sp>
        <p:nvSpPr>
          <p:cNvPr id="45" name="Shape 43"/>
          <p:cNvSpPr/>
          <p:nvPr/>
        </p:nvSpPr>
        <p:spPr>
          <a:xfrm>
            <a:off x="4892040" y="2715768"/>
            <a:ext cx="3749040" cy="301752"/>
          </a:xfrm>
          <a:prstGeom prst="rect">
            <a:avLst/>
          </a:prstGeom>
          <a:solidFill>
            <a:srgbClr val="46406B">
              <a:alpha val="20000"/>
            </a:srgbClr>
          </a:solidFill>
          <a:ln w="12700">
            <a:solidFill>
              <a:srgbClr val="46406B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46" name="Text 44"/>
          <p:cNvSpPr/>
          <p:nvPr/>
        </p:nvSpPr>
        <p:spPr>
          <a:xfrm>
            <a:off x="4919472" y="273405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00" noProof="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calculariva</a:t>
            </a:r>
            <a:endParaRPr lang="pt-PT" sz="900" noProof="0" dirty="0"/>
          </a:p>
        </p:txBody>
      </p:sp>
      <p:sp>
        <p:nvSpPr>
          <p:cNvPr id="47" name="Text 45"/>
          <p:cNvSpPr/>
          <p:nvPr/>
        </p:nvSpPr>
        <p:spPr>
          <a:xfrm>
            <a:off x="6446520" y="273405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900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pt-PT" sz="900" noProof="0" dirty="0"/>
          </a:p>
        </p:txBody>
      </p:sp>
      <p:sp>
        <p:nvSpPr>
          <p:cNvPr id="48" name="Text 46"/>
          <p:cNvSpPr/>
          <p:nvPr/>
        </p:nvSpPr>
        <p:spPr>
          <a:xfrm>
            <a:off x="7296912" y="273405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00" noProof="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IDENTIFICADOR</a:t>
            </a:r>
            <a:endParaRPr lang="pt-PT" sz="900" noProof="0" dirty="0"/>
          </a:p>
        </p:txBody>
      </p:sp>
      <p:sp>
        <p:nvSpPr>
          <p:cNvPr id="49" name="Shape 47"/>
          <p:cNvSpPr/>
          <p:nvPr/>
        </p:nvSpPr>
        <p:spPr>
          <a:xfrm>
            <a:off x="4892040" y="3035808"/>
            <a:ext cx="3749040" cy="301752"/>
          </a:xfrm>
          <a:prstGeom prst="rect">
            <a:avLst/>
          </a:prstGeom>
          <a:solidFill>
            <a:srgbClr val="08061A">
              <a:alpha val="20000"/>
            </a:srgbClr>
          </a:solidFill>
          <a:ln w="12700">
            <a:solidFill>
              <a:srgbClr val="08061A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50" name="Text 48"/>
          <p:cNvSpPr/>
          <p:nvPr/>
        </p:nvSpPr>
        <p:spPr>
          <a:xfrm>
            <a:off x="4919472" y="305409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0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quantidade</a:t>
            </a:r>
            <a:endParaRPr lang="pt-PT" sz="900" noProof="0" dirty="0"/>
          </a:p>
        </p:txBody>
      </p:sp>
      <p:sp>
        <p:nvSpPr>
          <p:cNvPr id="51" name="Text 49"/>
          <p:cNvSpPr/>
          <p:nvPr/>
        </p:nvSpPr>
        <p:spPr>
          <a:xfrm>
            <a:off x="6446520" y="305409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900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pt-PT" sz="900" noProof="0" dirty="0"/>
          </a:p>
        </p:txBody>
      </p:sp>
      <p:sp>
        <p:nvSpPr>
          <p:cNvPr id="52" name="Text 50"/>
          <p:cNvSpPr/>
          <p:nvPr/>
        </p:nvSpPr>
        <p:spPr>
          <a:xfrm>
            <a:off x="7296912" y="305409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00" noProof="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IDENTIFICADOR</a:t>
            </a:r>
            <a:endParaRPr lang="pt-PT" sz="900" noProof="0" dirty="0"/>
          </a:p>
        </p:txBody>
      </p:sp>
      <p:sp>
        <p:nvSpPr>
          <p:cNvPr id="53" name="Shape 51"/>
          <p:cNvSpPr/>
          <p:nvPr/>
        </p:nvSpPr>
        <p:spPr>
          <a:xfrm>
            <a:off x="4892040" y="3355848"/>
            <a:ext cx="3749040" cy="301752"/>
          </a:xfrm>
          <a:prstGeom prst="rect">
            <a:avLst/>
          </a:prstGeom>
          <a:solidFill>
            <a:srgbClr val="46406B">
              <a:alpha val="20000"/>
            </a:srgbClr>
          </a:solidFill>
          <a:ln w="12700">
            <a:solidFill>
              <a:srgbClr val="46406B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54" name="Text 52"/>
          <p:cNvSpPr/>
          <p:nvPr/>
        </p:nvSpPr>
        <p:spPr>
          <a:xfrm>
            <a:off x="4919472" y="33741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0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</a:t>
            </a:r>
            <a:endParaRPr lang="pt-PT" sz="900" noProof="0" dirty="0"/>
          </a:p>
        </p:txBody>
      </p:sp>
      <p:sp>
        <p:nvSpPr>
          <p:cNvPr id="55" name="Text 53"/>
          <p:cNvSpPr/>
          <p:nvPr/>
        </p:nvSpPr>
        <p:spPr>
          <a:xfrm>
            <a:off x="6446520" y="337413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900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pt-PT" sz="900" noProof="0" dirty="0"/>
          </a:p>
        </p:txBody>
      </p:sp>
      <p:sp>
        <p:nvSpPr>
          <p:cNvPr id="56" name="Text 54"/>
          <p:cNvSpPr/>
          <p:nvPr/>
        </p:nvSpPr>
        <p:spPr>
          <a:xfrm>
            <a:off x="7296912" y="337413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00" noProof="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IDENTIFICADOR</a:t>
            </a:r>
            <a:endParaRPr lang="pt-PT" sz="900" noProof="0" dirty="0"/>
          </a:p>
        </p:txBody>
      </p:sp>
      <p:sp>
        <p:nvSpPr>
          <p:cNvPr id="57" name="Shape 55"/>
          <p:cNvSpPr/>
          <p:nvPr/>
        </p:nvSpPr>
        <p:spPr>
          <a:xfrm>
            <a:off x="4892040" y="3675888"/>
            <a:ext cx="3749040" cy="301752"/>
          </a:xfrm>
          <a:prstGeom prst="rect">
            <a:avLst/>
          </a:prstGeom>
          <a:solidFill>
            <a:srgbClr val="08061A">
              <a:alpha val="20000"/>
            </a:srgbClr>
          </a:solidFill>
          <a:ln w="12700">
            <a:solidFill>
              <a:srgbClr val="08061A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58" name="Text 56"/>
          <p:cNvSpPr/>
          <p:nvPr/>
        </p:nvSpPr>
        <p:spPr>
          <a:xfrm>
            <a:off x="4919472" y="369417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0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contador</a:t>
            </a:r>
            <a:endParaRPr lang="pt-PT" sz="900" noProof="0" dirty="0"/>
          </a:p>
        </p:txBody>
      </p:sp>
      <p:sp>
        <p:nvSpPr>
          <p:cNvPr id="59" name="Text 57"/>
          <p:cNvSpPr/>
          <p:nvPr/>
        </p:nvSpPr>
        <p:spPr>
          <a:xfrm>
            <a:off x="6446520" y="369417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900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36</a:t>
            </a:r>
            <a:endParaRPr lang="pt-PT" sz="900" noProof="0" dirty="0"/>
          </a:p>
        </p:txBody>
      </p:sp>
      <p:sp>
        <p:nvSpPr>
          <p:cNvPr id="60" name="Text 58"/>
          <p:cNvSpPr/>
          <p:nvPr/>
        </p:nvSpPr>
        <p:spPr>
          <a:xfrm>
            <a:off x="7296912" y="369417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00" noProof="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IDENTIFICADOR</a:t>
            </a:r>
            <a:endParaRPr lang="pt-PT" sz="900" noProof="0" dirty="0"/>
          </a:p>
        </p:txBody>
      </p:sp>
      <p:sp>
        <p:nvSpPr>
          <p:cNvPr id="61" name="Shape 59"/>
          <p:cNvSpPr/>
          <p:nvPr/>
        </p:nvSpPr>
        <p:spPr>
          <a:xfrm>
            <a:off x="4892040" y="3995928"/>
            <a:ext cx="3749040" cy="301752"/>
          </a:xfrm>
          <a:prstGeom prst="rect">
            <a:avLst/>
          </a:prstGeom>
          <a:solidFill>
            <a:srgbClr val="46406B">
              <a:alpha val="20000"/>
            </a:srgbClr>
          </a:solidFill>
          <a:ln w="12700">
            <a:solidFill>
              <a:srgbClr val="46406B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62" name="Text 60"/>
          <p:cNvSpPr/>
          <p:nvPr/>
        </p:nvSpPr>
        <p:spPr>
          <a:xfrm>
            <a:off x="4919472" y="401421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0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</a:t>
            </a:r>
            <a:endParaRPr lang="pt-PT" sz="900" noProof="0" dirty="0"/>
          </a:p>
        </p:txBody>
      </p:sp>
      <p:sp>
        <p:nvSpPr>
          <p:cNvPr id="63" name="Text 61"/>
          <p:cNvSpPr/>
          <p:nvPr/>
        </p:nvSpPr>
        <p:spPr>
          <a:xfrm>
            <a:off x="6446520" y="40142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900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</a:t>
            </a:r>
            <a:endParaRPr lang="pt-PT" sz="900" noProof="0" dirty="0"/>
          </a:p>
        </p:txBody>
      </p:sp>
      <p:sp>
        <p:nvSpPr>
          <p:cNvPr id="64" name="Text 62"/>
          <p:cNvSpPr/>
          <p:nvPr/>
        </p:nvSpPr>
        <p:spPr>
          <a:xfrm>
            <a:off x="7296912" y="401421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00" noProof="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IDENTIFICADOR</a:t>
            </a:r>
            <a:endParaRPr lang="pt-PT" sz="900" noProof="0" dirty="0"/>
          </a:p>
        </p:txBody>
      </p:sp>
      <p:sp>
        <p:nvSpPr>
          <p:cNvPr id="65" name="Text 63"/>
          <p:cNvSpPr/>
          <p:nvPr/>
        </p:nvSpPr>
        <p:spPr>
          <a:xfrm>
            <a:off x="4800600" y="4480560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00" i="1" noProof="0" dirty="0">
                <a:solidFill>
                  <a:srgbClr val="AFAF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Gerada automaticamente durante a análise léxica.</a:t>
            </a:r>
            <a:endParaRPr lang="pt-PT" sz="900" noProof="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0E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164592"/>
            <a:ext cx="2286000" cy="0"/>
          </a:xfrm>
          <a:prstGeom prst="line">
            <a:avLst/>
          </a:prstGeom>
          <a:noFill/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3" name="Shape 1"/>
          <p:cNvSpPr/>
          <p:nvPr/>
        </p:nvSpPr>
        <p:spPr>
          <a:xfrm>
            <a:off x="7498080" y="347472"/>
            <a:ext cx="1371600" cy="0"/>
          </a:xfrm>
          <a:prstGeom prst="line">
            <a:avLst/>
          </a:prstGeom>
          <a:noFill/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4" name="Shape 2"/>
          <p:cNvSpPr/>
          <p:nvPr/>
        </p:nvSpPr>
        <p:spPr>
          <a:xfrm>
            <a:off x="6217920" y="502920"/>
            <a:ext cx="182880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5" name="Shape 3"/>
          <p:cNvSpPr/>
          <p:nvPr/>
        </p:nvSpPr>
        <p:spPr>
          <a:xfrm>
            <a:off x="8732520" y="137160"/>
            <a:ext cx="0" cy="2011680"/>
          </a:xfrm>
          <a:prstGeom prst="line">
            <a:avLst/>
          </a:prstGeom>
          <a:noFill/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6" name="Shape 4"/>
          <p:cNvSpPr/>
          <p:nvPr/>
        </p:nvSpPr>
        <p:spPr>
          <a:xfrm>
            <a:off x="8503920" y="320040"/>
            <a:ext cx="0" cy="164592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7" name="Shape 5"/>
          <p:cNvSpPr/>
          <p:nvPr/>
        </p:nvSpPr>
        <p:spPr>
          <a:xfrm>
            <a:off x="137160" y="4663440"/>
            <a:ext cx="2011680" cy="0"/>
          </a:xfrm>
          <a:prstGeom prst="line">
            <a:avLst/>
          </a:prstGeom>
          <a:noFill/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8" name="Shape 6"/>
          <p:cNvSpPr/>
          <p:nvPr/>
        </p:nvSpPr>
        <p:spPr>
          <a:xfrm>
            <a:off x="137160" y="4480560"/>
            <a:ext cx="137160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9" name="Shape 7"/>
          <p:cNvSpPr/>
          <p:nvPr/>
        </p:nvSpPr>
        <p:spPr>
          <a:xfrm>
            <a:off x="201168" y="3200400"/>
            <a:ext cx="0" cy="1645920"/>
          </a:xfrm>
          <a:prstGeom prst="line">
            <a:avLst/>
          </a:prstGeom>
          <a:noFill/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0" name="Shape 8"/>
          <p:cNvSpPr/>
          <p:nvPr/>
        </p:nvSpPr>
        <p:spPr>
          <a:xfrm>
            <a:off x="384048" y="3474720"/>
            <a:ext cx="0" cy="1371600"/>
          </a:xfrm>
          <a:prstGeom prst="line">
            <a:avLst/>
          </a:prstGeom>
          <a:noFill/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1" name="Shape 9"/>
          <p:cNvSpPr/>
          <p:nvPr/>
        </p:nvSpPr>
        <p:spPr>
          <a:xfrm>
            <a:off x="0" y="4983480"/>
            <a:ext cx="3657600" cy="0"/>
          </a:xfrm>
          <a:prstGeom prst="line">
            <a:avLst/>
          </a:prstGeom>
          <a:noFill/>
          <a:ln w="1524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0" y="4983480"/>
            <a:ext cx="3657600" cy="0"/>
          </a:xfrm>
          <a:prstGeom prst="line">
            <a:avLst/>
          </a:prstGeom>
          <a:noFill/>
          <a:ln w="1524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3" name="Shape 11"/>
          <p:cNvSpPr/>
          <p:nvPr/>
        </p:nvSpPr>
        <p:spPr>
          <a:xfrm>
            <a:off x="73152" y="320040"/>
            <a:ext cx="54864" cy="54864"/>
          </a:xfrm>
          <a:prstGeom prst="ellipse">
            <a:avLst/>
          </a:prstGeom>
          <a:solidFill>
            <a:srgbClr val="00CADA">
              <a:alpha val="60000"/>
            </a:srgbClr>
          </a:solidFill>
          <a:ln w="1270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4" name="Shape 12"/>
          <p:cNvSpPr/>
          <p:nvPr/>
        </p:nvSpPr>
        <p:spPr>
          <a:xfrm>
            <a:off x="228600" y="228600"/>
            <a:ext cx="54864" cy="54864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5" name="Shape 13"/>
          <p:cNvSpPr/>
          <p:nvPr/>
        </p:nvSpPr>
        <p:spPr>
          <a:xfrm>
            <a:off x="8686800" y="4480560"/>
            <a:ext cx="54864" cy="54864"/>
          </a:xfrm>
          <a:prstGeom prst="ellipse">
            <a:avLst/>
          </a:prstGeom>
          <a:solidFill>
            <a:srgbClr val="00CADA">
              <a:alpha val="60000"/>
            </a:srgbClr>
          </a:solidFill>
          <a:ln w="1270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6" name="Shape 14"/>
          <p:cNvSpPr/>
          <p:nvPr/>
        </p:nvSpPr>
        <p:spPr>
          <a:xfrm>
            <a:off x="8823960" y="4617720"/>
            <a:ext cx="54864" cy="54864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7" name="Shape 15"/>
          <p:cNvSpPr/>
          <p:nvPr/>
        </p:nvSpPr>
        <p:spPr>
          <a:xfrm>
            <a:off x="6537960" y="128016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8" name="Shape 16"/>
          <p:cNvSpPr/>
          <p:nvPr/>
        </p:nvSpPr>
        <p:spPr>
          <a:xfrm>
            <a:off x="8851392" y="128016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9" name="Shape 17"/>
          <p:cNvSpPr/>
          <p:nvPr/>
        </p:nvSpPr>
        <p:spPr>
          <a:xfrm>
            <a:off x="8851392" y="214884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0" name="Shape 18"/>
          <p:cNvSpPr/>
          <p:nvPr/>
        </p:nvSpPr>
        <p:spPr>
          <a:xfrm>
            <a:off x="118872" y="443484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1" name="Shape 19"/>
          <p:cNvSpPr/>
          <p:nvPr/>
        </p:nvSpPr>
        <p:spPr>
          <a:xfrm>
            <a:off x="118872" y="470916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2" name="Shape 20"/>
          <p:cNvSpPr/>
          <p:nvPr/>
        </p:nvSpPr>
        <p:spPr>
          <a:xfrm>
            <a:off x="2121408" y="4681728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3" name="Shape 21"/>
          <p:cNvSpPr/>
          <p:nvPr/>
        </p:nvSpPr>
        <p:spPr>
          <a:xfrm rot="5400000">
            <a:off x="2926080" y="2148840"/>
            <a:ext cx="268834" cy="384048"/>
          </a:xfrm>
          <a:prstGeom prst="rtTriangle">
            <a:avLst/>
          </a:prstGeom>
          <a:solidFill>
            <a:srgbClr val="00CADA"/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4" name="Text 22"/>
          <p:cNvSpPr/>
          <p:nvPr/>
        </p:nvSpPr>
        <p:spPr>
          <a:xfrm>
            <a:off x="3456432" y="2029968"/>
            <a:ext cx="5303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3400" b="1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APRESENTAÇÃO</a:t>
            </a:r>
            <a:endParaRPr lang="pt-PT" sz="3400" noProof="0" dirty="0"/>
          </a:p>
        </p:txBody>
      </p:sp>
      <p:sp>
        <p:nvSpPr>
          <p:cNvPr id="25" name="Text 23"/>
          <p:cNvSpPr/>
          <p:nvPr/>
        </p:nvSpPr>
        <p:spPr>
          <a:xfrm>
            <a:off x="3456432" y="2487168"/>
            <a:ext cx="5303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3400" b="1" noProof="0" dirty="0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PROJECTO</a:t>
            </a:r>
            <a:endParaRPr lang="pt-PT" sz="3400" noProof="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0E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164592"/>
            <a:ext cx="2286000" cy="0"/>
          </a:xfrm>
          <a:prstGeom prst="line">
            <a:avLst/>
          </a:prstGeom>
          <a:noFill/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3" name="Shape 1"/>
          <p:cNvSpPr/>
          <p:nvPr/>
        </p:nvSpPr>
        <p:spPr>
          <a:xfrm>
            <a:off x="7498080" y="347472"/>
            <a:ext cx="1371600" cy="0"/>
          </a:xfrm>
          <a:prstGeom prst="line">
            <a:avLst/>
          </a:prstGeom>
          <a:noFill/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4" name="Shape 2"/>
          <p:cNvSpPr/>
          <p:nvPr/>
        </p:nvSpPr>
        <p:spPr>
          <a:xfrm>
            <a:off x="6217920" y="502920"/>
            <a:ext cx="182880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5" name="Shape 3"/>
          <p:cNvSpPr/>
          <p:nvPr/>
        </p:nvSpPr>
        <p:spPr>
          <a:xfrm>
            <a:off x="8732520" y="137160"/>
            <a:ext cx="0" cy="2011680"/>
          </a:xfrm>
          <a:prstGeom prst="line">
            <a:avLst/>
          </a:prstGeom>
          <a:noFill/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6" name="Shape 4"/>
          <p:cNvSpPr/>
          <p:nvPr/>
        </p:nvSpPr>
        <p:spPr>
          <a:xfrm>
            <a:off x="8503920" y="320040"/>
            <a:ext cx="0" cy="164592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7" name="Shape 5"/>
          <p:cNvSpPr/>
          <p:nvPr/>
        </p:nvSpPr>
        <p:spPr>
          <a:xfrm>
            <a:off x="137160" y="4663440"/>
            <a:ext cx="2011680" cy="0"/>
          </a:xfrm>
          <a:prstGeom prst="line">
            <a:avLst/>
          </a:prstGeom>
          <a:noFill/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8" name="Shape 6"/>
          <p:cNvSpPr/>
          <p:nvPr/>
        </p:nvSpPr>
        <p:spPr>
          <a:xfrm>
            <a:off x="137160" y="4480560"/>
            <a:ext cx="137160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9" name="Shape 7"/>
          <p:cNvSpPr/>
          <p:nvPr/>
        </p:nvSpPr>
        <p:spPr>
          <a:xfrm>
            <a:off x="201168" y="3200400"/>
            <a:ext cx="0" cy="1645920"/>
          </a:xfrm>
          <a:prstGeom prst="line">
            <a:avLst/>
          </a:prstGeom>
          <a:noFill/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0" name="Shape 8"/>
          <p:cNvSpPr/>
          <p:nvPr/>
        </p:nvSpPr>
        <p:spPr>
          <a:xfrm>
            <a:off x="384048" y="3474720"/>
            <a:ext cx="0" cy="1371600"/>
          </a:xfrm>
          <a:prstGeom prst="line">
            <a:avLst/>
          </a:prstGeom>
          <a:noFill/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1" name="Shape 9"/>
          <p:cNvSpPr/>
          <p:nvPr/>
        </p:nvSpPr>
        <p:spPr>
          <a:xfrm>
            <a:off x="0" y="4983480"/>
            <a:ext cx="3657600" cy="0"/>
          </a:xfrm>
          <a:prstGeom prst="line">
            <a:avLst/>
          </a:prstGeom>
          <a:noFill/>
          <a:ln w="1524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0" y="4983480"/>
            <a:ext cx="3657600" cy="0"/>
          </a:xfrm>
          <a:prstGeom prst="line">
            <a:avLst/>
          </a:prstGeom>
          <a:noFill/>
          <a:ln w="1524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3" name="Shape 11"/>
          <p:cNvSpPr/>
          <p:nvPr/>
        </p:nvSpPr>
        <p:spPr>
          <a:xfrm>
            <a:off x="73152" y="320040"/>
            <a:ext cx="54864" cy="54864"/>
          </a:xfrm>
          <a:prstGeom prst="ellipse">
            <a:avLst/>
          </a:prstGeom>
          <a:solidFill>
            <a:srgbClr val="00CADA">
              <a:alpha val="60000"/>
            </a:srgbClr>
          </a:solidFill>
          <a:ln w="1270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4" name="Shape 12"/>
          <p:cNvSpPr/>
          <p:nvPr/>
        </p:nvSpPr>
        <p:spPr>
          <a:xfrm>
            <a:off x="228600" y="228600"/>
            <a:ext cx="54864" cy="54864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5" name="Shape 13"/>
          <p:cNvSpPr/>
          <p:nvPr/>
        </p:nvSpPr>
        <p:spPr>
          <a:xfrm>
            <a:off x="8686800" y="4480560"/>
            <a:ext cx="54864" cy="54864"/>
          </a:xfrm>
          <a:prstGeom prst="ellipse">
            <a:avLst/>
          </a:prstGeom>
          <a:solidFill>
            <a:srgbClr val="00CADA">
              <a:alpha val="60000"/>
            </a:srgbClr>
          </a:solidFill>
          <a:ln w="1270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6" name="Shape 14"/>
          <p:cNvSpPr/>
          <p:nvPr/>
        </p:nvSpPr>
        <p:spPr>
          <a:xfrm>
            <a:off x="8823960" y="4617720"/>
            <a:ext cx="54864" cy="54864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7" name="Shape 15"/>
          <p:cNvSpPr/>
          <p:nvPr/>
        </p:nvSpPr>
        <p:spPr>
          <a:xfrm>
            <a:off x="6537960" y="128016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8" name="Shape 16"/>
          <p:cNvSpPr/>
          <p:nvPr/>
        </p:nvSpPr>
        <p:spPr>
          <a:xfrm>
            <a:off x="8851392" y="128016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9" name="Shape 17"/>
          <p:cNvSpPr/>
          <p:nvPr/>
        </p:nvSpPr>
        <p:spPr>
          <a:xfrm>
            <a:off x="8851392" y="214884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0" name="Shape 18"/>
          <p:cNvSpPr/>
          <p:nvPr/>
        </p:nvSpPr>
        <p:spPr>
          <a:xfrm>
            <a:off x="118872" y="443484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1" name="Shape 19"/>
          <p:cNvSpPr/>
          <p:nvPr/>
        </p:nvSpPr>
        <p:spPr>
          <a:xfrm>
            <a:off x="118872" y="470916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2" name="Shape 20"/>
          <p:cNvSpPr/>
          <p:nvPr/>
        </p:nvSpPr>
        <p:spPr>
          <a:xfrm>
            <a:off x="2121408" y="4681728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3" name="Text 21"/>
          <p:cNvSpPr/>
          <p:nvPr/>
        </p:nvSpPr>
        <p:spPr>
          <a:xfrm>
            <a:off x="502920" y="2011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300" b="1" noProof="0" dirty="0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Correr o </a:t>
            </a:r>
            <a:r>
              <a:rPr lang="pt-PT" sz="1300" b="1" noProof="0" dirty="0" err="1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AnaLex</a:t>
            </a:r>
            <a:endParaRPr lang="pt-PT" sz="1300" noProof="0" dirty="0"/>
          </a:p>
        </p:txBody>
      </p:sp>
      <p:sp>
        <p:nvSpPr>
          <p:cNvPr id="24" name="Shape 22"/>
          <p:cNvSpPr/>
          <p:nvPr/>
        </p:nvSpPr>
        <p:spPr>
          <a:xfrm>
            <a:off x="502920" y="502920"/>
            <a:ext cx="8138160" cy="0"/>
          </a:xfrm>
          <a:prstGeom prst="line">
            <a:avLst/>
          </a:prstGeom>
          <a:noFill/>
          <a:ln w="12700">
            <a:solidFill>
              <a:srgbClr val="00CADA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5" name="Text 23"/>
          <p:cNvSpPr/>
          <p:nvPr/>
        </p:nvSpPr>
        <p:spPr>
          <a:xfrm>
            <a:off x="502920" y="6217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100" b="1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Navegar para a pasta do </a:t>
            </a:r>
            <a:r>
              <a:rPr lang="pt-PT" sz="1100" b="1" noProof="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projecto</a:t>
            </a:r>
            <a:r>
              <a:rPr lang="pt-PT" sz="1100" b="1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pt-PT" sz="1100" noProof="0" dirty="0"/>
          </a:p>
        </p:txBody>
      </p:sp>
      <p:sp>
        <p:nvSpPr>
          <p:cNvPr id="26" name="Shape 24"/>
          <p:cNvSpPr/>
          <p:nvPr/>
        </p:nvSpPr>
        <p:spPr>
          <a:xfrm>
            <a:off x="502920" y="896112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08061A"/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7" name="Text 25"/>
          <p:cNvSpPr/>
          <p:nvPr/>
        </p:nvSpPr>
        <p:spPr>
          <a:xfrm>
            <a:off x="640080" y="91440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00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/d "G:\FENG\Compiladores\PROJECTO\PROJECTO REAL\</a:t>
            </a:r>
            <a:r>
              <a:rPr lang="pt-PT" sz="1000" noProof="0" dirty="0" err="1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hidra_lexer</a:t>
            </a:r>
            <a:r>
              <a:rPr lang="pt-PT" sz="1000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</a:t>
            </a:r>
            <a:endParaRPr lang="pt-PT" sz="1000" noProof="0" dirty="0"/>
          </a:p>
        </p:txBody>
      </p:sp>
      <p:sp>
        <p:nvSpPr>
          <p:cNvPr id="28" name="Text 26"/>
          <p:cNvSpPr/>
          <p:nvPr/>
        </p:nvSpPr>
        <p:spPr>
          <a:xfrm>
            <a:off x="502920" y="16276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100" b="1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Compilar:</a:t>
            </a:r>
            <a:endParaRPr lang="pt-PT" sz="1100" noProof="0" dirty="0"/>
          </a:p>
        </p:txBody>
      </p:sp>
      <p:sp>
        <p:nvSpPr>
          <p:cNvPr id="29" name="Shape 27"/>
          <p:cNvSpPr/>
          <p:nvPr/>
        </p:nvSpPr>
        <p:spPr>
          <a:xfrm>
            <a:off x="502920" y="1901952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08061A"/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30" name="Text 28"/>
          <p:cNvSpPr/>
          <p:nvPr/>
        </p:nvSpPr>
        <p:spPr>
          <a:xfrm>
            <a:off x="640080" y="192024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00" noProof="0" dirty="0" err="1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javac</a:t>
            </a:r>
            <a:r>
              <a:rPr lang="pt-PT" sz="1000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-</a:t>
            </a:r>
            <a:r>
              <a:rPr lang="pt-PT" sz="1000" noProof="0" dirty="0" err="1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encoding</a:t>
            </a:r>
            <a:r>
              <a:rPr lang="pt-PT" sz="1000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UTF-8 -d bin </a:t>
            </a:r>
            <a:r>
              <a:rPr lang="pt-PT" sz="1000" noProof="0" dirty="0" err="1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</a:t>
            </a:r>
            <a:r>
              <a:rPr lang="pt-PT" sz="1000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\hidra\*.java</a:t>
            </a:r>
            <a:endParaRPr lang="pt-PT" sz="1000" noProof="0" dirty="0"/>
          </a:p>
        </p:txBody>
      </p:sp>
      <p:sp>
        <p:nvSpPr>
          <p:cNvPr id="31" name="Text 29"/>
          <p:cNvSpPr/>
          <p:nvPr/>
        </p:nvSpPr>
        <p:spPr>
          <a:xfrm>
            <a:off x="502920" y="263347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100" b="1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Testar com programa de teste interno:</a:t>
            </a:r>
            <a:endParaRPr lang="pt-PT" sz="1100" noProof="0" dirty="0"/>
          </a:p>
        </p:txBody>
      </p:sp>
      <p:sp>
        <p:nvSpPr>
          <p:cNvPr id="32" name="Shape 30"/>
          <p:cNvSpPr/>
          <p:nvPr/>
        </p:nvSpPr>
        <p:spPr>
          <a:xfrm>
            <a:off x="502920" y="2907792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08061A"/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33" name="Text 31"/>
          <p:cNvSpPr/>
          <p:nvPr/>
        </p:nvSpPr>
        <p:spPr>
          <a:xfrm>
            <a:off x="640080" y="292608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00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 -</a:t>
            </a:r>
            <a:r>
              <a:rPr lang="pt-PT" sz="1000" noProof="0" dirty="0" err="1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Dfile.encoding</a:t>
            </a:r>
            <a:r>
              <a:rPr lang="pt-PT" sz="1000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=UTF-8 -</a:t>
            </a:r>
            <a:r>
              <a:rPr lang="pt-PT" sz="1000" noProof="0" dirty="0" err="1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</a:t>
            </a:r>
            <a:r>
              <a:rPr lang="pt-PT" sz="1000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bin </a:t>
            </a:r>
            <a:r>
              <a:rPr lang="pt-PT" sz="1000" noProof="0" dirty="0" err="1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hidra.Main</a:t>
            </a:r>
            <a:endParaRPr lang="pt-PT" sz="1000" noProof="0" dirty="0"/>
          </a:p>
        </p:txBody>
      </p:sp>
      <p:sp>
        <p:nvSpPr>
          <p:cNvPr id="34" name="Text 32"/>
          <p:cNvSpPr/>
          <p:nvPr/>
        </p:nvSpPr>
        <p:spPr>
          <a:xfrm>
            <a:off x="502920" y="36393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100" b="1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Testar com ficheiro próprio:</a:t>
            </a:r>
            <a:endParaRPr lang="pt-PT" sz="1100" noProof="0" dirty="0"/>
          </a:p>
        </p:txBody>
      </p:sp>
      <p:sp>
        <p:nvSpPr>
          <p:cNvPr id="35" name="Shape 33"/>
          <p:cNvSpPr/>
          <p:nvPr/>
        </p:nvSpPr>
        <p:spPr>
          <a:xfrm>
            <a:off x="502920" y="3913632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08061A"/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36" name="Text 34"/>
          <p:cNvSpPr/>
          <p:nvPr/>
        </p:nvSpPr>
        <p:spPr>
          <a:xfrm>
            <a:off x="640080" y="393192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00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 -</a:t>
            </a:r>
            <a:r>
              <a:rPr lang="pt-PT" sz="1000" noProof="0" dirty="0" err="1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Dfile.encoding</a:t>
            </a:r>
            <a:r>
              <a:rPr lang="pt-PT" sz="1000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=UTF-8 -</a:t>
            </a:r>
            <a:r>
              <a:rPr lang="pt-PT" sz="1000" noProof="0" dirty="0" err="1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</a:t>
            </a:r>
            <a:r>
              <a:rPr lang="pt-PT" sz="1000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bin </a:t>
            </a:r>
            <a:r>
              <a:rPr lang="pt-PT" sz="1000" noProof="0" dirty="0" err="1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hidra.Main</a:t>
            </a:r>
            <a:r>
              <a:rPr lang="pt-PT" sz="1000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PT" sz="1000" noProof="0" dirty="0" err="1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meu_programa.hidra</a:t>
            </a:r>
            <a:endParaRPr lang="pt-PT" sz="1000" noProof="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10E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164592"/>
            <a:ext cx="2286000" cy="0"/>
          </a:xfrm>
          <a:prstGeom prst="line">
            <a:avLst/>
          </a:prstGeom>
          <a:noFill/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3" name="Shape 1"/>
          <p:cNvSpPr/>
          <p:nvPr/>
        </p:nvSpPr>
        <p:spPr>
          <a:xfrm>
            <a:off x="7498080" y="347472"/>
            <a:ext cx="1371600" cy="0"/>
          </a:xfrm>
          <a:prstGeom prst="line">
            <a:avLst/>
          </a:prstGeom>
          <a:noFill/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4" name="Shape 2"/>
          <p:cNvSpPr/>
          <p:nvPr/>
        </p:nvSpPr>
        <p:spPr>
          <a:xfrm>
            <a:off x="6217920" y="502920"/>
            <a:ext cx="182880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5" name="Shape 3"/>
          <p:cNvSpPr/>
          <p:nvPr/>
        </p:nvSpPr>
        <p:spPr>
          <a:xfrm>
            <a:off x="8732520" y="137160"/>
            <a:ext cx="0" cy="2011680"/>
          </a:xfrm>
          <a:prstGeom prst="line">
            <a:avLst/>
          </a:prstGeom>
          <a:noFill/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6" name="Shape 4"/>
          <p:cNvSpPr/>
          <p:nvPr/>
        </p:nvSpPr>
        <p:spPr>
          <a:xfrm>
            <a:off x="8503920" y="320040"/>
            <a:ext cx="0" cy="164592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7" name="Shape 5"/>
          <p:cNvSpPr/>
          <p:nvPr/>
        </p:nvSpPr>
        <p:spPr>
          <a:xfrm>
            <a:off x="137160" y="4663440"/>
            <a:ext cx="2011680" cy="0"/>
          </a:xfrm>
          <a:prstGeom prst="line">
            <a:avLst/>
          </a:prstGeom>
          <a:noFill/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8" name="Shape 6"/>
          <p:cNvSpPr/>
          <p:nvPr/>
        </p:nvSpPr>
        <p:spPr>
          <a:xfrm>
            <a:off x="137160" y="4480560"/>
            <a:ext cx="137160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9" name="Shape 7"/>
          <p:cNvSpPr/>
          <p:nvPr/>
        </p:nvSpPr>
        <p:spPr>
          <a:xfrm>
            <a:off x="201168" y="3200400"/>
            <a:ext cx="0" cy="1645920"/>
          </a:xfrm>
          <a:prstGeom prst="line">
            <a:avLst/>
          </a:prstGeom>
          <a:noFill/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0" name="Shape 8"/>
          <p:cNvSpPr/>
          <p:nvPr/>
        </p:nvSpPr>
        <p:spPr>
          <a:xfrm>
            <a:off x="384048" y="3474720"/>
            <a:ext cx="0" cy="1371600"/>
          </a:xfrm>
          <a:prstGeom prst="line">
            <a:avLst/>
          </a:prstGeom>
          <a:noFill/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1" name="Shape 9"/>
          <p:cNvSpPr/>
          <p:nvPr/>
        </p:nvSpPr>
        <p:spPr>
          <a:xfrm>
            <a:off x="0" y="4983480"/>
            <a:ext cx="3657600" cy="0"/>
          </a:xfrm>
          <a:prstGeom prst="line">
            <a:avLst/>
          </a:prstGeom>
          <a:noFill/>
          <a:ln w="1524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0" y="4983480"/>
            <a:ext cx="3657600" cy="0"/>
          </a:xfrm>
          <a:prstGeom prst="line">
            <a:avLst/>
          </a:prstGeom>
          <a:noFill/>
          <a:ln w="1524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3" name="Shape 11"/>
          <p:cNvSpPr/>
          <p:nvPr/>
        </p:nvSpPr>
        <p:spPr>
          <a:xfrm>
            <a:off x="73152" y="320040"/>
            <a:ext cx="54864" cy="54864"/>
          </a:xfrm>
          <a:prstGeom prst="ellipse">
            <a:avLst/>
          </a:prstGeom>
          <a:solidFill>
            <a:srgbClr val="00CADA">
              <a:alpha val="60000"/>
            </a:srgbClr>
          </a:solidFill>
          <a:ln w="1270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4" name="Shape 12"/>
          <p:cNvSpPr/>
          <p:nvPr/>
        </p:nvSpPr>
        <p:spPr>
          <a:xfrm>
            <a:off x="228600" y="228600"/>
            <a:ext cx="54864" cy="54864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5" name="Shape 13"/>
          <p:cNvSpPr/>
          <p:nvPr/>
        </p:nvSpPr>
        <p:spPr>
          <a:xfrm>
            <a:off x="8686800" y="4480560"/>
            <a:ext cx="54864" cy="54864"/>
          </a:xfrm>
          <a:prstGeom prst="ellipse">
            <a:avLst/>
          </a:prstGeom>
          <a:solidFill>
            <a:srgbClr val="00CADA">
              <a:alpha val="60000"/>
            </a:srgbClr>
          </a:solidFill>
          <a:ln w="1270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6" name="Shape 14"/>
          <p:cNvSpPr/>
          <p:nvPr/>
        </p:nvSpPr>
        <p:spPr>
          <a:xfrm>
            <a:off x="8823960" y="4617720"/>
            <a:ext cx="54864" cy="54864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7" name="Shape 15"/>
          <p:cNvSpPr/>
          <p:nvPr/>
        </p:nvSpPr>
        <p:spPr>
          <a:xfrm>
            <a:off x="6537960" y="128016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8" name="Shape 16"/>
          <p:cNvSpPr/>
          <p:nvPr/>
        </p:nvSpPr>
        <p:spPr>
          <a:xfrm>
            <a:off x="8851392" y="128016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9" name="Shape 17"/>
          <p:cNvSpPr/>
          <p:nvPr/>
        </p:nvSpPr>
        <p:spPr>
          <a:xfrm>
            <a:off x="8851392" y="214884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0" name="Shape 18"/>
          <p:cNvSpPr/>
          <p:nvPr/>
        </p:nvSpPr>
        <p:spPr>
          <a:xfrm>
            <a:off x="118872" y="443484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1" name="Shape 19"/>
          <p:cNvSpPr/>
          <p:nvPr/>
        </p:nvSpPr>
        <p:spPr>
          <a:xfrm>
            <a:off x="118872" y="470916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2" name="Shape 20"/>
          <p:cNvSpPr/>
          <p:nvPr/>
        </p:nvSpPr>
        <p:spPr>
          <a:xfrm>
            <a:off x="2121408" y="4681728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3" name="Text 21"/>
          <p:cNvSpPr/>
          <p:nvPr/>
        </p:nvSpPr>
        <p:spPr>
          <a:xfrm>
            <a:off x="502920" y="2011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300" b="1" noProof="0" dirty="0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da Análise Léxica:</a:t>
            </a:r>
            <a:endParaRPr lang="pt-PT" sz="1300" noProof="0" dirty="0"/>
          </a:p>
        </p:txBody>
      </p:sp>
      <p:sp>
        <p:nvSpPr>
          <p:cNvPr id="24" name="Shape 22"/>
          <p:cNvSpPr/>
          <p:nvPr/>
        </p:nvSpPr>
        <p:spPr>
          <a:xfrm>
            <a:off x="502920" y="502920"/>
            <a:ext cx="8138160" cy="0"/>
          </a:xfrm>
          <a:prstGeom prst="line">
            <a:avLst/>
          </a:prstGeom>
          <a:noFill/>
          <a:ln w="12700">
            <a:solidFill>
              <a:srgbClr val="00CADA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5" name="Text 23"/>
          <p:cNvSpPr/>
          <p:nvPr/>
        </p:nvSpPr>
        <p:spPr>
          <a:xfrm>
            <a:off x="502920" y="59436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00" b="1" noProof="0" dirty="0" err="1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meu_programa.hidra</a:t>
            </a:r>
            <a:endParaRPr lang="pt-PT" sz="1000" noProof="0" dirty="0"/>
          </a:p>
        </p:txBody>
      </p:sp>
      <p:sp>
        <p:nvSpPr>
          <p:cNvPr id="26" name="Shape 24"/>
          <p:cNvSpPr/>
          <p:nvPr/>
        </p:nvSpPr>
        <p:spPr>
          <a:xfrm>
            <a:off x="502920" y="868680"/>
            <a:ext cx="3931920" cy="2286000"/>
          </a:xfrm>
          <a:prstGeom prst="roundRect">
            <a:avLst>
              <a:gd name="adj" fmla="val 3200"/>
            </a:avLst>
          </a:prstGeom>
          <a:solidFill>
            <a:srgbClr val="08061A"/>
          </a:solidFill>
          <a:ln w="12700">
            <a:solidFill>
              <a:srgbClr val="46406B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7" name="Text 25"/>
          <p:cNvSpPr/>
          <p:nvPr/>
        </p:nvSpPr>
        <p:spPr>
          <a:xfrm>
            <a:off x="621792" y="93268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0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classe </a:t>
            </a:r>
            <a:r>
              <a:rPr lang="pt-PT" sz="900" noProof="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MinhaLoja</a:t>
            </a:r>
            <a:r>
              <a:rPr lang="pt-PT" sz="90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</a:t>
            </a:r>
            <a:endParaRPr lang="pt-PT" sz="900" noProof="0" dirty="0"/>
          </a:p>
        </p:txBody>
      </p:sp>
      <p:sp>
        <p:nvSpPr>
          <p:cNvPr id="28" name="Text 26"/>
          <p:cNvSpPr/>
          <p:nvPr/>
        </p:nvSpPr>
        <p:spPr>
          <a:xfrm>
            <a:off x="621792" y="117043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0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pt-PT" sz="900" noProof="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funcao</a:t>
            </a:r>
            <a:r>
              <a:rPr lang="pt-PT" sz="90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principal() {</a:t>
            </a:r>
            <a:endParaRPr lang="pt-PT" sz="900" noProof="0" dirty="0"/>
          </a:p>
        </p:txBody>
      </p:sp>
      <p:sp>
        <p:nvSpPr>
          <p:cNvPr id="29" name="Text 27"/>
          <p:cNvSpPr/>
          <p:nvPr/>
        </p:nvSpPr>
        <p:spPr>
          <a:xfrm>
            <a:off x="621792" y="14081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0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inteiro </a:t>
            </a:r>
            <a:r>
              <a:rPr lang="pt-PT" sz="900" noProof="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</a:t>
            </a:r>
            <a:r>
              <a:rPr lang="pt-PT" sz="90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50</a:t>
            </a:r>
            <a:endParaRPr lang="pt-PT" sz="900" noProof="0" dirty="0"/>
          </a:p>
        </p:txBody>
      </p:sp>
      <p:sp>
        <p:nvSpPr>
          <p:cNvPr id="30" name="Text 28"/>
          <p:cNvSpPr/>
          <p:nvPr/>
        </p:nvSpPr>
        <p:spPr>
          <a:xfrm>
            <a:off x="621792" y="16459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0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real </a:t>
            </a:r>
            <a:r>
              <a:rPr lang="pt-PT" sz="900" noProof="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</a:t>
            </a:r>
            <a:r>
              <a:rPr lang="pt-PT" sz="90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99.90</a:t>
            </a:r>
            <a:endParaRPr lang="pt-PT" sz="900" noProof="0" dirty="0"/>
          </a:p>
        </p:txBody>
      </p:sp>
      <p:sp>
        <p:nvSpPr>
          <p:cNvPr id="31" name="Text 29"/>
          <p:cNvSpPr/>
          <p:nvPr/>
        </p:nvSpPr>
        <p:spPr>
          <a:xfrm>
            <a:off x="621792" y="18836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0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 (</a:t>
            </a:r>
            <a:r>
              <a:rPr lang="pt-PT" sz="900" noProof="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</a:t>
            </a:r>
            <a:r>
              <a:rPr lang="pt-PT" sz="90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&gt; 0) {</a:t>
            </a:r>
            <a:endParaRPr lang="pt-PT" sz="900" noProof="0" dirty="0"/>
          </a:p>
        </p:txBody>
      </p:sp>
      <p:sp>
        <p:nvSpPr>
          <p:cNvPr id="32" name="Text 30"/>
          <p:cNvSpPr/>
          <p:nvPr/>
        </p:nvSpPr>
        <p:spPr>
          <a:xfrm>
            <a:off x="621792" y="212140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0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mostrar("Ok!")</a:t>
            </a:r>
            <a:endParaRPr lang="pt-PT" sz="900" noProof="0" dirty="0"/>
          </a:p>
        </p:txBody>
      </p:sp>
      <p:sp>
        <p:nvSpPr>
          <p:cNvPr id="33" name="Text 31"/>
          <p:cNvSpPr/>
          <p:nvPr/>
        </p:nvSpPr>
        <p:spPr>
          <a:xfrm>
            <a:off x="621792" y="235915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0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pt-PT" sz="900" noProof="0" dirty="0"/>
          </a:p>
        </p:txBody>
      </p:sp>
      <p:sp>
        <p:nvSpPr>
          <p:cNvPr id="34" name="Text 32"/>
          <p:cNvSpPr/>
          <p:nvPr/>
        </p:nvSpPr>
        <p:spPr>
          <a:xfrm>
            <a:off x="621792" y="259689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0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pt-PT" sz="900" noProof="0" dirty="0"/>
          </a:p>
        </p:txBody>
      </p:sp>
      <p:sp>
        <p:nvSpPr>
          <p:cNvPr id="35" name="Text 33"/>
          <p:cNvSpPr/>
          <p:nvPr/>
        </p:nvSpPr>
        <p:spPr>
          <a:xfrm>
            <a:off x="621792" y="283464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900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pt-PT" sz="900" noProof="0" dirty="0"/>
          </a:p>
        </p:txBody>
      </p:sp>
      <p:sp>
        <p:nvSpPr>
          <p:cNvPr id="36" name="Text 34"/>
          <p:cNvSpPr/>
          <p:nvPr/>
        </p:nvSpPr>
        <p:spPr>
          <a:xfrm>
            <a:off x="4754880" y="59436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000" b="1" noProof="0" dirty="0" err="1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</a:t>
            </a:r>
            <a:r>
              <a:rPr lang="pt-PT" sz="1000" b="1" noProof="0" dirty="0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produzidos:</a:t>
            </a:r>
            <a:endParaRPr lang="pt-PT" sz="1000" noProof="0" dirty="0"/>
          </a:p>
        </p:txBody>
      </p:sp>
      <p:sp>
        <p:nvSpPr>
          <p:cNvPr id="37" name="Shape 35"/>
          <p:cNvSpPr/>
          <p:nvPr/>
        </p:nvSpPr>
        <p:spPr>
          <a:xfrm>
            <a:off x="4754880" y="868680"/>
            <a:ext cx="4096512" cy="2286000"/>
          </a:xfrm>
          <a:prstGeom prst="roundRect">
            <a:avLst>
              <a:gd name="adj" fmla="val 3200"/>
            </a:avLst>
          </a:prstGeom>
          <a:solidFill>
            <a:srgbClr val="08061A"/>
          </a:solidFill>
          <a:ln w="12700">
            <a:solidFill>
              <a:srgbClr val="46406B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38" name="Text 36"/>
          <p:cNvSpPr/>
          <p:nvPr/>
        </p:nvSpPr>
        <p:spPr>
          <a:xfrm>
            <a:off x="4846320" y="91440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850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 | </a:t>
            </a:r>
            <a:r>
              <a:rPr lang="pt-PT" sz="850" noProof="0" dirty="0" err="1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</a:t>
            </a:r>
            <a:r>
              <a:rPr lang="pt-PT" sz="850" noProof="0" dirty="0">
                <a:solidFill>
                  <a:srgbClr val="00CA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| Atributo</a:t>
            </a:r>
            <a:endParaRPr lang="pt-PT" sz="850" noProof="0" dirty="0"/>
          </a:p>
        </p:txBody>
      </p:sp>
      <p:sp>
        <p:nvSpPr>
          <p:cNvPr id="39" name="Shape 37"/>
          <p:cNvSpPr/>
          <p:nvPr/>
        </p:nvSpPr>
        <p:spPr>
          <a:xfrm>
            <a:off x="4846320" y="1133856"/>
            <a:ext cx="3840480" cy="0"/>
          </a:xfrm>
          <a:prstGeom prst="line">
            <a:avLst/>
          </a:prstGeom>
          <a:noFill/>
          <a:ln w="12700">
            <a:solidFill>
              <a:srgbClr val="00CAD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40" name="Shape 38"/>
          <p:cNvSpPr/>
          <p:nvPr/>
        </p:nvSpPr>
        <p:spPr>
          <a:xfrm>
            <a:off x="4846320" y="1170432"/>
            <a:ext cx="3840480" cy="228600"/>
          </a:xfrm>
          <a:prstGeom prst="rect">
            <a:avLst/>
          </a:prstGeom>
          <a:solidFill>
            <a:srgbClr val="46406B">
              <a:alpha val="20000"/>
            </a:srgbClr>
          </a:solidFill>
          <a:ln w="12700">
            <a:solidFill>
              <a:srgbClr val="46406B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41" name="Text 39"/>
          <p:cNvSpPr/>
          <p:nvPr/>
        </p:nvSpPr>
        <p:spPr>
          <a:xfrm>
            <a:off x="4873752" y="1188720"/>
            <a:ext cx="3474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850" noProof="0" dirty="0">
                <a:solidFill>
                  <a:srgbClr val="64B5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pt-PT" sz="850" noProof="0" dirty="0"/>
          </a:p>
        </p:txBody>
      </p:sp>
      <p:sp>
        <p:nvSpPr>
          <p:cNvPr id="42" name="Text 40"/>
          <p:cNvSpPr/>
          <p:nvPr/>
        </p:nvSpPr>
        <p:spPr>
          <a:xfrm>
            <a:off x="5257800" y="1188720"/>
            <a:ext cx="16642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850" noProof="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CLASSE</a:t>
            </a:r>
            <a:endParaRPr lang="pt-PT" sz="850" noProof="0" dirty="0"/>
          </a:p>
        </p:txBody>
      </p:sp>
      <p:sp>
        <p:nvSpPr>
          <p:cNvPr id="43" name="Text 41"/>
          <p:cNvSpPr/>
          <p:nvPr/>
        </p:nvSpPr>
        <p:spPr>
          <a:xfrm>
            <a:off x="6967728" y="1188720"/>
            <a:ext cx="16459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pt-PT" sz="850" noProof="0" dirty="0"/>
          </a:p>
        </p:txBody>
      </p:sp>
      <p:sp>
        <p:nvSpPr>
          <p:cNvPr id="44" name="Shape 42"/>
          <p:cNvSpPr/>
          <p:nvPr/>
        </p:nvSpPr>
        <p:spPr>
          <a:xfrm>
            <a:off x="4846320" y="1408176"/>
            <a:ext cx="3840480" cy="228600"/>
          </a:xfrm>
          <a:prstGeom prst="rect">
            <a:avLst/>
          </a:prstGeom>
          <a:solidFill>
            <a:srgbClr val="08061A">
              <a:alpha val="20000"/>
            </a:srgbClr>
          </a:solidFill>
          <a:ln w="12700">
            <a:solidFill>
              <a:srgbClr val="08061A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45" name="Text 43"/>
          <p:cNvSpPr/>
          <p:nvPr/>
        </p:nvSpPr>
        <p:spPr>
          <a:xfrm>
            <a:off x="4873752" y="1426464"/>
            <a:ext cx="3474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850" noProof="0" dirty="0">
                <a:solidFill>
                  <a:srgbClr val="64B5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pt-PT" sz="850" noProof="0" dirty="0"/>
          </a:p>
        </p:txBody>
      </p:sp>
      <p:sp>
        <p:nvSpPr>
          <p:cNvPr id="46" name="Text 44"/>
          <p:cNvSpPr/>
          <p:nvPr/>
        </p:nvSpPr>
        <p:spPr>
          <a:xfrm>
            <a:off x="5257800" y="1426464"/>
            <a:ext cx="16642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850" noProof="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IDENTIFICADOR</a:t>
            </a:r>
            <a:endParaRPr lang="pt-PT" sz="850" noProof="0" dirty="0"/>
          </a:p>
        </p:txBody>
      </p:sp>
      <p:sp>
        <p:nvSpPr>
          <p:cNvPr id="47" name="Text 45"/>
          <p:cNvSpPr/>
          <p:nvPr/>
        </p:nvSpPr>
        <p:spPr>
          <a:xfrm>
            <a:off x="6967728" y="1426464"/>
            <a:ext cx="16459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850" noProof="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</a:t>
            </a:r>
            <a:r>
              <a:rPr lang="pt-PT" sz="850" noProof="0" dirty="0" err="1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minhaloja</a:t>
            </a:r>
            <a:r>
              <a:rPr lang="pt-PT" sz="850" noProof="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</a:t>
            </a:r>
            <a:endParaRPr lang="pt-PT" sz="850" noProof="0" dirty="0"/>
          </a:p>
        </p:txBody>
      </p:sp>
      <p:sp>
        <p:nvSpPr>
          <p:cNvPr id="48" name="Shape 46"/>
          <p:cNvSpPr/>
          <p:nvPr/>
        </p:nvSpPr>
        <p:spPr>
          <a:xfrm>
            <a:off x="4846320" y="1645920"/>
            <a:ext cx="3840480" cy="228600"/>
          </a:xfrm>
          <a:prstGeom prst="rect">
            <a:avLst/>
          </a:prstGeom>
          <a:solidFill>
            <a:srgbClr val="46406B">
              <a:alpha val="20000"/>
            </a:srgbClr>
          </a:solidFill>
          <a:ln w="12700">
            <a:solidFill>
              <a:srgbClr val="46406B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49" name="Text 47"/>
          <p:cNvSpPr/>
          <p:nvPr/>
        </p:nvSpPr>
        <p:spPr>
          <a:xfrm>
            <a:off x="4873752" y="1664208"/>
            <a:ext cx="3474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850" noProof="0" dirty="0">
                <a:solidFill>
                  <a:srgbClr val="64B5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pt-PT" sz="850" noProof="0" dirty="0"/>
          </a:p>
        </p:txBody>
      </p:sp>
      <p:sp>
        <p:nvSpPr>
          <p:cNvPr id="50" name="Text 48"/>
          <p:cNvSpPr/>
          <p:nvPr/>
        </p:nvSpPr>
        <p:spPr>
          <a:xfrm>
            <a:off x="5257800" y="1664208"/>
            <a:ext cx="16642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850" noProof="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FUNCAO</a:t>
            </a:r>
            <a:endParaRPr lang="pt-PT" sz="850" noProof="0" dirty="0"/>
          </a:p>
        </p:txBody>
      </p:sp>
      <p:sp>
        <p:nvSpPr>
          <p:cNvPr id="51" name="Text 49"/>
          <p:cNvSpPr/>
          <p:nvPr/>
        </p:nvSpPr>
        <p:spPr>
          <a:xfrm>
            <a:off x="6967728" y="1664208"/>
            <a:ext cx="16459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pt-PT" sz="850" noProof="0" dirty="0"/>
          </a:p>
        </p:txBody>
      </p:sp>
      <p:sp>
        <p:nvSpPr>
          <p:cNvPr id="52" name="Shape 50"/>
          <p:cNvSpPr/>
          <p:nvPr/>
        </p:nvSpPr>
        <p:spPr>
          <a:xfrm>
            <a:off x="4846320" y="1883664"/>
            <a:ext cx="3840480" cy="228600"/>
          </a:xfrm>
          <a:prstGeom prst="rect">
            <a:avLst/>
          </a:prstGeom>
          <a:solidFill>
            <a:srgbClr val="08061A">
              <a:alpha val="20000"/>
            </a:srgbClr>
          </a:solidFill>
          <a:ln w="12700">
            <a:solidFill>
              <a:srgbClr val="08061A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53" name="Text 51"/>
          <p:cNvSpPr/>
          <p:nvPr/>
        </p:nvSpPr>
        <p:spPr>
          <a:xfrm>
            <a:off x="4873752" y="1901952"/>
            <a:ext cx="3474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850" noProof="0" dirty="0">
                <a:solidFill>
                  <a:srgbClr val="64B5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pt-PT" sz="850" noProof="0" dirty="0"/>
          </a:p>
        </p:txBody>
      </p:sp>
      <p:sp>
        <p:nvSpPr>
          <p:cNvPr id="54" name="Text 52"/>
          <p:cNvSpPr/>
          <p:nvPr/>
        </p:nvSpPr>
        <p:spPr>
          <a:xfrm>
            <a:off x="5257800" y="1901952"/>
            <a:ext cx="16642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850" noProof="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IDENTIFICADOR</a:t>
            </a:r>
            <a:endParaRPr lang="pt-PT" sz="850" noProof="0" dirty="0"/>
          </a:p>
        </p:txBody>
      </p:sp>
      <p:sp>
        <p:nvSpPr>
          <p:cNvPr id="55" name="Text 53"/>
          <p:cNvSpPr/>
          <p:nvPr/>
        </p:nvSpPr>
        <p:spPr>
          <a:xfrm>
            <a:off x="6967728" y="1901952"/>
            <a:ext cx="16459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850" noProof="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"principal"</a:t>
            </a:r>
            <a:endParaRPr lang="pt-PT" sz="850" noProof="0" dirty="0"/>
          </a:p>
        </p:txBody>
      </p:sp>
      <p:sp>
        <p:nvSpPr>
          <p:cNvPr id="56" name="Shape 54"/>
          <p:cNvSpPr/>
          <p:nvPr/>
        </p:nvSpPr>
        <p:spPr>
          <a:xfrm>
            <a:off x="4846320" y="2121408"/>
            <a:ext cx="3840480" cy="228600"/>
          </a:xfrm>
          <a:prstGeom prst="rect">
            <a:avLst/>
          </a:prstGeom>
          <a:solidFill>
            <a:srgbClr val="46406B">
              <a:alpha val="20000"/>
            </a:srgbClr>
          </a:solidFill>
          <a:ln w="12700">
            <a:solidFill>
              <a:srgbClr val="46406B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57" name="Text 55"/>
          <p:cNvSpPr/>
          <p:nvPr/>
        </p:nvSpPr>
        <p:spPr>
          <a:xfrm>
            <a:off x="4873752" y="2139696"/>
            <a:ext cx="3474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850" noProof="0" dirty="0">
                <a:solidFill>
                  <a:srgbClr val="64B5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pt-PT" sz="850" noProof="0" dirty="0"/>
          </a:p>
        </p:txBody>
      </p:sp>
      <p:sp>
        <p:nvSpPr>
          <p:cNvPr id="58" name="Text 56"/>
          <p:cNvSpPr/>
          <p:nvPr/>
        </p:nvSpPr>
        <p:spPr>
          <a:xfrm>
            <a:off x="5257800" y="2139696"/>
            <a:ext cx="16642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850" noProof="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INTEIRO</a:t>
            </a:r>
            <a:endParaRPr lang="pt-PT" sz="850" noProof="0" dirty="0"/>
          </a:p>
        </p:txBody>
      </p:sp>
      <p:sp>
        <p:nvSpPr>
          <p:cNvPr id="59" name="Text 57"/>
          <p:cNvSpPr/>
          <p:nvPr/>
        </p:nvSpPr>
        <p:spPr>
          <a:xfrm>
            <a:off x="6967728" y="2139696"/>
            <a:ext cx="16459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pt-PT" sz="850" noProof="0" dirty="0"/>
          </a:p>
        </p:txBody>
      </p:sp>
      <p:sp>
        <p:nvSpPr>
          <p:cNvPr id="60" name="Shape 58"/>
          <p:cNvSpPr/>
          <p:nvPr/>
        </p:nvSpPr>
        <p:spPr>
          <a:xfrm>
            <a:off x="4846320" y="2359152"/>
            <a:ext cx="3840480" cy="228600"/>
          </a:xfrm>
          <a:prstGeom prst="rect">
            <a:avLst/>
          </a:prstGeom>
          <a:solidFill>
            <a:srgbClr val="08061A">
              <a:alpha val="20000"/>
            </a:srgbClr>
          </a:solidFill>
          <a:ln w="12700">
            <a:solidFill>
              <a:srgbClr val="08061A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61" name="Text 59"/>
          <p:cNvSpPr/>
          <p:nvPr/>
        </p:nvSpPr>
        <p:spPr>
          <a:xfrm>
            <a:off x="4873752" y="2377440"/>
            <a:ext cx="3474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850" noProof="0" dirty="0">
                <a:solidFill>
                  <a:srgbClr val="64B5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pt-PT" sz="850" noProof="0" dirty="0"/>
          </a:p>
        </p:txBody>
      </p:sp>
      <p:sp>
        <p:nvSpPr>
          <p:cNvPr id="62" name="Text 60"/>
          <p:cNvSpPr/>
          <p:nvPr/>
        </p:nvSpPr>
        <p:spPr>
          <a:xfrm>
            <a:off x="5257800" y="2377440"/>
            <a:ext cx="16642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850" noProof="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IDENTIFICADOR</a:t>
            </a:r>
            <a:endParaRPr lang="pt-PT" sz="850" noProof="0" dirty="0"/>
          </a:p>
        </p:txBody>
      </p:sp>
      <p:sp>
        <p:nvSpPr>
          <p:cNvPr id="63" name="Text 61"/>
          <p:cNvSpPr/>
          <p:nvPr/>
        </p:nvSpPr>
        <p:spPr>
          <a:xfrm>
            <a:off x="6967728" y="2377440"/>
            <a:ext cx="16459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850" noProof="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</a:t>
            </a:r>
            <a:r>
              <a:rPr lang="pt-PT" sz="850" noProof="0" dirty="0" err="1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</a:t>
            </a:r>
            <a:r>
              <a:rPr lang="pt-PT" sz="850" noProof="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</a:t>
            </a:r>
            <a:endParaRPr lang="pt-PT" sz="850" noProof="0" dirty="0"/>
          </a:p>
        </p:txBody>
      </p:sp>
      <p:sp>
        <p:nvSpPr>
          <p:cNvPr id="64" name="Shape 62"/>
          <p:cNvSpPr/>
          <p:nvPr/>
        </p:nvSpPr>
        <p:spPr>
          <a:xfrm>
            <a:off x="4846320" y="2596896"/>
            <a:ext cx="3840480" cy="228600"/>
          </a:xfrm>
          <a:prstGeom prst="rect">
            <a:avLst/>
          </a:prstGeom>
          <a:solidFill>
            <a:srgbClr val="46406B">
              <a:alpha val="20000"/>
            </a:srgbClr>
          </a:solidFill>
          <a:ln w="12700">
            <a:solidFill>
              <a:srgbClr val="46406B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65" name="Text 63"/>
          <p:cNvSpPr/>
          <p:nvPr/>
        </p:nvSpPr>
        <p:spPr>
          <a:xfrm>
            <a:off x="4873752" y="2615184"/>
            <a:ext cx="3474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850" noProof="0" dirty="0">
                <a:solidFill>
                  <a:srgbClr val="64B5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pt-PT" sz="850" noProof="0" dirty="0"/>
          </a:p>
        </p:txBody>
      </p:sp>
      <p:sp>
        <p:nvSpPr>
          <p:cNvPr id="66" name="Text 64"/>
          <p:cNvSpPr/>
          <p:nvPr/>
        </p:nvSpPr>
        <p:spPr>
          <a:xfrm>
            <a:off x="5257800" y="2615184"/>
            <a:ext cx="16642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850" noProof="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ATRIBUIR</a:t>
            </a:r>
            <a:endParaRPr lang="pt-PT" sz="850" noProof="0" dirty="0"/>
          </a:p>
        </p:txBody>
      </p:sp>
      <p:sp>
        <p:nvSpPr>
          <p:cNvPr id="67" name="Text 65"/>
          <p:cNvSpPr/>
          <p:nvPr/>
        </p:nvSpPr>
        <p:spPr>
          <a:xfrm>
            <a:off x="6967728" y="2615184"/>
            <a:ext cx="16459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pt-PT" sz="850" noProof="0" dirty="0"/>
          </a:p>
        </p:txBody>
      </p:sp>
      <p:sp>
        <p:nvSpPr>
          <p:cNvPr id="68" name="Shape 66"/>
          <p:cNvSpPr/>
          <p:nvPr/>
        </p:nvSpPr>
        <p:spPr>
          <a:xfrm>
            <a:off x="4846320" y="2834640"/>
            <a:ext cx="3840480" cy="228600"/>
          </a:xfrm>
          <a:prstGeom prst="rect">
            <a:avLst/>
          </a:prstGeom>
          <a:solidFill>
            <a:srgbClr val="08061A">
              <a:alpha val="20000"/>
            </a:srgbClr>
          </a:solidFill>
          <a:ln w="12700">
            <a:solidFill>
              <a:srgbClr val="08061A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69" name="Text 67"/>
          <p:cNvSpPr/>
          <p:nvPr/>
        </p:nvSpPr>
        <p:spPr>
          <a:xfrm>
            <a:off x="4873752" y="2852928"/>
            <a:ext cx="3474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850" noProof="0" dirty="0">
                <a:solidFill>
                  <a:srgbClr val="64B5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pt-PT" sz="850" noProof="0" dirty="0"/>
          </a:p>
        </p:txBody>
      </p:sp>
      <p:sp>
        <p:nvSpPr>
          <p:cNvPr id="70" name="Text 68"/>
          <p:cNvSpPr/>
          <p:nvPr/>
        </p:nvSpPr>
        <p:spPr>
          <a:xfrm>
            <a:off x="5257800" y="2852928"/>
            <a:ext cx="16642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850" noProof="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LIT_INTEIRO</a:t>
            </a:r>
            <a:endParaRPr lang="pt-PT" sz="850" noProof="0" dirty="0"/>
          </a:p>
        </p:txBody>
      </p:sp>
      <p:sp>
        <p:nvSpPr>
          <p:cNvPr id="71" name="Text 69"/>
          <p:cNvSpPr/>
          <p:nvPr/>
        </p:nvSpPr>
        <p:spPr>
          <a:xfrm>
            <a:off x="6967728" y="2852928"/>
            <a:ext cx="16459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850" noProof="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"50"</a:t>
            </a:r>
            <a:endParaRPr lang="pt-PT" sz="850" noProof="0" dirty="0"/>
          </a:p>
        </p:txBody>
      </p:sp>
      <p:sp>
        <p:nvSpPr>
          <p:cNvPr id="72" name="Shape 70"/>
          <p:cNvSpPr/>
          <p:nvPr/>
        </p:nvSpPr>
        <p:spPr>
          <a:xfrm>
            <a:off x="4846320" y="3072384"/>
            <a:ext cx="3840480" cy="228600"/>
          </a:xfrm>
          <a:prstGeom prst="rect">
            <a:avLst/>
          </a:prstGeom>
          <a:solidFill>
            <a:srgbClr val="46406B">
              <a:alpha val="20000"/>
            </a:srgbClr>
          </a:solidFill>
          <a:ln w="12700">
            <a:solidFill>
              <a:srgbClr val="46406B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73" name="Text 71"/>
          <p:cNvSpPr/>
          <p:nvPr/>
        </p:nvSpPr>
        <p:spPr>
          <a:xfrm>
            <a:off x="4873752" y="3090672"/>
            <a:ext cx="3474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850" noProof="0" dirty="0">
                <a:solidFill>
                  <a:srgbClr val="64B5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pt-PT" sz="850" noProof="0" dirty="0"/>
          </a:p>
        </p:txBody>
      </p:sp>
      <p:sp>
        <p:nvSpPr>
          <p:cNvPr id="74" name="Text 72"/>
          <p:cNvSpPr/>
          <p:nvPr/>
        </p:nvSpPr>
        <p:spPr>
          <a:xfrm>
            <a:off x="5257800" y="3090672"/>
            <a:ext cx="16642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850" noProof="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</a:t>
            </a:r>
            <a:endParaRPr lang="pt-PT" sz="850" noProof="0" dirty="0"/>
          </a:p>
        </p:txBody>
      </p:sp>
      <p:sp>
        <p:nvSpPr>
          <p:cNvPr id="75" name="Text 73"/>
          <p:cNvSpPr/>
          <p:nvPr/>
        </p:nvSpPr>
        <p:spPr>
          <a:xfrm>
            <a:off x="6967728" y="3090672"/>
            <a:ext cx="16459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pt-PT" sz="850" noProof="0" dirty="0"/>
          </a:p>
        </p:txBody>
      </p:sp>
      <p:sp>
        <p:nvSpPr>
          <p:cNvPr id="76" name="Text 74"/>
          <p:cNvSpPr/>
          <p:nvPr/>
        </p:nvSpPr>
        <p:spPr>
          <a:xfrm>
            <a:off x="502920" y="3291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t-PT" sz="1100" b="1" noProof="0" dirty="0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Linha:</a:t>
            </a:r>
            <a:r>
              <a:rPr lang="pt-PT" sz="110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onde está o </a:t>
            </a:r>
            <a:r>
              <a:rPr lang="pt-PT" sz="1100" noProof="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</a:t>
            </a:r>
            <a:r>
              <a:rPr lang="pt-PT" sz="110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 código-fonte.</a:t>
            </a:r>
            <a:endParaRPr lang="pt-PT" sz="1100" noProof="0" dirty="0"/>
          </a:p>
        </p:txBody>
      </p:sp>
      <p:sp>
        <p:nvSpPr>
          <p:cNvPr id="77" name="Text 75"/>
          <p:cNvSpPr/>
          <p:nvPr/>
        </p:nvSpPr>
        <p:spPr>
          <a:xfrm>
            <a:off x="502920" y="3611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t-PT" sz="1100" b="1" noProof="0" dirty="0" err="1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</a:t>
            </a:r>
            <a:r>
              <a:rPr lang="pt-PT" sz="1100" b="1" noProof="0" dirty="0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r>
              <a:rPr lang="pt-PT" sz="110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tipo do elemento (CLASSE, INTEIRO, IDENTIFICADOR...).</a:t>
            </a:r>
            <a:endParaRPr lang="pt-PT" sz="1100" noProof="0" dirty="0"/>
          </a:p>
        </p:txBody>
      </p:sp>
      <p:sp>
        <p:nvSpPr>
          <p:cNvPr id="78" name="Text 76"/>
          <p:cNvSpPr/>
          <p:nvPr/>
        </p:nvSpPr>
        <p:spPr>
          <a:xfrm>
            <a:off x="502920" y="3931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t-PT" sz="1100" b="1" noProof="0" dirty="0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Atributo:</a:t>
            </a:r>
            <a:r>
              <a:rPr lang="pt-PT" sz="110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valor </a:t>
            </a:r>
            <a:r>
              <a:rPr lang="pt-PT" sz="1100" noProof="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exacto</a:t>
            </a:r>
            <a:r>
              <a:rPr lang="pt-PT" sz="110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só aparece em identificadores e literais.</a:t>
            </a:r>
            <a:endParaRPr lang="pt-PT" sz="1100" noProof="0" dirty="0"/>
          </a:p>
        </p:txBody>
      </p:sp>
      <p:sp>
        <p:nvSpPr>
          <p:cNvPr id="79" name="Text 77"/>
          <p:cNvSpPr/>
          <p:nvPr/>
        </p:nvSpPr>
        <p:spPr>
          <a:xfrm>
            <a:off x="502920" y="43434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200" b="1" noProof="0" dirty="0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Erros léxicos: 0   ✓   </a:t>
            </a:r>
            <a:r>
              <a:rPr lang="pt-PT" sz="1200" b="1" noProof="0" dirty="0" err="1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</a:t>
            </a:r>
            <a:r>
              <a:rPr lang="pt-PT" sz="1200" b="1" noProof="0" dirty="0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reconhecidos: 60+</a:t>
            </a:r>
            <a:endParaRPr lang="pt-PT" sz="1200" noProof="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10E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164592"/>
            <a:ext cx="2286000" cy="0"/>
          </a:xfrm>
          <a:prstGeom prst="line">
            <a:avLst/>
          </a:prstGeom>
          <a:noFill/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3" name="Shape 1"/>
          <p:cNvSpPr/>
          <p:nvPr/>
        </p:nvSpPr>
        <p:spPr>
          <a:xfrm>
            <a:off x="7498080" y="347472"/>
            <a:ext cx="1371600" cy="0"/>
          </a:xfrm>
          <a:prstGeom prst="line">
            <a:avLst/>
          </a:prstGeom>
          <a:noFill/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4" name="Shape 2"/>
          <p:cNvSpPr/>
          <p:nvPr/>
        </p:nvSpPr>
        <p:spPr>
          <a:xfrm>
            <a:off x="6217920" y="502920"/>
            <a:ext cx="182880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5" name="Shape 3"/>
          <p:cNvSpPr/>
          <p:nvPr/>
        </p:nvSpPr>
        <p:spPr>
          <a:xfrm>
            <a:off x="8732520" y="137160"/>
            <a:ext cx="0" cy="2011680"/>
          </a:xfrm>
          <a:prstGeom prst="line">
            <a:avLst/>
          </a:prstGeom>
          <a:noFill/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6" name="Shape 4"/>
          <p:cNvSpPr/>
          <p:nvPr/>
        </p:nvSpPr>
        <p:spPr>
          <a:xfrm>
            <a:off x="8503920" y="320040"/>
            <a:ext cx="0" cy="164592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7" name="Shape 5"/>
          <p:cNvSpPr/>
          <p:nvPr/>
        </p:nvSpPr>
        <p:spPr>
          <a:xfrm>
            <a:off x="137160" y="4663440"/>
            <a:ext cx="2011680" cy="0"/>
          </a:xfrm>
          <a:prstGeom prst="line">
            <a:avLst/>
          </a:prstGeom>
          <a:noFill/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8" name="Shape 6"/>
          <p:cNvSpPr/>
          <p:nvPr/>
        </p:nvSpPr>
        <p:spPr>
          <a:xfrm>
            <a:off x="137160" y="4480560"/>
            <a:ext cx="137160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9" name="Shape 7"/>
          <p:cNvSpPr/>
          <p:nvPr/>
        </p:nvSpPr>
        <p:spPr>
          <a:xfrm>
            <a:off x="201168" y="3200400"/>
            <a:ext cx="0" cy="1645920"/>
          </a:xfrm>
          <a:prstGeom prst="line">
            <a:avLst/>
          </a:prstGeom>
          <a:noFill/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0" name="Shape 8"/>
          <p:cNvSpPr/>
          <p:nvPr/>
        </p:nvSpPr>
        <p:spPr>
          <a:xfrm>
            <a:off x="384048" y="3474720"/>
            <a:ext cx="0" cy="1371600"/>
          </a:xfrm>
          <a:prstGeom prst="line">
            <a:avLst/>
          </a:prstGeom>
          <a:noFill/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1" name="Shape 9"/>
          <p:cNvSpPr/>
          <p:nvPr/>
        </p:nvSpPr>
        <p:spPr>
          <a:xfrm>
            <a:off x="0" y="4983480"/>
            <a:ext cx="3657600" cy="0"/>
          </a:xfrm>
          <a:prstGeom prst="line">
            <a:avLst/>
          </a:prstGeom>
          <a:noFill/>
          <a:ln w="1524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0" y="4983480"/>
            <a:ext cx="3657600" cy="0"/>
          </a:xfrm>
          <a:prstGeom prst="line">
            <a:avLst/>
          </a:prstGeom>
          <a:noFill/>
          <a:ln w="1524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3" name="Shape 11"/>
          <p:cNvSpPr/>
          <p:nvPr/>
        </p:nvSpPr>
        <p:spPr>
          <a:xfrm>
            <a:off x="73152" y="320040"/>
            <a:ext cx="54864" cy="54864"/>
          </a:xfrm>
          <a:prstGeom prst="ellipse">
            <a:avLst/>
          </a:prstGeom>
          <a:solidFill>
            <a:srgbClr val="00CADA">
              <a:alpha val="60000"/>
            </a:srgbClr>
          </a:solidFill>
          <a:ln w="1270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4" name="Shape 12"/>
          <p:cNvSpPr/>
          <p:nvPr/>
        </p:nvSpPr>
        <p:spPr>
          <a:xfrm>
            <a:off x="228600" y="228600"/>
            <a:ext cx="54864" cy="54864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5" name="Shape 13"/>
          <p:cNvSpPr/>
          <p:nvPr/>
        </p:nvSpPr>
        <p:spPr>
          <a:xfrm>
            <a:off x="8686800" y="4480560"/>
            <a:ext cx="54864" cy="54864"/>
          </a:xfrm>
          <a:prstGeom prst="ellipse">
            <a:avLst/>
          </a:prstGeom>
          <a:solidFill>
            <a:srgbClr val="00CADA">
              <a:alpha val="60000"/>
            </a:srgbClr>
          </a:solidFill>
          <a:ln w="1270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6" name="Shape 14"/>
          <p:cNvSpPr/>
          <p:nvPr/>
        </p:nvSpPr>
        <p:spPr>
          <a:xfrm>
            <a:off x="8823960" y="4617720"/>
            <a:ext cx="54864" cy="54864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7" name="Shape 15"/>
          <p:cNvSpPr/>
          <p:nvPr/>
        </p:nvSpPr>
        <p:spPr>
          <a:xfrm>
            <a:off x="6537960" y="128016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8" name="Shape 16"/>
          <p:cNvSpPr/>
          <p:nvPr/>
        </p:nvSpPr>
        <p:spPr>
          <a:xfrm>
            <a:off x="8851392" y="128016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9" name="Shape 17"/>
          <p:cNvSpPr/>
          <p:nvPr/>
        </p:nvSpPr>
        <p:spPr>
          <a:xfrm>
            <a:off x="8851392" y="214884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0" name="Shape 18"/>
          <p:cNvSpPr/>
          <p:nvPr/>
        </p:nvSpPr>
        <p:spPr>
          <a:xfrm>
            <a:off x="118872" y="443484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1" name="Shape 19"/>
          <p:cNvSpPr/>
          <p:nvPr/>
        </p:nvSpPr>
        <p:spPr>
          <a:xfrm>
            <a:off x="118872" y="470916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2" name="Shape 20"/>
          <p:cNvSpPr/>
          <p:nvPr/>
        </p:nvSpPr>
        <p:spPr>
          <a:xfrm>
            <a:off x="2121408" y="4681728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3" name="Shape 21"/>
          <p:cNvSpPr/>
          <p:nvPr/>
        </p:nvSpPr>
        <p:spPr>
          <a:xfrm rot="5400000">
            <a:off x="3657600" y="2240280"/>
            <a:ext cx="268834" cy="384048"/>
          </a:xfrm>
          <a:prstGeom prst="rtTriangle">
            <a:avLst/>
          </a:prstGeom>
          <a:solidFill>
            <a:srgbClr val="00CADA"/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4" name="Text 22"/>
          <p:cNvSpPr/>
          <p:nvPr/>
        </p:nvSpPr>
        <p:spPr>
          <a:xfrm>
            <a:off x="4187952" y="2157984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3800" b="1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</a:t>
            </a:r>
            <a:endParaRPr lang="pt-PT" sz="3800" noProof="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10E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164592"/>
            <a:ext cx="2286000" cy="0"/>
          </a:xfrm>
          <a:prstGeom prst="line">
            <a:avLst/>
          </a:prstGeom>
          <a:noFill/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3" name="Shape 1"/>
          <p:cNvSpPr/>
          <p:nvPr/>
        </p:nvSpPr>
        <p:spPr>
          <a:xfrm>
            <a:off x="7498080" y="347472"/>
            <a:ext cx="1371600" cy="0"/>
          </a:xfrm>
          <a:prstGeom prst="line">
            <a:avLst/>
          </a:prstGeom>
          <a:noFill/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4" name="Shape 2"/>
          <p:cNvSpPr/>
          <p:nvPr/>
        </p:nvSpPr>
        <p:spPr>
          <a:xfrm>
            <a:off x="6217920" y="502920"/>
            <a:ext cx="182880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5" name="Shape 3"/>
          <p:cNvSpPr/>
          <p:nvPr/>
        </p:nvSpPr>
        <p:spPr>
          <a:xfrm>
            <a:off x="8732520" y="137160"/>
            <a:ext cx="0" cy="2011680"/>
          </a:xfrm>
          <a:prstGeom prst="line">
            <a:avLst/>
          </a:prstGeom>
          <a:noFill/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6" name="Shape 4"/>
          <p:cNvSpPr/>
          <p:nvPr/>
        </p:nvSpPr>
        <p:spPr>
          <a:xfrm>
            <a:off x="8503920" y="320040"/>
            <a:ext cx="0" cy="164592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7" name="Shape 5"/>
          <p:cNvSpPr/>
          <p:nvPr/>
        </p:nvSpPr>
        <p:spPr>
          <a:xfrm>
            <a:off x="137160" y="4663440"/>
            <a:ext cx="2011680" cy="0"/>
          </a:xfrm>
          <a:prstGeom prst="line">
            <a:avLst/>
          </a:prstGeom>
          <a:noFill/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8" name="Shape 6"/>
          <p:cNvSpPr/>
          <p:nvPr/>
        </p:nvSpPr>
        <p:spPr>
          <a:xfrm>
            <a:off x="137160" y="4480560"/>
            <a:ext cx="137160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9" name="Shape 7"/>
          <p:cNvSpPr/>
          <p:nvPr/>
        </p:nvSpPr>
        <p:spPr>
          <a:xfrm>
            <a:off x="201168" y="3200400"/>
            <a:ext cx="0" cy="1645920"/>
          </a:xfrm>
          <a:prstGeom prst="line">
            <a:avLst/>
          </a:prstGeom>
          <a:noFill/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0" name="Shape 8"/>
          <p:cNvSpPr/>
          <p:nvPr/>
        </p:nvSpPr>
        <p:spPr>
          <a:xfrm>
            <a:off x="384048" y="3474720"/>
            <a:ext cx="0" cy="1371600"/>
          </a:xfrm>
          <a:prstGeom prst="line">
            <a:avLst/>
          </a:prstGeom>
          <a:noFill/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1" name="Shape 9"/>
          <p:cNvSpPr/>
          <p:nvPr/>
        </p:nvSpPr>
        <p:spPr>
          <a:xfrm>
            <a:off x="0" y="4983480"/>
            <a:ext cx="3657600" cy="0"/>
          </a:xfrm>
          <a:prstGeom prst="line">
            <a:avLst/>
          </a:prstGeom>
          <a:noFill/>
          <a:ln w="1524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0" y="4983480"/>
            <a:ext cx="3657600" cy="0"/>
          </a:xfrm>
          <a:prstGeom prst="line">
            <a:avLst/>
          </a:prstGeom>
          <a:noFill/>
          <a:ln w="1524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3" name="Shape 11"/>
          <p:cNvSpPr/>
          <p:nvPr/>
        </p:nvSpPr>
        <p:spPr>
          <a:xfrm>
            <a:off x="73152" y="320040"/>
            <a:ext cx="54864" cy="54864"/>
          </a:xfrm>
          <a:prstGeom prst="ellipse">
            <a:avLst/>
          </a:prstGeom>
          <a:solidFill>
            <a:srgbClr val="00CADA">
              <a:alpha val="60000"/>
            </a:srgbClr>
          </a:solidFill>
          <a:ln w="1270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4" name="Shape 12"/>
          <p:cNvSpPr/>
          <p:nvPr/>
        </p:nvSpPr>
        <p:spPr>
          <a:xfrm>
            <a:off x="228600" y="228600"/>
            <a:ext cx="54864" cy="54864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5" name="Shape 13"/>
          <p:cNvSpPr/>
          <p:nvPr/>
        </p:nvSpPr>
        <p:spPr>
          <a:xfrm>
            <a:off x="8686800" y="4480560"/>
            <a:ext cx="54864" cy="54864"/>
          </a:xfrm>
          <a:prstGeom prst="ellipse">
            <a:avLst/>
          </a:prstGeom>
          <a:solidFill>
            <a:srgbClr val="00CADA">
              <a:alpha val="60000"/>
            </a:srgbClr>
          </a:solidFill>
          <a:ln w="1270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6" name="Shape 14"/>
          <p:cNvSpPr/>
          <p:nvPr/>
        </p:nvSpPr>
        <p:spPr>
          <a:xfrm>
            <a:off x="8823960" y="4617720"/>
            <a:ext cx="54864" cy="54864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7" name="Shape 15"/>
          <p:cNvSpPr/>
          <p:nvPr/>
        </p:nvSpPr>
        <p:spPr>
          <a:xfrm>
            <a:off x="6537960" y="128016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8" name="Shape 16"/>
          <p:cNvSpPr/>
          <p:nvPr/>
        </p:nvSpPr>
        <p:spPr>
          <a:xfrm>
            <a:off x="8851392" y="128016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9" name="Shape 17"/>
          <p:cNvSpPr/>
          <p:nvPr/>
        </p:nvSpPr>
        <p:spPr>
          <a:xfrm>
            <a:off x="8851392" y="214884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0" name="Shape 18"/>
          <p:cNvSpPr/>
          <p:nvPr/>
        </p:nvSpPr>
        <p:spPr>
          <a:xfrm>
            <a:off x="118872" y="443484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1" name="Shape 19"/>
          <p:cNvSpPr/>
          <p:nvPr/>
        </p:nvSpPr>
        <p:spPr>
          <a:xfrm>
            <a:off x="118872" y="470916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2" name="Shape 20"/>
          <p:cNvSpPr/>
          <p:nvPr/>
        </p:nvSpPr>
        <p:spPr>
          <a:xfrm>
            <a:off x="2121408" y="4681728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3" name="Text 21"/>
          <p:cNvSpPr/>
          <p:nvPr/>
        </p:nvSpPr>
        <p:spPr>
          <a:xfrm>
            <a:off x="502920" y="475488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2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</a:t>
            </a:r>
            <a:r>
              <a:rPr lang="pt-PT" sz="1250" noProof="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AnaLex</a:t>
            </a:r>
            <a:r>
              <a:rPr lang="pt-PT" sz="12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 linguagem Hidra foi implementado em Java seguindo a metodologia do </a:t>
            </a:r>
            <a:r>
              <a:rPr lang="pt-PT" sz="1250" noProof="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jFlex</a:t>
            </a:r>
            <a:r>
              <a:rPr lang="pt-PT" sz="12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O ficheiro </a:t>
            </a:r>
            <a:r>
              <a:rPr lang="pt-PT" sz="1250" noProof="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hidra.flex</a:t>
            </a:r>
            <a:r>
              <a:rPr lang="pt-PT" sz="12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descreve as regras léxicas que definem todos os </a:t>
            </a:r>
            <a:r>
              <a:rPr lang="pt-PT" sz="1250" noProof="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</a:t>
            </a:r>
            <a:r>
              <a:rPr lang="pt-PT" sz="12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reconhecidos — palavras reservadas, operadores, delimitadores e literais.</a:t>
            </a:r>
            <a:endParaRPr lang="pt-PT" sz="1250" noProof="0" dirty="0"/>
          </a:p>
        </p:txBody>
      </p:sp>
      <p:sp>
        <p:nvSpPr>
          <p:cNvPr id="24" name="Text 22"/>
          <p:cNvSpPr/>
          <p:nvPr/>
        </p:nvSpPr>
        <p:spPr>
          <a:xfrm>
            <a:off x="502920" y="1755648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2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duas tabelas </a:t>
            </a:r>
            <a:r>
              <a:rPr lang="pt-PT" sz="1250" noProof="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HashMap</a:t>
            </a:r>
            <a:r>
              <a:rPr lang="pt-PT" sz="12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garantem o reconhecimento correto: a Tabela de Palavras Reservadas distingue palavras reservadas de identificadores, e a Tabela de Símbolos regista todos os identificadores declarados durante a análise.</a:t>
            </a:r>
            <a:endParaRPr lang="pt-PT" sz="1250" noProof="0" dirty="0"/>
          </a:p>
        </p:txBody>
      </p:sp>
      <p:sp>
        <p:nvSpPr>
          <p:cNvPr id="25" name="Shape 23"/>
          <p:cNvSpPr/>
          <p:nvPr/>
        </p:nvSpPr>
        <p:spPr>
          <a:xfrm>
            <a:off x="384048" y="3090672"/>
            <a:ext cx="91440" cy="91440"/>
          </a:xfrm>
          <a:prstGeom prst="ellipse">
            <a:avLst/>
          </a:prstGeom>
          <a:solidFill>
            <a:srgbClr val="00CADA"/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6" name="Text 24"/>
          <p:cNvSpPr/>
          <p:nvPr/>
        </p:nvSpPr>
        <p:spPr>
          <a:xfrm>
            <a:off x="566928" y="303580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1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60+ </a:t>
            </a:r>
            <a:r>
              <a:rPr lang="pt-PT" sz="1150" noProof="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</a:t>
            </a:r>
            <a:r>
              <a:rPr lang="pt-PT" sz="11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reconhecidos — 0 erros léxicos no programa de teste.</a:t>
            </a:r>
            <a:endParaRPr lang="pt-PT" sz="1150" noProof="0" dirty="0"/>
          </a:p>
        </p:txBody>
      </p:sp>
      <p:sp>
        <p:nvSpPr>
          <p:cNvPr id="27" name="Shape 25"/>
          <p:cNvSpPr/>
          <p:nvPr/>
        </p:nvSpPr>
        <p:spPr>
          <a:xfrm>
            <a:off x="384048" y="3456432"/>
            <a:ext cx="91440" cy="91440"/>
          </a:xfrm>
          <a:prstGeom prst="ellipse">
            <a:avLst/>
          </a:prstGeom>
          <a:solidFill>
            <a:srgbClr val="00CADA"/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8" name="Text 26"/>
          <p:cNvSpPr/>
          <p:nvPr/>
        </p:nvSpPr>
        <p:spPr>
          <a:xfrm>
            <a:off x="566928" y="340156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1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Insensível a maiúsculas/minúsculas conforme especificado.</a:t>
            </a:r>
            <a:endParaRPr lang="pt-PT" sz="1150" noProof="0" dirty="0"/>
          </a:p>
        </p:txBody>
      </p:sp>
      <p:sp>
        <p:nvSpPr>
          <p:cNvPr id="29" name="Shape 27"/>
          <p:cNvSpPr/>
          <p:nvPr/>
        </p:nvSpPr>
        <p:spPr>
          <a:xfrm>
            <a:off x="384048" y="3822192"/>
            <a:ext cx="91440" cy="91440"/>
          </a:xfrm>
          <a:prstGeom prst="ellipse">
            <a:avLst/>
          </a:prstGeom>
          <a:solidFill>
            <a:srgbClr val="00CADA"/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30" name="Text 28"/>
          <p:cNvSpPr/>
          <p:nvPr/>
        </p:nvSpPr>
        <p:spPr>
          <a:xfrm>
            <a:off x="566928" y="376732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1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Comentários ignorados corretamente (// e /* ... */).</a:t>
            </a:r>
            <a:endParaRPr lang="pt-PT" sz="1150" noProof="0" dirty="0"/>
          </a:p>
        </p:txBody>
      </p:sp>
      <p:sp>
        <p:nvSpPr>
          <p:cNvPr id="31" name="Shape 29"/>
          <p:cNvSpPr/>
          <p:nvPr/>
        </p:nvSpPr>
        <p:spPr>
          <a:xfrm>
            <a:off x="384048" y="4187952"/>
            <a:ext cx="91440" cy="91440"/>
          </a:xfrm>
          <a:prstGeom prst="ellipse">
            <a:avLst/>
          </a:prstGeom>
          <a:solidFill>
            <a:srgbClr val="00CADA"/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32" name="Text 30"/>
          <p:cNvSpPr/>
          <p:nvPr/>
        </p:nvSpPr>
        <p:spPr>
          <a:xfrm>
            <a:off x="566928" y="413308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PT" sz="115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Pronto para integrar o Analisador Sintático na Fase 3.</a:t>
            </a:r>
            <a:endParaRPr lang="pt-PT" sz="1150" noProof="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D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164592"/>
            <a:ext cx="2286000" cy="0"/>
          </a:xfrm>
          <a:prstGeom prst="line">
            <a:avLst/>
          </a:prstGeom>
          <a:noFill/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3" name="Shape 1"/>
          <p:cNvSpPr/>
          <p:nvPr/>
        </p:nvSpPr>
        <p:spPr>
          <a:xfrm>
            <a:off x="7498080" y="347472"/>
            <a:ext cx="1371600" cy="0"/>
          </a:xfrm>
          <a:prstGeom prst="line">
            <a:avLst/>
          </a:prstGeom>
          <a:noFill/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4" name="Shape 2"/>
          <p:cNvSpPr/>
          <p:nvPr/>
        </p:nvSpPr>
        <p:spPr>
          <a:xfrm>
            <a:off x="6217920" y="502920"/>
            <a:ext cx="182880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5" name="Shape 3"/>
          <p:cNvSpPr/>
          <p:nvPr/>
        </p:nvSpPr>
        <p:spPr>
          <a:xfrm>
            <a:off x="8732520" y="137160"/>
            <a:ext cx="0" cy="2011680"/>
          </a:xfrm>
          <a:prstGeom prst="line">
            <a:avLst/>
          </a:prstGeom>
          <a:noFill/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6" name="Shape 4"/>
          <p:cNvSpPr/>
          <p:nvPr/>
        </p:nvSpPr>
        <p:spPr>
          <a:xfrm>
            <a:off x="8503920" y="320040"/>
            <a:ext cx="0" cy="164592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7" name="Shape 5"/>
          <p:cNvSpPr/>
          <p:nvPr/>
        </p:nvSpPr>
        <p:spPr>
          <a:xfrm>
            <a:off x="137160" y="4663440"/>
            <a:ext cx="2011680" cy="0"/>
          </a:xfrm>
          <a:prstGeom prst="line">
            <a:avLst/>
          </a:prstGeom>
          <a:noFill/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8" name="Shape 6"/>
          <p:cNvSpPr/>
          <p:nvPr/>
        </p:nvSpPr>
        <p:spPr>
          <a:xfrm>
            <a:off x="137160" y="4480560"/>
            <a:ext cx="137160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9" name="Shape 7"/>
          <p:cNvSpPr/>
          <p:nvPr/>
        </p:nvSpPr>
        <p:spPr>
          <a:xfrm>
            <a:off x="201168" y="3200400"/>
            <a:ext cx="0" cy="1645920"/>
          </a:xfrm>
          <a:prstGeom prst="line">
            <a:avLst/>
          </a:prstGeom>
          <a:noFill/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0" name="Shape 8"/>
          <p:cNvSpPr/>
          <p:nvPr/>
        </p:nvSpPr>
        <p:spPr>
          <a:xfrm>
            <a:off x="384048" y="3474720"/>
            <a:ext cx="0" cy="1371600"/>
          </a:xfrm>
          <a:prstGeom prst="line">
            <a:avLst/>
          </a:prstGeom>
          <a:noFill/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1" name="Shape 9"/>
          <p:cNvSpPr/>
          <p:nvPr/>
        </p:nvSpPr>
        <p:spPr>
          <a:xfrm>
            <a:off x="0" y="4983480"/>
            <a:ext cx="3657600" cy="0"/>
          </a:xfrm>
          <a:prstGeom prst="line">
            <a:avLst/>
          </a:prstGeom>
          <a:noFill/>
          <a:ln w="1524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0" y="4983480"/>
            <a:ext cx="3657600" cy="0"/>
          </a:xfrm>
          <a:prstGeom prst="line">
            <a:avLst/>
          </a:prstGeom>
          <a:noFill/>
          <a:ln w="1524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3" name="Shape 11"/>
          <p:cNvSpPr/>
          <p:nvPr/>
        </p:nvSpPr>
        <p:spPr>
          <a:xfrm>
            <a:off x="73152" y="320040"/>
            <a:ext cx="54864" cy="54864"/>
          </a:xfrm>
          <a:prstGeom prst="ellipse">
            <a:avLst/>
          </a:prstGeom>
          <a:solidFill>
            <a:srgbClr val="00CADA">
              <a:alpha val="60000"/>
            </a:srgbClr>
          </a:solidFill>
          <a:ln w="1270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4" name="Shape 12"/>
          <p:cNvSpPr/>
          <p:nvPr/>
        </p:nvSpPr>
        <p:spPr>
          <a:xfrm>
            <a:off x="228600" y="228600"/>
            <a:ext cx="54864" cy="54864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5" name="Shape 13"/>
          <p:cNvSpPr/>
          <p:nvPr/>
        </p:nvSpPr>
        <p:spPr>
          <a:xfrm>
            <a:off x="8686800" y="4480560"/>
            <a:ext cx="54864" cy="54864"/>
          </a:xfrm>
          <a:prstGeom prst="ellipse">
            <a:avLst/>
          </a:prstGeom>
          <a:solidFill>
            <a:srgbClr val="00CADA">
              <a:alpha val="60000"/>
            </a:srgbClr>
          </a:solidFill>
          <a:ln w="12700">
            <a:solidFill>
              <a:srgbClr val="00CAD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6" name="Shape 14"/>
          <p:cNvSpPr/>
          <p:nvPr/>
        </p:nvSpPr>
        <p:spPr>
          <a:xfrm>
            <a:off x="8823960" y="4617720"/>
            <a:ext cx="54864" cy="54864"/>
          </a:xfrm>
          <a:prstGeom prst="ellipse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7" name="Shape 15"/>
          <p:cNvSpPr/>
          <p:nvPr/>
        </p:nvSpPr>
        <p:spPr>
          <a:xfrm>
            <a:off x="6537960" y="128016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8" name="Shape 16"/>
          <p:cNvSpPr/>
          <p:nvPr/>
        </p:nvSpPr>
        <p:spPr>
          <a:xfrm>
            <a:off x="8851392" y="128016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19" name="Shape 17"/>
          <p:cNvSpPr/>
          <p:nvPr/>
        </p:nvSpPr>
        <p:spPr>
          <a:xfrm>
            <a:off x="8851392" y="214884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0" name="Shape 18"/>
          <p:cNvSpPr/>
          <p:nvPr/>
        </p:nvSpPr>
        <p:spPr>
          <a:xfrm>
            <a:off x="118872" y="443484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1" name="Shape 19"/>
          <p:cNvSpPr/>
          <p:nvPr/>
        </p:nvSpPr>
        <p:spPr>
          <a:xfrm>
            <a:off x="118872" y="4709160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2" name="Shape 20"/>
          <p:cNvSpPr/>
          <p:nvPr/>
        </p:nvSpPr>
        <p:spPr>
          <a:xfrm>
            <a:off x="2121408" y="4681728"/>
            <a:ext cx="54864" cy="54864"/>
          </a:xfrm>
          <a:prstGeom prst="rect">
            <a:avLst/>
          </a:prstGeom>
          <a:solidFill>
            <a:srgbClr val="00CADA">
              <a:alpha val="80000"/>
            </a:srgbClr>
          </a:solidFill>
          <a:ln w="1270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3" name="Text 21"/>
          <p:cNvSpPr/>
          <p:nvPr/>
        </p:nvSpPr>
        <p:spPr>
          <a:xfrm>
            <a:off x="1371600" y="169164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6000" b="1" noProof="0" dirty="0">
                <a:solidFill>
                  <a:srgbClr val="00C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</a:t>
            </a:r>
            <a:endParaRPr lang="pt-PT" sz="6000" noProof="0" dirty="0"/>
          </a:p>
        </p:txBody>
      </p:sp>
      <p:sp>
        <p:nvSpPr>
          <p:cNvPr id="24" name="Text 22"/>
          <p:cNvSpPr/>
          <p:nvPr/>
        </p:nvSpPr>
        <p:spPr>
          <a:xfrm>
            <a:off x="1371600" y="269748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220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 Atenção!</a:t>
            </a:r>
            <a:endParaRPr lang="pt-PT" sz="2200" noProof="0" dirty="0"/>
          </a:p>
        </p:txBody>
      </p:sp>
      <p:sp>
        <p:nvSpPr>
          <p:cNvPr id="25" name="Shape 23"/>
          <p:cNvSpPr/>
          <p:nvPr/>
        </p:nvSpPr>
        <p:spPr>
          <a:xfrm>
            <a:off x="2286000" y="3310128"/>
            <a:ext cx="4572000" cy="0"/>
          </a:xfrm>
          <a:prstGeom prst="line">
            <a:avLst/>
          </a:prstGeom>
          <a:noFill/>
          <a:ln w="19050">
            <a:solidFill>
              <a:srgbClr val="00CADA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26" name="Text 24"/>
          <p:cNvSpPr/>
          <p:nvPr/>
        </p:nvSpPr>
        <p:spPr>
          <a:xfrm>
            <a:off x="1371600" y="345643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1100" i="1" noProof="0" dirty="0">
                <a:solidFill>
                  <a:srgbClr val="AFAF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Analisador Léxico Hidra  </a:t>
            </a:r>
            <a:endParaRPr lang="pt-PT" sz="1100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428</TotalTime>
  <Words>2103</Words>
  <Application>Microsoft Office PowerPoint</Application>
  <PresentationFormat>Apresentação no Ecrã (16:9)</PresentationFormat>
  <Paragraphs>387</Paragraphs>
  <Slides>23</Slides>
  <Notes>23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23</vt:i4>
      </vt:variant>
    </vt:vector>
  </HeadingPairs>
  <TitlesOfParts>
    <vt:vector size="27" baseType="lpstr">
      <vt:lpstr>Arial</vt:lpstr>
      <vt:lpstr>Courier New</vt:lpstr>
      <vt:lpstr>Wingdings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Hidra — Analisador Léxico com jFlex</dc:title>
  <dc:subject>PptxGenJS Presentation</dc:subject>
  <dc:creator>PptxGenJS</dc:creator>
  <cp:lastModifiedBy>Lenovo</cp:lastModifiedBy>
  <cp:revision>3</cp:revision>
  <dcterms:created xsi:type="dcterms:W3CDTF">2026-06-14T12:30:01Z</dcterms:created>
  <dcterms:modified xsi:type="dcterms:W3CDTF">2026-06-14T23:19:52Z</dcterms:modified>
</cp:coreProperties>
</file>